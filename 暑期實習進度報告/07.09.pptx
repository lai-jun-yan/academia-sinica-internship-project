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26D199-0298-4C63-BBA2-083478EB0C04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65FD76-CF4E-4D81-A68E-B13EB620F9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1544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0395DF-18CE-B5DF-EE1E-44890C9FB2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121FC53-8679-3C7C-0A65-0CFA2BB95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C1AA7B-74F3-A23E-145E-7A4C40AB7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507C0-70B8-43B1-B200-D513D247E13F}" type="datetime1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B97444D-28C5-3B23-57A9-DA8A0C136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16609A-BEF5-4785-FB3C-A9EB0CEFD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959E-7B7A-4B49-A587-FEACBB20E5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2254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F86748-2063-90FB-8D70-9FEE58084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93A3FB-6944-644C-5E3C-3D2A1B3BE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7751476-EF4C-97E6-4860-B186FDE76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99241-93D8-4D75-B5E3-36ACB2FAF634}" type="datetime1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4C41C1E-4288-77B0-69FD-B9275658D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B41F0D2-2997-29A5-5053-B2691934E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959E-7B7A-4B49-A587-FEACBB20E5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780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AF591E-50C4-5C4B-0CFB-A7910269C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FCC2995-69D2-F139-404B-14570D23C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D661A48-8C1E-19B8-AFFD-62659DB8B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FBC26-3187-4AD5-8302-E1ECE30042C4}" type="datetime1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B57B225-9B77-4440-1627-2BC4B58FE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51C5C5C-0285-A47D-9E54-3DD493850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959E-7B7A-4B49-A587-FEACBB20E5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9441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5D380B-0A44-7EF0-FEA2-2E8CED83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25263C-361D-BAB5-4DAE-BBC08A85C3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3DFE746-602B-4483-5D19-C00B68780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18D66D0-EC8D-D80F-241C-A99DBC170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A41F8-FF9B-4DA1-9C80-8FD3B1E7C8FC}" type="datetime1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78249D1-ED69-06DB-4166-B67F057BC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D5A0EE9-A409-74CD-5ED6-EDEFF9F5B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959E-7B7A-4B49-A587-FEACBB20E5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2644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337625-7448-BAE8-25B6-954E01A7F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B8B0D9C-A595-19C8-3252-FA96B14C7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C8F647F-911C-3C17-3198-C87F5B10E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0420F7E-8C78-4AA4-AA48-55FBF9DC45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0CDA7D8-EAD3-208D-347C-EDDDD7ADB0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838305D-64B2-76CE-4C66-110CBB452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F6F1-F5CE-485C-B2F3-A0DEDDD2EB48}" type="datetime1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184414F-934C-7B70-D0A0-84C3A6328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313E449-3662-AF30-B6E6-7D3942D93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959E-7B7A-4B49-A587-FEACBB20E5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0629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77934B-E994-1596-AC44-FA0C21B42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3D2B786-1479-C329-A020-6503D51D1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E4A99-EB4E-4A38-984B-D74601B60C03}" type="datetime1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EEC1493-B804-4D0F-2A9E-E4DAAA0D1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7986E68-1234-21D4-82CB-7E54A638A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959E-7B7A-4B49-A587-FEACBB20E5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5588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FD23558-00C4-7D05-CEF9-C176A3EB4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0FC64-3CA3-4F3F-8623-3510F39F88DB}" type="datetime1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C9062C3-09BA-A996-2BFB-63F12CD81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D39E94B-F2D0-4867-90A2-A7BB9824D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959E-7B7A-4B49-A587-FEACBB20E5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8766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A58FC2-0413-4422-2170-9D2313329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5F9D49-CE75-ED64-3657-B578BC1AE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08CE7DE-9CED-E6BD-0A4E-85E9F6D1A7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8E09E60-FB51-B2A5-853C-8898C7178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60613-6610-4BD1-BC24-47A72AE72215}" type="datetime1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435D907-0282-F91D-DE18-09C45121D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21DB1A4-B627-FD0E-00E3-B23CD498E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959E-7B7A-4B49-A587-FEACBB20E5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9888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7C866B-A78B-9D1C-F211-C7675CC9A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968709A-95D2-0CC5-9146-ECC81CFA8A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51FBCE7-FDD6-D9BC-2266-8EFBA9CE27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C06E6F3-2685-4D98-4E6A-F20514799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1B138-EAC6-4C7A-95DF-DCE13E1BAD0E}" type="datetime1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18E74F2-D0A6-B66F-8099-4957DDE12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27B2326-5C8E-B732-F5A5-327A83848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959E-7B7A-4B49-A587-FEACBB20E5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737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A67DF9-24AA-F050-6C50-87D826D36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16F87B5-8EB3-EEB8-8144-60A6A0DBD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7E7827-E9AC-B169-30F7-AE2050605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21ED7-414C-4C05-8972-5C07BF5546BA}" type="datetime1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9246CCC-E3CB-4F13-51F9-17965B7C1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E7B21E-EDCF-0A7D-86FF-937F848B6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959E-7B7A-4B49-A587-FEACBB20E5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7326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D9CD466-FC2C-F5F5-39C0-D6A350C2A5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8A885CF-A8F9-8B70-2586-70BE180A4B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B240048-3841-2FFA-8D9A-8E7D9DB1A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D27E3-D24E-44A9-AEF5-74A3F36BE202}" type="datetime1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8BEF294-ED63-9E75-8F97-226F34425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1ED9E8-0554-716E-E245-39813A64A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959E-7B7A-4B49-A587-FEACBB20E5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503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06BECEC-41A8-F5DE-34E9-4878BE9C4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4EE3F7D-99A7-9184-C86E-2EF198695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FBAC1A-C1F0-61A2-6B4F-B478429982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44DA2D-08CA-49D3-8D92-2A401B2E24D2}" type="datetime1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A56E33-0D3B-78E7-092D-21376FD257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DA0DFDA-7069-2A8C-AE90-89227D173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6C959E-7B7A-4B49-A587-FEACBB20E5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2600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0D018F-31C5-E673-6DF0-1C7D9E5415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進度報告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5ED8B3F-6602-A870-2F6B-E8B715C207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文獻回顧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/>
              <a:t>2026.07.08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96EC5C-CD37-57A3-71C1-DD3F8A987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959E-7B7A-4B49-A587-FEACBB20E59B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487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0F13E4-8AD6-052E-77FC-05A26E57C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目標一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ABDE844-ACA9-9D3A-2E0A-5B396CB8A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70" y="149753"/>
            <a:ext cx="6468230" cy="398343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13DBBAB-681D-4E40-37C0-5209CAC10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21" y="3429000"/>
            <a:ext cx="5346949" cy="3191195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00E28E4-ABD0-B262-5369-64F3448F5737}"/>
              </a:ext>
            </a:extLst>
          </p:cNvPr>
          <p:cNvSpPr txBox="1"/>
          <p:nvPr/>
        </p:nvSpPr>
        <p:spPr>
          <a:xfrm>
            <a:off x="486899" y="2116612"/>
            <a:ext cx="52368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透過模型找出對於分類感染類型的</a:t>
            </a:r>
            <a:r>
              <a:rPr lang="en-US" altLang="zh-TW" sz="2000" dirty="0">
                <a:latin typeface="+mn-ea"/>
              </a:rPr>
              <a:t>gene pair</a:t>
            </a:r>
            <a:endParaRPr lang="zh-TW" altLang="en-US" sz="2000" dirty="0">
              <a:latin typeface="+mn-ea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BB422B3-3BB6-CAF3-650A-0B4BB690025B}"/>
              </a:ext>
            </a:extLst>
          </p:cNvPr>
          <p:cNvSpPr txBox="1"/>
          <p:nvPr/>
        </p:nvSpPr>
        <p:spPr>
          <a:xfrm>
            <a:off x="5723770" y="4954329"/>
            <a:ext cx="64232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希望針對這些基因做後續的分析，比方說富集分析等等。</a:t>
            </a:r>
            <a:endParaRPr lang="zh-TW" altLang="en-US" sz="20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87E4CD9-94E2-D0DE-B98D-1B178AF66BE4}"/>
              </a:ext>
            </a:extLst>
          </p:cNvPr>
          <p:cNvSpPr/>
          <p:nvPr/>
        </p:nvSpPr>
        <p:spPr>
          <a:xfrm>
            <a:off x="4897256" y="3439740"/>
            <a:ext cx="675060" cy="31911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706EB3C-D941-159C-8FC8-A12FA5138501}"/>
              </a:ext>
            </a:extLst>
          </p:cNvPr>
          <p:cNvSpPr txBox="1"/>
          <p:nvPr/>
        </p:nvSpPr>
        <p:spPr>
          <a:xfrm>
            <a:off x="9547590" y="6178775"/>
            <a:ext cx="2178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(</a:t>
            </a:r>
            <a:r>
              <a:rPr lang="zh-TW" altLang="zh-TW" dirty="0"/>
              <a:t>Jize Xie</a:t>
            </a:r>
            <a:r>
              <a:rPr lang="en-US" altLang="zh-TW" dirty="0"/>
              <a:t> et al. 2024)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F28A911-4CE1-F22E-9C84-D6B7BB8CF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959E-7B7A-4B49-A587-FEACBB20E59B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0350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EBF9E-E093-2101-C4D7-76BE27718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F8F52E-0AE4-4B78-C722-B07499F8B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富集分析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4A94FAA-46D5-BC5C-D911-C70DC89DB973}"/>
              </a:ext>
            </a:extLst>
          </p:cNvPr>
          <p:cNvSpPr txBox="1"/>
          <p:nvPr/>
        </p:nvSpPr>
        <p:spPr>
          <a:xfrm>
            <a:off x="999293" y="1567950"/>
            <a:ext cx="1057492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概念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r>
              <a:rPr lang="zh-TW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同一條</a:t>
            </a:r>
            <a:r>
              <a:rPr lang="zh-TW" altLang="zh-TW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生物路徑中的基因</a:t>
            </a:r>
            <a:r>
              <a:rPr lang="en-US" altLang="zh-TW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必須要已知</a:t>
            </a:r>
            <a:r>
              <a:rPr lang="en-US" altLang="zh-TW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，是否在對某種刺激產生最明顯</a:t>
            </a:r>
            <a:r>
              <a:rPr lang="zh-TW" altLang="zh-TW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差異表現的基因集合</a:t>
            </a:r>
            <a:r>
              <a:rPr lang="zh-TW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中出現得比預期更多。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3D00E95-3CD6-F98A-FAA5-3F67F8E9A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06351"/>
            <a:ext cx="7356463" cy="3786524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7A39B590-7537-8B19-AB57-1E17F29EAC86}"/>
              </a:ext>
            </a:extLst>
          </p:cNvPr>
          <p:cNvSpPr txBox="1"/>
          <p:nvPr/>
        </p:nvSpPr>
        <p:spPr>
          <a:xfrm>
            <a:off x="8297581" y="5988531"/>
            <a:ext cx="2953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(</a:t>
            </a:r>
            <a:r>
              <a:rPr lang="zh-TW" altLang="zh-TW" dirty="0"/>
              <a:t>Jui-Hung Hung</a:t>
            </a:r>
            <a:r>
              <a:rPr lang="zh-TW" altLang="en-US" dirty="0"/>
              <a:t> </a:t>
            </a:r>
            <a:r>
              <a:rPr lang="en-US" altLang="zh-TW" dirty="0"/>
              <a:t>et al. 2011)</a:t>
            </a:r>
            <a:endParaRPr lang="zh-TW" altLang="en-US" dirty="0"/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FF3D9D0F-6967-0552-C630-AB2261C3456D}"/>
              </a:ext>
            </a:extLst>
          </p:cNvPr>
          <p:cNvCxnSpPr/>
          <p:nvPr/>
        </p:nvCxnSpPr>
        <p:spPr>
          <a:xfrm>
            <a:off x="9774231" y="2362144"/>
            <a:ext cx="374351" cy="6873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C80C213A-8633-E67B-00BE-F633966EBD8C}"/>
              </a:ext>
            </a:extLst>
          </p:cNvPr>
          <p:cNvSpPr txBox="1"/>
          <p:nvPr/>
        </p:nvSpPr>
        <p:spPr>
          <a:xfrm>
            <a:off x="8725756" y="3255069"/>
            <a:ext cx="29533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這是傳統的定義，我們取得的</a:t>
            </a:r>
            <a:r>
              <a:rPr lang="en-US" altLang="zh-TW" dirty="0">
                <a:latin typeface="+mn-ea"/>
              </a:rPr>
              <a:t>gene set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是從神經網路模型取得，非差異分析，但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後續分析仍然需要基因表現量的資訊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9F87C4-C6BD-7254-3BC6-6E78B6C16B90}"/>
              </a:ext>
            </a:extLst>
          </p:cNvPr>
          <p:cNvSpPr/>
          <p:nvPr/>
        </p:nvSpPr>
        <p:spPr>
          <a:xfrm>
            <a:off x="945085" y="2668000"/>
            <a:ext cx="3455081" cy="2597475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9F1FEBD-F355-19FA-01FA-9DC206E13CBF}"/>
              </a:ext>
            </a:extLst>
          </p:cNvPr>
          <p:cNvSpPr txBox="1"/>
          <p:nvPr/>
        </p:nvSpPr>
        <p:spPr>
          <a:xfrm>
            <a:off x="4400166" y="2362144"/>
            <a:ext cx="33143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我們應該不需用在意這個步驟</a:t>
            </a:r>
            <a:r>
              <a:rPr lang="en-US" altLang="zh-TW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  <a:endParaRPr lang="zh-TW" altLang="en-US" dirty="0">
              <a:solidFill>
                <a:schemeClr val="tx2">
                  <a:lumMod val="75000"/>
                  <a:lumOff val="2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4641B56-34BD-E7FC-9001-C396B2D1F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959E-7B7A-4B49-A587-FEACBB20E59B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9052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57204-D80A-9185-C5F5-94D5D5623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C4C8AF-C28B-45B0-9822-5F079AC7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673"/>
            <a:ext cx="10515600" cy="1325563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統計檢定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7E00E244-834B-6DD4-52B0-46D5BF2E6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982407"/>
              </p:ext>
            </p:extLst>
          </p:nvPr>
        </p:nvGraphicFramePr>
        <p:xfrm>
          <a:off x="1071401" y="2400787"/>
          <a:ext cx="3445366" cy="4023360"/>
        </p:xfrm>
        <a:graphic>
          <a:graphicData uri="http://schemas.openxmlformats.org/drawingml/2006/table">
            <a:tbl>
              <a:tblPr/>
              <a:tblGrid>
                <a:gridCol w="1722683">
                  <a:extLst>
                    <a:ext uri="{9D8B030D-6E8A-4147-A177-3AD203B41FA5}">
                      <a16:colId xmlns:a16="http://schemas.microsoft.com/office/drawing/2014/main" val="57666176"/>
                    </a:ext>
                  </a:extLst>
                </a:gridCol>
                <a:gridCol w="1722683">
                  <a:extLst>
                    <a:ext uri="{9D8B030D-6E8A-4147-A177-3AD203B41FA5}">
                      <a16:colId xmlns:a16="http://schemas.microsoft.com/office/drawing/2014/main" val="3779856865"/>
                    </a:ext>
                  </a:extLst>
                </a:gridCol>
              </a:tblGrid>
              <a:tr h="3586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dirty="0"/>
                        <a:t>Gene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dirty="0"/>
                        <a:t>t statistic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729087"/>
                  </a:ext>
                </a:extLst>
              </a:tr>
              <a:tr h="358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dirty="0">
                          <a:solidFill>
                            <a:srgbClr val="FF0000"/>
                          </a:solidFill>
                        </a:rPr>
                        <a:t>4.5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3836463"/>
                  </a:ext>
                </a:extLst>
              </a:tr>
              <a:tr h="358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dirty="0"/>
                        <a:t>3.8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9439340"/>
                  </a:ext>
                </a:extLst>
              </a:tr>
              <a:tr h="358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dirty="0">
                          <a:solidFill>
                            <a:srgbClr val="FF0000"/>
                          </a:solidFill>
                        </a:rPr>
                        <a:t>3.2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324741"/>
                  </a:ext>
                </a:extLst>
              </a:tr>
              <a:tr h="358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dirty="0">
                          <a:solidFill>
                            <a:srgbClr val="FF0000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dirty="0">
                          <a:solidFill>
                            <a:srgbClr val="FF0000"/>
                          </a:solidFill>
                        </a:rPr>
                        <a:t>2.8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485718"/>
                  </a:ext>
                </a:extLst>
              </a:tr>
              <a:tr h="358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dirty="0"/>
                        <a:t>1.1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1560444"/>
                  </a:ext>
                </a:extLst>
              </a:tr>
              <a:tr h="358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/>
                        <a:t>-0.5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576653"/>
                  </a:ext>
                </a:extLst>
              </a:tr>
              <a:tr h="358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dirty="0"/>
                        <a:t>-2.1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5350433"/>
                  </a:ext>
                </a:extLst>
              </a:tr>
              <a:tr h="358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dirty="0"/>
                        <a:t>-3.4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436444"/>
                  </a:ext>
                </a:extLst>
              </a:tr>
              <a:tr h="358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dirty="0">
                          <a:solidFill>
                            <a:srgbClr val="FF0000"/>
                          </a:solidFill>
                        </a:rPr>
                        <a:t>-4.0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836089"/>
                  </a:ext>
                </a:extLst>
              </a:tr>
              <a:tr h="358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dirty="0"/>
                        <a:t>-5.2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5924917"/>
                  </a:ext>
                </a:extLst>
              </a:tr>
            </a:tbl>
          </a:graphicData>
        </a:graphic>
      </p:graphicFrame>
      <p:pic>
        <p:nvPicPr>
          <p:cNvPr id="17" name="圖片 16">
            <a:extLst>
              <a:ext uri="{FF2B5EF4-FFF2-40B4-BE49-F238E27FC236}">
                <a16:creationId xmlns:a16="http://schemas.microsoft.com/office/drawing/2014/main" id="{9485BE49-249E-EF4C-57E7-DF7B22D67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2931" y="719697"/>
            <a:ext cx="6757369" cy="2182196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FFBC8E84-A713-B639-5667-48BB495D0D3B}"/>
              </a:ext>
            </a:extLst>
          </p:cNvPr>
          <p:cNvSpPr txBox="1"/>
          <p:nvPr/>
        </p:nvSpPr>
        <p:spPr>
          <a:xfrm>
            <a:off x="2974957" y="1675928"/>
            <a:ext cx="2628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不一定要用</a:t>
            </a:r>
            <a:r>
              <a:rPr lang="en-US" altLang="zh-TW" dirty="0">
                <a:latin typeface="+mn-ea"/>
              </a:rPr>
              <a:t>t test</a:t>
            </a:r>
            <a:endParaRPr lang="zh-TW" altLang="en-US" dirty="0">
              <a:latin typeface="+mn-ea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8143C9B-C884-F856-4A34-3DFE20CCF4E4}"/>
              </a:ext>
            </a:extLst>
          </p:cNvPr>
          <p:cNvSpPr txBox="1"/>
          <p:nvPr/>
        </p:nvSpPr>
        <p:spPr>
          <a:xfrm>
            <a:off x="4744838" y="5500817"/>
            <a:ext cx="37446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根據基因表現量可以計算各種統計檢定量，但需要產生虛無假設下的分布，</a:t>
            </a:r>
            <a:r>
              <a:rPr lang="zh-TW" altLang="zh-TW" dirty="0"/>
              <a:t>Shuffle</a:t>
            </a:r>
            <a:r>
              <a:rPr lang="zh-TW" altLang="en-US" dirty="0"/>
              <a:t> </a:t>
            </a:r>
            <a:r>
              <a:rPr lang="en-US" altLang="zh-TW" dirty="0"/>
              <a:t>gene</a:t>
            </a:r>
            <a:r>
              <a:rPr lang="zh-TW" altLang="en-US" dirty="0"/>
              <a:t> </a:t>
            </a:r>
            <a:r>
              <a:rPr lang="en-US" altLang="zh-TW" dirty="0"/>
              <a:t>or</a:t>
            </a:r>
            <a:r>
              <a:rPr lang="zh-TW" altLang="en-US" dirty="0"/>
              <a:t> </a:t>
            </a:r>
            <a:r>
              <a:rPr lang="en-US" altLang="zh-TW" dirty="0"/>
              <a:t>phenotype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FED8EF50-DF22-2B2A-458D-FF441F9DBA07}"/>
              </a:ext>
            </a:extLst>
          </p:cNvPr>
          <p:cNvSpPr txBox="1"/>
          <p:nvPr/>
        </p:nvSpPr>
        <p:spPr>
          <a:xfrm>
            <a:off x="9107653" y="2946851"/>
            <a:ext cx="2953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(</a:t>
            </a:r>
            <a:r>
              <a:rPr lang="zh-TW" altLang="zh-TW" dirty="0"/>
              <a:t>Jui-Hung Hung</a:t>
            </a:r>
            <a:r>
              <a:rPr lang="zh-TW" altLang="en-US" dirty="0"/>
              <a:t> </a:t>
            </a:r>
            <a:r>
              <a:rPr lang="en-US" altLang="zh-TW" dirty="0"/>
              <a:t>et al. 2011)</a:t>
            </a:r>
            <a:endParaRPr lang="zh-TW" altLang="en-US" dirty="0"/>
          </a:p>
        </p:txBody>
      </p: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7CFCE127-17B5-FADF-F60E-C5B21F9406CF}"/>
              </a:ext>
            </a:extLst>
          </p:cNvPr>
          <p:cNvGrpSpPr/>
          <p:nvPr/>
        </p:nvGrpSpPr>
        <p:grpSpPr>
          <a:xfrm>
            <a:off x="9265342" y="4740939"/>
            <a:ext cx="2176505" cy="1755155"/>
            <a:chOff x="7107249" y="4820696"/>
            <a:chExt cx="2176505" cy="1755155"/>
          </a:xfrm>
        </p:grpSpPr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F09B54FE-D94F-BA95-754B-18D5C9D60E56}"/>
                </a:ext>
              </a:extLst>
            </p:cNvPr>
            <p:cNvSpPr txBox="1"/>
            <p:nvPr/>
          </p:nvSpPr>
          <p:spPr>
            <a:xfrm>
              <a:off x="7278853" y="4946819"/>
              <a:ext cx="1914717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dirty="0"/>
                <a:t>Immune Pathway</a:t>
              </a:r>
            </a:p>
            <a:p>
              <a:pPr algn="ctr"/>
              <a:r>
                <a:rPr lang="zh-TW" altLang="en-US" dirty="0"/>
                <a:t>A</a:t>
              </a:r>
            </a:p>
            <a:p>
              <a:pPr algn="ctr"/>
              <a:r>
                <a:rPr lang="zh-TW" altLang="en-US" dirty="0"/>
                <a:t>C</a:t>
              </a:r>
            </a:p>
            <a:p>
              <a:pPr algn="ctr"/>
              <a:r>
                <a:rPr lang="zh-TW" altLang="en-US" dirty="0"/>
                <a:t>D</a:t>
              </a:r>
            </a:p>
            <a:p>
              <a:pPr algn="ctr"/>
              <a:r>
                <a:rPr lang="zh-TW" altLang="en-US" dirty="0"/>
                <a:t>I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1879D6ED-8465-77CC-9FF2-77C2CED64C9C}"/>
                </a:ext>
              </a:extLst>
            </p:cNvPr>
            <p:cNvSpPr/>
            <p:nvPr/>
          </p:nvSpPr>
          <p:spPr>
            <a:xfrm>
              <a:off x="7107249" y="4820696"/>
              <a:ext cx="2176505" cy="1755155"/>
            </a:xfrm>
            <a:prstGeom prst="rect">
              <a:avLst/>
            </a:prstGeom>
            <a:noFill/>
            <a:ln w="381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D65D33E9-54EC-E0C7-5204-BE522DFA34B9}"/>
              </a:ext>
            </a:extLst>
          </p:cNvPr>
          <p:cNvSpPr txBox="1"/>
          <p:nvPr/>
        </p:nvSpPr>
        <p:spPr>
          <a:xfrm>
            <a:off x="4624164" y="3316183"/>
            <a:ext cx="2943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+mn-ea"/>
              </a:rPr>
              <a:t>window/gene</a:t>
            </a:r>
            <a:r>
              <a:rPr lang="zh-TW" altLang="en-US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+mn-ea"/>
              </a:rPr>
              <a:t>set</a:t>
            </a:r>
            <a:r>
              <a:rPr lang="zh-TW" altLang="en-US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+mn-ea"/>
              </a:rPr>
              <a:t>level</a:t>
            </a:r>
            <a:endParaRPr lang="zh-TW" altLang="en-US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B9CB3CD7-FA25-B75F-3508-7F8214D2380A}"/>
              </a:ext>
            </a:extLst>
          </p:cNvPr>
          <p:cNvCxnSpPr>
            <a:cxnSpLocks/>
          </p:cNvCxnSpPr>
          <p:nvPr/>
        </p:nvCxnSpPr>
        <p:spPr>
          <a:xfrm flipH="1" flipV="1">
            <a:off x="5292626" y="4222038"/>
            <a:ext cx="3008987" cy="791662"/>
          </a:xfrm>
          <a:prstGeom prst="straightConnector1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E1520815-EB0E-27B8-B744-30157975DCC9}"/>
              </a:ext>
            </a:extLst>
          </p:cNvPr>
          <p:cNvSpPr txBox="1"/>
          <p:nvPr/>
        </p:nvSpPr>
        <p:spPr>
          <a:xfrm>
            <a:off x="6797119" y="4129494"/>
            <a:ext cx="1080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enrich</a:t>
            </a:r>
            <a:endParaRPr lang="zh-TW" altLang="en-US" dirty="0">
              <a:solidFill>
                <a:schemeClr val="tx2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06CC9682-6C86-E578-4319-C7638A608570}"/>
              </a:ext>
            </a:extLst>
          </p:cNvPr>
          <p:cNvSpPr txBox="1"/>
          <p:nvPr/>
        </p:nvSpPr>
        <p:spPr>
          <a:xfrm>
            <a:off x="8679107" y="4123880"/>
            <a:ext cx="3348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所以我們需要已知的生物路徑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CA05736-185A-B761-2A0A-23214A4C4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959E-7B7A-4B49-A587-FEACBB20E59B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2439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00381-0717-B151-C90D-22D368160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0E68E4-48D2-27B9-1E36-7EC98A8DD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目標一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—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後續分析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F5D5529-BF94-39F1-0B7C-E1EFE574E2BF}"/>
              </a:ext>
            </a:extLst>
          </p:cNvPr>
          <p:cNvSpPr txBox="1"/>
          <p:nvPr/>
        </p:nvSpPr>
        <p:spPr>
          <a:xfrm>
            <a:off x="808538" y="1773566"/>
            <a:ext cx="1057492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針對富集分析的部分，可以嘗試加入</a:t>
            </a:r>
            <a:r>
              <a:rPr lang="zh-TW" altLang="zh-TW" sz="2000" dirty="0">
                <a:latin typeface="+mn-ea"/>
              </a:rPr>
              <a:t>Topology Method</a:t>
            </a:r>
            <a:r>
              <a:rPr lang="zh-TW" altLang="en-US" sz="2000" dirty="0"/>
              <a:t>，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在生物學中，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同個路徑下的基因通常存在上下游關係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，所以在計算統計量時，或許可以考慮調整每個基因的權重。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看到基因表現量的時候，我們是否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忽略</a:t>
            </a:r>
            <a:r>
              <a:rPr lang="en-US" altLang="zh-TW" sz="2000" dirty="0">
                <a:solidFill>
                  <a:srgbClr val="FF0000"/>
                </a:solidFill>
                <a:latin typeface="+mn-ea"/>
              </a:rPr>
              <a:t>confounder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的存在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我想或許也可以嘗試加入最簡單的線性模型去校正</a:t>
            </a:r>
            <a:r>
              <a:rPr lang="en-US" altLang="zh-TW" sz="2000" dirty="0">
                <a:latin typeface="+mn-ea"/>
              </a:rPr>
              <a:t>confounder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其實看到目標二的時候，我覺得可以把</a:t>
            </a:r>
            <a:r>
              <a:rPr lang="en-US" altLang="zh-TW" sz="2000" dirty="0">
                <a:latin typeface="+mn-ea"/>
              </a:rPr>
              <a:t>WGCNA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的</a:t>
            </a:r>
            <a:r>
              <a:rPr lang="en-US" altLang="zh-TW" sz="2000" dirty="0">
                <a:latin typeface="+mn-ea"/>
              </a:rPr>
              <a:t>R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套件使用到針對目標一的後續分析，對於</a:t>
            </a:r>
            <a:r>
              <a:rPr lang="zh-TW" altLang="zh-TW" sz="2000" dirty="0">
                <a:latin typeface="+mn-ea"/>
              </a:rPr>
              <a:t>Topology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的建構或許有幫助</a:t>
            </a:r>
            <a:r>
              <a:rPr lang="zh-TW" altLang="en-US" sz="2000" dirty="0">
                <a:latin typeface="+mn-ea"/>
              </a:rPr>
              <a:t>。</a:t>
            </a:r>
            <a:endParaRPr lang="en-US" altLang="zh-TW" sz="2000" dirty="0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480625B-5B26-04E9-AF00-495C453C5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576" y="2493726"/>
            <a:ext cx="1404591" cy="1206833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3CC9FFDE-FE75-71A9-5183-DE0ADBFC1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557" y="4352198"/>
            <a:ext cx="3935219" cy="751354"/>
          </a:xfrm>
          <a:prstGeom prst="rect">
            <a:avLst/>
          </a:prstGeom>
        </p:spPr>
      </p:pic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DD883839-E32E-19AE-B41A-BB12296A7798}"/>
              </a:ext>
            </a:extLst>
          </p:cNvPr>
          <p:cNvCxnSpPr>
            <a:cxnSpLocks/>
          </p:cNvCxnSpPr>
          <p:nvPr/>
        </p:nvCxnSpPr>
        <p:spPr>
          <a:xfrm>
            <a:off x="5304919" y="4727875"/>
            <a:ext cx="94245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B640D0D-6B7D-0BD6-D291-43DBC29108E5}"/>
              </a:ext>
            </a:extLst>
          </p:cNvPr>
          <p:cNvSpPr txBox="1"/>
          <p:nvPr/>
        </p:nvSpPr>
        <p:spPr>
          <a:xfrm>
            <a:off x="6455520" y="4543209"/>
            <a:ext cx="41249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不知道有沒有每位受試者的臨床資料。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CA43468-C106-9113-5DD2-FBCDB2463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959E-7B7A-4B49-A587-FEACBB20E59B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850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6D35F-CC42-9F69-422B-9D3990242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4F940C-F2E0-C29B-B45E-5CC44DF62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目標二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AB32CC3-AE8B-6B37-F9EA-30B3D335E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827" y="3290047"/>
            <a:ext cx="5639824" cy="237524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1245E6F-2219-39B9-8B71-1E23626BA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281" y="2357328"/>
            <a:ext cx="4244519" cy="3858269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714701B5-D54D-56DB-BB54-4F432F7B72B1}"/>
              </a:ext>
            </a:extLst>
          </p:cNvPr>
          <p:cNvSpPr txBox="1"/>
          <p:nvPr/>
        </p:nvSpPr>
        <p:spPr>
          <a:xfrm>
            <a:off x="1118699" y="1462859"/>
            <a:ext cx="93570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利用</a:t>
            </a:r>
            <a:r>
              <a:rPr lang="zh-TW" altLang="zh-TW" sz="2000" dirty="0"/>
              <a:t> transcriptomic patterns </a:t>
            </a:r>
            <a:r>
              <a:rPr lang="zh-TW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推估每個細胞的感染狀態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。可以使用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半監督式的標籤傳播方式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，將已經確定的細胞標籤，傳遞到未知的細胞；又或是透過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分類細胞模組的方式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，評估未知的細胞屬於哪類的可能性。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28D1512-C95A-C4DA-4147-CF5D89E9C3D9}"/>
              </a:ext>
            </a:extLst>
          </p:cNvPr>
          <p:cNvSpPr txBox="1"/>
          <p:nvPr/>
        </p:nvSpPr>
        <p:spPr>
          <a:xfrm>
            <a:off x="7109281" y="6215597"/>
            <a:ext cx="41427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(Langfelder &amp; Horvath BMC Bioinf 2008)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B3F1949-C4D6-2652-7FAC-3EAAB9870A83}"/>
              </a:ext>
            </a:extLst>
          </p:cNvPr>
          <p:cNvSpPr txBox="1"/>
          <p:nvPr/>
        </p:nvSpPr>
        <p:spPr>
          <a:xfrm>
            <a:off x="3946749" y="6021568"/>
            <a:ext cx="2820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(Lewinsohn Bioinfo 2023) 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70F2E7A-B545-51DE-3BF6-DC73BDF92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959E-7B7A-4B49-A587-FEACBB20E59B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2904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C258D-2F8F-AE67-8F67-873031300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013D8A-10C3-EE7F-D346-FB8B87320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ea"/>
              </a:rPr>
              <a:t>G</a:t>
            </a:r>
            <a:r>
              <a:rPr lang="zh-TW" altLang="zh-TW" dirty="0">
                <a:latin typeface="+mn-ea"/>
              </a:rPr>
              <a:t>raph convolutional networks</a:t>
            </a:r>
            <a:endParaRPr lang="zh-TW" altLang="en-US" dirty="0">
              <a:latin typeface="+mn-ea"/>
              <a:ea typeface="+mn-ea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7698B11-7631-8116-76D1-2CD2D4D71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946" y="2998837"/>
            <a:ext cx="7080227" cy="2981879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48C6DB7-D79E-5031-6686-586FBAA20EDA}"/>
              </a:ext>
            </a:extLst>
          </p:cNvPr>
          <p:cNvSpPr/>
          <p:nvPr/>
        </p:nvSpPr>
        <p:spPr>
          <a:xfrm>
            <a:off x="752057" y="2788334"/>
            <a:ext cx="3082126" cy="3626254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DC9E51C-D0E8-50B0-6473-3066E9786DFB}"/>
              </a:ext>
            </a:extLst>
          </p:cNvPr>
          <p:cNvSpPr txBox="1"/>
          <p:nvPr/>
        </p:nvSpPr>
        <p:spPr>
          <a:xfrm>
            <a:off x="551939" y="1774734"/>
            <a:ext cx="62977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針對</a:t>
            </a:r>
            <a:r>
              <a:rPr lang="en-US" altLang="zh-TW" dirty="0">
                <a:latin typeface="+mn-ea"/>
              </a:rPr>
              <a:t>raw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data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的部分，我不確定是否屬於已經標籤完的細胞。不過無論如何都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必須有</a:t>
            </a:r>
            <a:r>
              <a:rPr lang="en-US" altLang="zh-TW" dirty="0">
                <a:solidFill>
                  <a:srgbClr val="FF0000"/>
                </a:solidFill>
                <a:latin typeface="+mn-ea"/>
              </a:rPr>
              <a:t>gene</a:t>
            </a:r>
            <a:r>
              <a:rPr lang="zh-TW" altLang="en-US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+mn-ea"/>
              </a:rPr>
              <a:t>expression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的資料。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DDBF4A1-8B4B-6460-D417-BCAF1844E86F}"/>
              </a:ext>
            </a:extLst>
          </p:cNvPr>
          <p:cNvSpPr txBox="1"/>
          <p:nvPr/>
        </p:nvSpPr>
        <p:spPr>
          <a:xfrm>
            <a:off x="4350934" y="6045256"/>
            <a:ext cx="2820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(Lewinsohn Bioinfo 2023) </a:t>
            </a:r>
            <a:endParaRPr lang="zh-TW" altLang="en-US" dirty="0"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87A43625-AE70-06A4-05BA-DF790012FEAC}"/>
              </a:ext>
            </a:extLst>
          </p:cNvPr>
          <p:cNvGrpSpPr/>
          <p:nvPr/>
        </p:nvGrpSpPr>
        <p:grpSpPr>
          <a:xfrm>
            <a:off x="8330338" y="1117250"/>
            <a:ext cx="2201448" cy="2139864"/>
            <a:chOff x="8901071" y="1221578"/>
            <a:chExt cx="2201448" cy="2139864"/>
          </a:xfrm>
        </p:grpSpPr>
        <p:sp>
          <p:nvSpPr>
            <p:cNvPr id="20" name="箭號: 向右 19">
              <a:extLst>
                <a:ext uri="{FF2B5EF4-FFF2-40B4-BE49-F238E27FC236}">
                  <a16:creationId xmlns:a16="http://schemas.microsoft.com/office/drawing/2014/main" id="{54649AB0-3A55-87E1-FB78-8366E7DE0FD1}"/>
                </a:ext>
              </a:extLst>
            </p:cNvPr>
            <p:cNvSpPr/>
            <p:nvPr/>
          </p:nvSpPr>
          <p:spPr>
            <a:xfrm>
              <a:off x="9016936" y="3129710"/>
              <a:ext cx="2085583" cy="2317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箭號: 向右 21">
              <a:extLst>
                <a:ext uri="{FF2B5EF4-FFF2-40B4-BE49-F238E27FC236}">
                  <a16:creationId xmlns:a16="http://schemas.microsoft.com/office/drawing/2014/main" id="{17094CA5-E5FC-91F2-F3EE-8C92E3DCD36A}"/>
                </a:ext>
              </a:extLst>
            </p:cNvPr>
            <p:cNvSpPr/>
            <p:nvPr/>
          </p:nvSpPr>
          <p:spPr>
            <a:xfrm rot="16200000">
              <a:off x="7974145" y="2148504"/>
              <a:ext cx="2085583" cy="2317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44B89222-2B79-D582-BF1A-AEE82DEA2217}"/>
              </a:ext>
            </a:extLst>
          </p:cNvPr>
          <p:cNvSpPr txBox="1"/>
          <p:nvPr/>
        </p:nvSpPr>
        <p:spPr>
          <a:xfrm>
            <a:off x="8446203" y="3360473"/>
            <a:ext cx="26984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+mn-ea"/>
              </a:rPr>
              <a:t>Gene1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expression/PC1</a:t>
            </a:r>
            <a:endParaRPr lang="zh-TW" altLang="en-US" dirty="0">
              <a:latin typeface="+mn-ea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30EE467D-CE09-D584-9F36-FF8112475B36}"/>
              </a:ext>
            </a:extLst>
          </p:cNvPr>
          <p:cNvSpPr txBox="1"/>
          <p:nvPr/>
        </p:nvSpPr>
        <p:spPr>
          <a:xfrm>
            <a:off x="6122454" y="2339758"/>
            <a:ext cx="2323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+mn-ea"/>
              </a:rPr>
              <a:t>Gene2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expression/PC2</a:t>
            </a:r>
            <a:endParaRPr lang="zh-TW" altLang="en-US" dirty="0">
              <a:latin typeface="+mn-ea"/>
            </a:endParaRPr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14521547-58F0-9113-8D57-D4BB42398C3D}"/>
              </a:ext>
            </a:extLst>
          </p:cNvPr>
          <p:cNvSpPr/>
          <p:nvPr/>
        </p:nvSpPr>
        <p:spPr>
          <a:xfrm>
            <a:off x="9488994" y="1507115"/>
            <a:ext cx="231733" cy="2317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B6603169-88A4-4E8F-F343-E62B884F5CF1}"/>
              </a:ext>
            </a:extLst>
          </p:cNvPr>
          <p:cNvSpPr/>
          <p:nvPr/>
        </p:nvSpPr>
        <p:spPr>
          <a:xfrm>
            <a:off x="9004091" y="1989735"/>
            <a:ext cx="231733" cy="2317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AE583D5B-1A2E-82E3-6629-573447E8B053}"/>
              </a:ext>
            </a:extLst>
          </p:cNvPr>
          <p:cNvSpPr/>
          <p:nvPr/>
        </p:nvSpPr>
        <p:spPr>
          <a:xfrm>
            <a:off x="9926820" y="2635503"/>
            <a:ext cx="231733" cy="23173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00B85F04-0E9B-4641-CAD6-EF99E134E6EE}"/>
              </a:ext>
            </a:extLst>
          </p:cNvPr>
          <p:cNvSpPr/>
          <p:nvPr/>
        </p:nvSpPr>
        <p:spPr>
          <a:xfrm>
            <a:off x="9417022" y="2391009"/>
            <a:ext cx="231733" cy="23173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箭號: 弧形左彎 36">
            <a:extLst>
              <a:ext uri="{FF2B5EF4-FFF2-40B4-BE49-F238E27FC236}">
                <a16:creationId xmlns:a16="http://schemas.microsoft.com/office/drawing/2014/main" id="{7DAC8E60-A2CA-C023-A389-59C8FA5C8192}"/>
              </a:ext>
            </a:extLst>
          </p:cNvPr>
          <p:cNvSpPr/>
          <p:nvPr/>
        </p:nvSpPr>
        <p:spPr>
          <a:xfrm>
            <a:off x="11144633" y="3360473"/>
            <a:ext cx="593178" cy="1858252"/>
          </a:xfrm>
          <a:prstGeom prst="curvedLef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2D833C55-497E-D9F7-51D1-9B51E7CE3B10}"/>
              </a:ext>
            </a:extLst>
          </p:cNvPr>
          <p:cNvSpPr txBox="1"/>
          <p:nvPr/>
        </p:nvSpPr>
        <p:spPr>
          <a:xfrm>
            <a:off x="9488995" y="4017264"/>
            <a:ext cx="2095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拓樸結構送入模型</a:t>
            </a:r>
          </a:p>
        </p:txBody>
      </p:sp>
      <p:pic>
        <p:nvPicPr>
          <p:cNvPr id="41" name="圖片 40">
            <a:extLst>
              <a:ext uri="{FF2B5EF4-FFF2-40B4-BE49-F238E27FC236}">
                <a16:creationId xmlns:a16="http://schemas.microsoft.com/office/drawing/2014/main" id="{012AB6FB-CAC6-E0DB-F99F-54F6B1D78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2123" y="4543648"/>
            <a:ext cx="2276952" cy="984758"/>
          </a:xfrm>
          <a:prstGeom prst="rect">
            <a:avLst/>
          </a:prstGeom>
        </p:spPr>
      </p:pic>
      <p:sp>
        <p:nvSpPr>
          <p:cNvPr id="43" name="文字方塊 42">
            <a:extLst>
              <a:ext uri="{FF2B5EF4-FFF2-40B4-BE49-F238E27FC236}">
                <a16:creationId xmlns:a16="http://schemas.microsoft.com/office/drawing/2014/main" id="{FC384EB6-4E5D-1BD0-E619-912A06F97F30}"/>
              </a:ext>
            </a:extLst>
          </p:cNvPr>
          <p:cNvSpPr txBox="1"/>
          <p:nvPr/>
        </p:nvSpPr>
        <p:spPr>
          <a:xfrm>
            <a:off x="7688173" y="5551321"/>
            <a:ext cx="44448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透過鄰近節點更新自身的</a:t>
            </a:r>
            <a:r>
              <a:rPr lang="en-US" altLang="zh-TW" dirty="0">
                <a:latin typeface="+mn-ea"/>
              </a:rPr>
              <a:t>embedding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，但是</a:t>
            </a:r>
            <a:r>
              <a:rPr lang="en-US" altLang="zh-TW" dirty="0">
                <a:latin typeface="+mn-ea"/>
              </a:rPr>
              <a:t>loss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只針對已經被標註或是高可信度的細胞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dirty="0">
                <a:solidFill>
                  <a:srgbClr val="FF0000"/>
                </a:solidFill>
                <a:latin typeface="+mn-ea"/>
              </a:rPr>
              <a:t>loss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要怎麼設計呢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A557A10-EA85-1727-1241-52967ECC6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959E-7B7A-4B49-A587-FEACBB20E59B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0553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7E326-4856-6E1C-7C89-B811C68FA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53C7BC-7C2D-7E62-CFE7-7187D7683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ea"/>
                <a:ea typeface="+mn-ea"/>
              </a:rPr>
              <a:t>WGCNA</a:t>
            </a:r>
            <a:endParaRPr lang="zh-TW" altLang="en-US" dirty="0">
              <a:latin typeface="+mn-ea"/>
              <a:ea typeface="+mn-ea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9872437-4F1E-4FA5-4BE7-265E15D69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208743"/>
              </p:ext>
            </p:extLst>
          </p:nvPr>
        </p:nvGraphicFramePr>
        <p:xfrm>
          <a:off x="954801" y="1634901"/>
          <a:ext cx="4898435" cy="2468880"/>
        </p:xfrm>
        <a:graphic>
          <a:graphicData uri="http://schemas.openxmlformats.org/drawingml/2006/table">
            <a:tbl>
              <a:tblPr/>
              <a:tblGrid>
                <a:gridCol w="979687">
                  <a:extLst>
                    <a:ext uri="{9D8B030D-6E8A-4147-A177-3AD203B41FA5}">
                      <a16:colId xmlns:a16="http://schemas.microsoft.com/office/drawing/2014/main" val="411297798"/>
                    </a:ext>
                  </a:extLst>
                </a:gridCol>
                <a:gridCol w="979687">
                  <a:extLst>
                    <a:ext uri="{9D8B030D-6E8A-4147-A177-3AD203B41FA5}">
                      <a16:colId xmlns:a16="http://schemas.microsoft.com/office/drawing/2014/main" val="230772885"/>
                    </a:ext>
                  </a:extLst>
                </a:gridCol>
                <a:gridCol w="979687">
                  <a:extLst>
                    <a:ext uri="{9D8B030D-6E8A-4147-A177-3AD203B41FA5}">
                      <a16:colId xmlns:a16="http://schemas.microsoft.com/office/drawing/2014/main" val="2291050596"/>
                    </a:ext>
                  </a:extLst>
                </a:gridCol>
                <a:gridCol w="979687">
                  <a:extLst>
                    <a:ext uri="{9D8B030D-6E8A-4147-A177-3AD203B41FA5}">
                      <a16:colId xmlns:a16="http://schemas.microsoft.com/office/drawing/2014/main" val="646555566"/>
                    </a:ext>
                  </a:extLst>
                </a:gridCol>
                <a:gridCol w="979687">
                  <a:extLst>
                    <a:ext uri="{9D8B030D-6E8A-4147-A177-3AD203B41FA5}">
                      <a16:colId xmlns:a16="http://schemas.microsoft.com/office/drawing/2014/main" val="3776925433"/>
                    </a:ext>
                  </a:extLst>
                </a:gridCol>
              </a:tblGrid>
              <a:tr h="5625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Gene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dirty="0"/>
                        <a:t>Sample1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Sample2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Sample3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Sample4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133646"/>
                  </a:ext>
                </a:extLst>
              </a:tr>
              <a:tr h="321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dirty="0"/>
                        <a:t>Gene 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707824"/>
                  </a:ext>
                </a:extLst>
              </a:tr>
              <a:tr h="3214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dirty="0"/>
                        <a:t>Gene </a:t>
                      </a:r>
                      <a:r>
                        <a:rPr lang="en-US" altLang="zh-TW" dirty="0"/>
                        <a:t>B</a:t>
                      </a:r>
                      <a:endParaRPr lang="zh-TW" altLang="zh-TW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8</a:t>
                      </a:r>
                      <a:endParaRPr lang="zh-TW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5</a:t>
                      </a:r>
                      <a:endParaRPr lang="zh-TW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6</a:t>
                      </a:r>
                      <a:endParaRPr lang="zh-TW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7</a:t>
                      </a:r>
                      <a:endParaRPr lang="zh-TW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6487747"/>
                  </a:ext>
                </a:extLst>
              </a:tr>
              <a:tr h="321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…</a:t>
                      </a:r>
                      <a:endParaRPr kumimoji="0" lang="en-US" altLang="zh-TW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…</a:t>
                      </a:r>
                      <a:endParaRPr kumimoji="0" lang="en-US" altLang="zh-TW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…</a:t>
                      </a:r>
                      <a:endParaRPr kumimoji="0" lang="en-US" altLang="zh-TW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641447"/>
                  </a:ext>
                </a:extLst>
              </a:tr>
              <a:tr h="3214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dirty="0"/>
                        <a:t>Gene </a:t>
                      </a:r>
                      <a:r>
                        <a:rPr lang="en-US" altLang="zh-TW" dirty="0"/>
                        <a:t>Z</a:t>
                      </a:r>
                      <a:endParaRPr lang="zh-TW" altLang="zh-TW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2</a:t>
                      </a:r>
                      <a:endParaRPr lang="zh-TW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6</a:t>
                      </a:r>
                      <a:endParaRPr lang="zh-TW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9</a:t>
                      </a:r>
                      <a:endParaRPr lang="zh-TW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8</a:t>
                      </a:r>
                      <a:endParaRPr lang="zh-TW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24236"/>
                  </a:ext>
                </a:extLst>
              </a:tr>
              <a:tr h="3214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Trait</a:t>
                      </a:r>
                      <a:endParaRPr lang="zh-TW" altLang="zh-TW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</a:t>
                      </a:r>
                      <a:endParaRPr lang="zh-TW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</a:t>
                      </a:r>
                      <a:endParaRPr lang="zh-TW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</a:t>
                      </a:r>
                      <a:endParaRPr lang="zh-TW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</a:t>
                      </a:r>
                      <a:endParaRPr lang="zh-TW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255821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69043DDD-4A9F-9360-A30D-1BDFF2428FA1}"/>
              </a:ext>
            </a:extLst>
          </p:cNvPr>
          <p:cNvSpPr txBox="1"/>
          <p:nvPr/>
        </p:nvSpPr>
        <p:spPr>
          <a:xfrm>
            <a:off x="6090884" y="1690688"/>
            <a:ext cx="44448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核心概念是，透過個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基因間的表達量的分布差異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，來分群並進行後續分析。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DD9B04-584D-C1D0-A59A-A9C475A8F61A}"/>
              </a:ext>
            </a:extLst>
          </p:cNvPr>
          <p:cNvSpPr/>
          <p:nvPr/>
        </p:nvSpPr>
        <p:spPr>
          <a:xfrm>
            <a:off x="954802" y="2261810"/>
            <a:ext cx="4898434" cy="1082807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B253658-9929-CFA7-2988-77C36D5287F1}"/>
              </a:ext>
            </a:extLst>
          </p:cNvPr>
          <p:cNvSpPr txBox="1"/>
          <p:nvPr/>
        </p:nvSpPr>
        <p:spPr>
          <a:xfrm>
            <a:off x="6090883" y="2545923"/>
            <a:ext cx="9045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Module </a:t>
            </a:r>
            <a:r>
              <a:rPr lang="zh-TW" alt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 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42040A7-5A85-2926-0D19-796E29629CEE}"/>
              </a:ext>
            </a:extLst>
          </p:cNvPr>
          <p:cNvSpPr txBox="1"/>
          <p:nvPr/>
        </p:nvSpPr>
        <p:spPr>
          <a:xfrm>
            <a:off x="6090883" y="3124159"/>
            <a:ext cx="44448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可以與基因比較，也可以與</a:t>
            </a:r>
            <a:r>
              <a:rPr lang="en-US" altLang="zh-TW" dirty="0">
                <a:latin typeface="+mn-ea"/>
                <a:ea typeface="標楷體" panose="03000509000000000000" pitchFamily="65" charset="-120"/>
              </a:rPr>
              <a:t>t</a:t>
            </a:r>
            <a:r>
              <a:rPr lang="en-US" altLang="zh-TW" dirty="0">
                <a:latin typeface="+mn-ea"/>
              </a:rPr>
              <a:t>rait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比較甚至可以與其他</a:t>
            </a:r>
            <a:r>
              <a:rPr lang="en-US" altLang="zh-TW" dirty="0">
                <a:latin typeface="新細明體" panose="02020500000000000000" pitchFamily="18" charset="-120"/>
                <a:ea typeface="新細明體" panose="02020500000000000000" pitchFamily="18" charset="-120"/>
              </a:rPr>
              <a:t>module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比較。</a:t>
            </a: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6D7A1171-9BF8-495E-FEA1-244AC4DB3C93}"/>
              </a:ext>
            </a:extLst>
          </p:cNvPr>
          <p:cNvCxnSpPr>
            <a:cxnSpLocks/>
          </p:cNvCxnSpPr>
          <p:nvPr/>
        </p:nvCxnSpPr>
        <p:spPr>
          <a:xfrm>
            <a:off x="5770319" y="4280631"/>
            <a:ext cx="641128" cy="472542"/>
          </a:xfrm>
          <a:prstGeom prst="straightConnector1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72DAF79B-5A67-96D2-E0D0-BE7BB1CAC22C}"/>
              </a:ext>
            </a:extLst>
          </p:cNvPr>
          <p:cNvSpPr txBox="1"/>
          <p:nvPr/>
        </p:nvSpPr>
        <p:spPr>
          <a:xfrm>
            <a:off x="6158391" y="3911299"/>
            <a:ext cx="44448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若要套用在目標二，資料型態必須轉換。</a:t>
            </a:r>
          </a:p>
        </p:txBody>
      </p:sp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982050E6-D7A6-787A-6D22-0C08198CC8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660802"/>
              </p:ext>
            </p:extLst>
          </p:nvPr>
        </p:nvGraphicFramePr>
        <p:xfrm>
          <a:off x="6689589" y="4557630"/>
          <a:ext cx="4898435" cy="2025629"/>
        </p:xfrm>
        <a:graphic>
          <a:graphicData uri="http://schemas.openxmlformats.org/drawingml/2006/table">
            <a:tbl>
              <a:tblPr/>
              <a:tblGrid>
                <a:gridCol w="979687">
                  <a:extLst>
                    <a:ext uri="{9D8B030D-6E8A-4147-A177-3AD203B41FA5}">
                      <a16:colId xmlns:a16="http://schemas.microsoft.com/office/drawing/2014/main" val="411297798"/>
                    </a:ext>
                  </a:extLst>
                </a:gridCol>
                <a:gridCol w="979687">
                  <a:extLst>
                    <a:ext uri="{9D8B030D-6E8A-4147-A177-3AD203B41FA5}">
                      <a16:colId xmlns:a16="http://schemas.microsoft.com/office/drawing/2014/main" val="230772885"/>
                    </a:ext>
                  </a:extLst>
                </a:gridCol>
                <a:gridCol w="979687">
                  <a:extLst>
                    <a:ext uri="{9D8B030D-6E8A-4147-A177-3AD203B41FA5}">
                      <a16:colId xmlns:a16="http://schemas.microsoft.com/office/drawing/2014/main" val="2291050596"/>
                    </a:ext>
                  </a:extLst>
                </a:gridCol>
                <a:gridCol w="979687">
                  <a:extLst>
                    <a:ext uri="{9D8B030D-6E8A-4147-A177-3AD203B41FA5}">
                      <a16:colId xmlns:a16="http://schemas.microsoft.com/office/drawing/2014/main" val="646555566"/>
                    </a:ext>
                  </a:extLst>
                </a:gridCol>
                <a:gridCol w="979687">
                  <a:extLst>
                    <a:ext uri="{9D8B030D-6E8A-4147-A177-3AD203B41FA5}">
                      <a16:colId xmlns:a16="http://schemas.microsoft.com/office/drawing/2014/main" val="3776925433"/>
                    </a:ext>
                  </a:extLst>
                </a:gridCol>
              </a:tblGrid>
              <a:tr h="5625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dirty="0"/>
                        <a:t>Ge</a:t>
                      </a:r>
                      <a:r>
                        <a:rPr lang="en-US" altLang="zh-TW" dirty="0" err="1"/>
                        <a:t>ll</a:t>
                      </a:r>
                      <a:r>
                        <a:rPr lang="en-US" altLang="zh-TW" dirty="0"/>
                        <a:t> </a:t>
                      </a:r>
                      <a:endParaRPr lang="zh-TW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zh-TW" dirty="0"/>
                        <a:t>Gene</a:t>
                      </a:r>
                      <a:r>
                        <a:rPr lang="zh-TW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zh-TW" dirty="0"/>
                        <a:t>Gene</a:t>
                      </a:r>
                      <a:r>
                        <a:rPr lang="en-US" altLang="zh-TW" dirty="0"/>
                        <a:t>2</a:t>
                      </a:r>
                      <a:endParaRPr lang="zh-TW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zh-TW" dirty="0"/>
                        <a:t>Gene</a:t>
                      </a:r>
                      <a:r>
                        <a:rPr lang="en-US" altLang="zh-TW" dirty="0"/>
                        <a:t>3</a:t>
                      </a:r>
                      <a:endParaRPr lang="zh-TW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zh-TW" dirty="0"/>
                        <a:t>Gene</a:t>
                      </a:r>
                      <a:r>
                        <a:rPr lang="en-US" altLang="zh-TW" dirty="0"/>
                        <a:t>4</a:t>
                      </a:r>
                      <a:endParaRPr lang="zh-TW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133646"/>
                  </a:ext>
                </a:extLst>
              </a:tr>
              <a:tr h="321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dirty="0"/>
                        <a:t>G</a:t>
                      </a:r>
                      <a:r>
                        <a:rPr lang="en-US" altLang="zh-TW" dirty="0"/>
                        <a:t>ell</a:t>
                      </a:r>
                      <a:r>
                        <a:rPr lang="zh-TW" dirty="0"/>
                        <a:t> 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707824"/>
                  </a:ext>
                </a:extLst>
              </a:tr>
              <a:tr h="3214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dirty="0"/>
                        <a:t>Ge</a:t>
                      </a:r>
                      <a:r>
                        <a:rPr lang="en-US" altLang="zh-TW" dirty="0" err="1"/>
                        <a:t>ll</a:t>
                      </a:r>
                      <a:r>
                        <a:rPr lang="zh-TW" altLang="zh-TW" dirty="0"/>
                        <a:t> </a:t>
                      </a:r>
                      <a:r>
                        <a:rPr lang="en-US" altLang="zh-TW" dirty="0"/>
                        <a:t>B</a:t>
                      </a:r>
                      <a:endParaRPr lang="zh-TW" altLang="zh-TW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8</a:t>
                      </a:r>
                      <a:endParaRPr lang="zh-TW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5</a:t>
                      </a:r>
                      <a:endParaRPr lang="zh-TW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6</a:t>
                      </a:r>
                      <a:endParaRPr lang="zh-TW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7</a:t>
                      </a:r>
                      <a:endParaRPr lang="zh-TW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6487747"/>
                  </a:ext>
                </a:extLst>
              </a:tr>
              <a:tr h="321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…</a:t>
                      </a:r>
                      <a:endParaRPr kumimoji="0" lang="en-US" altLang="zh-TW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…</a:t>
                      </a:r>
                      <a:endParaRPr kumimoji="0" lang="en-US" altLang="zh-TW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…</a:t>
                      </a:r>
                      <a:endParaRPr kumimoji="0" lang="en-US" altLang="zh-TW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641447"/>
                  </a:ext>
                </a:extLst>
              </a:tr>
              <a:tr h="3214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dirty="0"/>
                        <a:t>Ge</a:t>
                      </a:r>
                      <a:r>
                        <a:rPr lang="en-US" altLang="zh-TW" dirty="0" err="1"/>
                        <a:t>ll</a:t>
                      </a:r>
                      <a:r>
                        <a:rPr lang="zh-TW" altLang="zh-TW" dirty="0"/>
                        <a:t> </a:t>
                      </a:r>
                      <a:r>
                        <a:rPr lang="en-US" altLang="zh-TW" dirty="0"/>
                        <a:t>Z</a:t>
                      </a:r>
                      <a:endParaRPr lang="zh-TW" altLang="zh-TW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2</a:t>
                      </a:r>
                      <a:endParaRPr lang="zh-TW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6</a:t>
                      </a:r>
                      <a:endParaRPr lang="zh-TW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9</a:t>
                      </a:r>
                      <a:endParaRPr lang="zh-TW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8</a:t>
                      </a:r>
                      <a:endParaRPr lang="zh-TW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24236"/>
                  </a:ext>
                </a:extLst>
              </a:tr>
            </a:tbl>
          </a:graphicData>
        </a:graphic>
      </p:graphicFrame>
      <p:sp>
        <p:nvSpPr>
          <p:cNvPr id="31" name="文字方塊 30">
            <a:extLst>
              <a:ext uri="{FF2B5EF4-FFF2-40B4-BE49-F238E27FC236}">
                <a16:creationId xmlns:a16="http://schemas.microsoft.com/office/drawing/2014/main" id="{17161F34-20D1-0AA1-4481-A35D7A0B95B0}"/>
              </a:ext>
            </a:extLst>
          </p:cNvPr>
          <p:cNvSpPr txBox="1"/>
          <p:nvPr/>
        </p:nvSpPr>
        <p:spPr>
          <a:xfrm>
            <a:off x="1325466" y="4899933"/>
            <a:ext cx="44448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某些細胞已有標籤，未標籤的細胞可以根據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與模組的基因表達相關性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來給定標籤。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37F45666-25C4-7CFE-F43E-8B37E0E39BD3}"/>
              </a:ext>
            </a:extLst>
          </p:cNvPr>
          <p:cNvSpPr txBox="1"/>
          <p:nvPr/>
        </p:nvSpPr>
        <p:spPr>
          <a:xfrm>
            <a:off x="5228593" y="6308209"/>
            <a:ext cx="10834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沒有</a:t>
            </a:r>
            <a:r>
              <a:rPr lang="en-US" altLang="zh-TW" dirty="0">
                <a:solidFill>
                  <a:srgbClr val="FF000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trait</a:t>
            </a:r>
            <a:endParaRPr lang="zh-TW" altLang="en-US" dirty="0">
              <a:solidFill>
                <a:srgbClr val="FF000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  <p:sp>
        <p:nvSpPr>
          <p:cNvPr id="38" name="投影片編號版面配置區 37">
            <a:extLst>
              <a:ext uri="{FF2B5EF4-FFF2-40B4-BE49-F238E27FC236}">
                <a16:creationId xmlns:a16="http://schemas.microsoft.com/office/drawing/2014/main" id="{4030D030-AFFB-C97D-ADB4-E9154A1DE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959E-7B7A-4B49-A587-FEACBB20E59B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8818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151F6-4638-5D98-6215-1E42FB78D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B86109-4791-4E95-C385-64F3A2569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目標二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—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後續分析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2008863-8A5A-F089-851A-26B9E184E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2289068"/>
            <a:ext cx="1979653" cy="1926992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E2AB40E-088D-7820-74F8-E7F108824B16}"/>
              </a:ext>
            </a:extLst>
          </p:cNvPr>
          <p:cNvSpPr txBox="1"/>
          <p:nvPr/>
        </p:nvSpPr>
        <p:spPr>
          <a:xfrm>
            <a:off x="808538" y="1773566"/>
            <a:ext cx="1057492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針對模組的部分，可以用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heatmap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的方式去視覺化，也可以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找出模組中最具有代表性的細胞或是基因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，並以降維投影的方式視覺化。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GCN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的部分，可以使用不同的工具針對感染與非感染的細胞進行標註，增加模型的複雜性，或許可以有更好的預測結果；神經網路的超參數應該也可以調看看。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我必先針對實際會拿到資料型態，去思考可以從哪一方面著手。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5A615DC-7D41-A906-E3FF-254639900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5595" y="2289069"/>
            <a:ext cx="2136818" cy="1926991"/>
          </a:xfrm>
          <a:prstGeom prst="rect">
            <a:avLst/>
          </a:prstGeom>
        </p:spPr>
      </p:pic>
      <p:sp>
        <p:nvSpPr>
          <p:cNvPr id="13" name="投影片編號版面配置區 12">
            <a:extLst>
              <a:ext uri="{FF2B5EF4-FFF2-40B4-BE49-F238E27FC236}">
                <a16:creationId xmlns:a16="http://schemas.microsoft.com/office/drawing/2014/main" id="{01CC01F0-4D7C-FE53-4AC7-7D4977CB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959E-7B7A-4B49-A587-FEACBB20E59B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0294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831</Words>
  <Application>Microsoft Office PowerPoint</Application>
  <PresentationFormat>寬螢幕</PresentationFormat>
  <Paragraphs>152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新細明體</vt:lpstr>
      <vt:lpstr>標楷體</vt:lpstr>
      <vt:lpstr>Aptos</vt:lpstr>
      <vt:lpstr>Aptos Display</vt:lpstr>
      <vt:lpstr>Arial</vt:lpstr>
      <vt:lpstr>Office 佈景主題</vt:lpstr>
      <vt:lpstr>進度報告</vt:lpstr>
      <vt:lpstr>目標一</vt:lpstr>
      <vt:lpstr>富集分析</vt:lpstr>
      <vt:lpstr>統計檢定</vt:lpstr>
      <vt:lpstr>目標一—後續分析</vt:lpstr>
      <vt:lpstr>目標二</vt:lpstr>
      <vt:lpstr>Graph convolutional networks</vt:lpstr>
      <vt:lpstr>WGCNA</vt:lpstr>
      <vt:lpstr>目標二—後續分析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俊延 賴</dc:creator>
  <cp:lastModifiedBy>俊延 賴</cp:lastModifiedBy>
  <cp:revision>2</cp:revision>
  <dcterms:created xsi:type="dcterms:W3CDTF">2026-07-08T01:16:28Z</dcterms:created>
  <dcterms:modified xsi:type="dcterms:W3CDTF">2026-07-09T02:30:57Z</dcterms:modified>
</cp:coreProperties>
</file>