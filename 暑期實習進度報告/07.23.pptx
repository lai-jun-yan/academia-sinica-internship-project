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FFE3-C734-4F7E-B38B-7ADAFDFC899A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E5801-2C48-4F86-BD17-DDA5E1897D6D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80A60-2784-413F-AE09-8B558326B578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18A-4BEC-4F06-9FE4-273F75638B17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6E4F-A138-4023-A33C-BC610A102980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C98F-A779-4DF7-BB78-3C44B4689A88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E378-A32D-42C4-9BAA-BEDFBA25629B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D79BE-6B0E-4AF6-9496-286AFCB9DF7A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93D04-A228-40BE-A109-8C67D3B904A8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0C678-A410-4335-9B69-4BD5AB228CB8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BBF1-1999-4288-8D16-7B099C32970E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A031-80E3-43DD-8F89-81A987E8603E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985F2-F4CB-4EAE-974C-0501832F0629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EBFF-7C37-4BAB-B6AB-E308CC4EF8A6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200A8-0F4D-407D-9AAD-3FD6BC02A13C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334E-C844-432B-A87C-F745FFF81CAA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9370-AE3E-411B-AE39-E9AB416E23A9}" type="datetime1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/>
              <a:t>Progress Report</a:t>
            </a:r>
            <a:br>
              <a:rPr lang="zh-TW" altLang="zh-TW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/>
              <a:t>Aim1</a:t>
            </a:r>
          </a:p>
          <a:p>
            <a:r>
              <a:rPr lang="en-US" altLang="zh-TW"/>
              <a:t>07.23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70239-3463-D80C-9F21-C997C3CD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Dataset for analysis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EC1855-8CD4-FAF7-A49A-8E71E58AF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Dataset:</a:t>
            </a:r>
          </a:p>
          <a:p>
            <a:pPr marL="400050" lvl="1" indent="0">
              <a:buNone/>
            </a:pPr>
            <a:r>
              <a:rPr lang="zh-TW" altLang="zh-TW" dirty="0">
                <a:solidFill>
                  <a:srgbClr val="FF0000"/>
                </a:solidFill>
              </a:rPr>
              <a:t>/home/bits_home02/nigelyeh/virusML/results_woControl/shap</a:t>
            </a:r>
            <a:endParaRPr lang="en-US" altLang="zh-TW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zh-TW" altLang="zh-TW" dirty="0"/>
              <a:t>/home/bits_home02/nigelyeh/virusML/results_woControl.immune_v1/shap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V</a:t>
            </a:r>
            <a:r>
              <a:rPr lang="zh-TW" altLang="zh-TW" dirty="0"/>
              <a:t>irus families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 err="1">
                <a:solidFill>
                  <a:srgbClr val="00B0F0"/>
                </a:solidFill>
              </a:rPr>
              <a:t>Alphaviridae</a:t>
            </a:r>
            <a:r>
              <a:rPr lang="en-US" altLang="zh-TW" dirty="0">
                <a:solidFill>
                  <a:srgbClr val="00B0F0"/>
                </a:solidFill>
              </a:rPr>
              <a:t>,</a:t>
            </a:r>
            <a:r>
              <a:rPr lang="zh-TW" altLang="en-US" dirty="0">
                <a:solidFill>
                  <a:srgbClr val="00B0F0"/>
                </a:solidFill>
              </a:rPr>
              <a:t> </a:t>
            </a:r>
            <a:r>
              <a:rPr lang="en-US" altLang="zh-TW" dirty="0" err="1">
                <a:solidFill>
                  <a:srgbClr val="00B0F0"/>
                </a:solidFill>
              </a:rPr>
              <a:t>Coronaviridae</a:t>
            </a:r>
            <a:r>
              <a:rPr lang="en-US" altLang="zh-TW" dirty="0">
                <a:solidFill>
                  <a:srgbClr val="00B0F0"/>
                </a:solidFill>
              </a:rPr>
              <a:t>, Flaviviridae, </a:t>
            </a:r>
            <a:r>
              <a:rPr lang="en-US" altLang="zh-TW" dirty="0" err="1">
                <a:solidFill>
                  <a:srgbClr val="00B0F0"/>
                </a:solidFill>
              </a:rPr>
              <a:t>Orthoherpesviridae</a:t>
            </a:r>
            <a:r>
              <a:rPr lang="en-US" altLang="zh-TW" dirty="0">
                <a:solidFill>
                  <a:srgbClr val="00B0F0"/>
                </a:solidFill>
              </a:rPr>
              <a:t>, Orthomyxoviridae, </a:t>
            </a:r>
            <a:r>
              <a:rPr lang="en-US" altLang="zh-TW" dirty="0" err="1">
                <a:solidFill>
                  <a:srgbClr val="00B0F0"/>
                </a:solidFill>
              </a:rPr>
              <a:t>Picornaviridae</a:t>
            </a:r>
            <a:r>
              <a:rPr lang="en-US" altLang="zh-TW" dirty="0">
                <a:solidFill>
                  <a:srgbClr val="00B0F0"/>
                </a:solidFill>
              </a:rPr>
              <a:t>, Reoviridae, </a:t>
            </a:r>
            <a:r>
              <a:rPr lang="en-US" altLang="zh-TW" dirty="0" err="1">
                <a:solidFill>
                  <a:srgbClr val="00B0F0"/>
                </a:solidFill>
              </a:rPr>
              <a:t>Retroviridae</a:t>
            </a:r>
            <a:endParaRPr lang="en-US" altLang="zh-TW" dirty="0">
              <a:solidFill>
                <a:srgbClr val="00B0F0"/>
              </a:solidFill>
            </a:endParaRPr>
          </a:p>
          <a:p>
            <a:endParaRPr lang="en-US" altLang="zh-TW" dirty="0"/>
          </a:p>
          <a:p>
            <a:r>
              <a:rPr lang="en-US" altLang="zh-TW" dirty="0" err="1"/>
              <a:t>Data.columns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zh-TW" altLang="zh-TW" dirty="0"/>
              <a:t>'</a:t>
            </a:r>
            <a:r>
              <a:rPr lang="zh-TW" altLang="zh-TW" dirty="0">
                <a:solidFill>
                  <a:srgbClr val="FF0000"/>
                </a:solidFill>
              </a:rPr>
              <a:t>Gene</a:t>
            </a:r>
            <a:r>
              <a:rPr lang="zh-TW" altLang="zh-TW" dirty="0"/>
              <a:t>', </a:t>
            </a:r>
            <a:r>
              <a:rPr lang="zh-TW" altLang="zh-TW" dirty="0">
                <a:solidFill>
                  <a:srgbClr val="FF0000"/>
                </a:solidFill>
              </a:rPr>
              <a:t>'RF_mean_abs_Score</a:t>
            </a:r>
            <a:r>
              <a:rPr lang="zh-TW" altLang="zh-TW" dirty="0"/>
              <a:t>', 'XGB_mean_abs_Score', 'RF_median_abs_Score', 'XGB_median_abs_Score', 'RF_Rank_byMean', 'XGB_Rank_byMean', 'RF_Rank_byMedian', 'XGB_Rank_byMedian', 'Avg_Rank_byMean', 'Avg_Rank_byMedian’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E25083-3016-8AB9-06F3-3D1D51E8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93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4F6F0-EB32-62CF-C02F-D452CA71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CFA07C-F9CB-E383-888C-5DA36211E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Conducting downstream analysis—such as </a:t>
            </a:r>
            <a:r>
              <a:rPr lang="zh-TW" altLang="zh-TW" dirty="0">
                <a:solidFill>
                  <a:srgbClr val="FF0000"/>
                </a:solidFill>
              </a:rPr>
              <a:t>enrichment analysis</a:t>
            </a:r>
            <a:r>
              <a:rPr lang="zh-TW" altLang="zh-TW" dirty="0"/>
              <a:t>—on the gene sets already identified by the machine learning model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Assigning biological significance to the features learned by the model</a:t>
            </a:r>
            <a:r>
              <a:rPr lang="en-US" altLang="zh-TW" dirty="0"/>
              <a:t> </a:t>
            </a:r>
            <a:r>
              <a:rPr lang="en-US" altLang="zh-TW" dirty="0">
                <a:latin typeface="+mn-ea"/>
              </a:rPr>
              <a:t>?</a:t>
            </a:r>
            <a:endParaRPr lang="zh-TW" altLang="zh-TW" dirty="0">
              <a:latin typeface="+mn-ea"/>
            </a:endParaRPr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EF82B2-09B4-873C-7663-98E3EC8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47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06DCA9-58B1-95E8-621D-011B020A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Enrichment analysis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6BA42D5-A45C-EB90-8BD3-90D50BE6E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179" y="1905000"/>
            <a:ext cx="7005072" cy="372816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F1B2D77-B326-ABD0-BC4D-C6518B2E9900}"/>
              </a:ext>
            </a:extLst>
          </p:cNvPr>
          <p:cNvSpPr txBox="1"/>
          <p:nvPr/>
        </p:nvSpPr>
        <p:spPr>
          <a:xfrm>
            <a:off x="8217917" y="5839575"/>
            <a:ext cx="17668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(</a:t>
            </a:r>
            <a:r>
              <a:rPr lang="zh-TW" altLang="zh-TW" sz="1400" dirty="0"/>
              <a:t>Hung</a:t>
            </a:r>
            <a:r>
              <a:rPr lang="en-US" altLang="zh-TW" sz="1400" dirty="0"/>
              <a:t> et al., 2011)</a:t>
            </a:r>
            <a:endParaRPr lang="zh-TW" altLang="en-US" sz="1400" dirty="0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B9195044-3DC7-F9D9-AF9B-5283DB08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67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98FE63-D82F-D408-5D7C-BBBEBE1C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ORA &amp; GSEA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B0640F-B603-5B3A-B3BC-C8EF33719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89" y="2235367"/>
            <a:ext cx="4688911" cy="307870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845C229-B536-8D22-8809-46318C9EC867}"/>
              </a:ext>
            </a:extLst>
          </p:cNvPr>
          <p:cNvSpPr txBox="1"/>
          <p:nvPr/>
        </p:nvSpPr>
        <p:spPr>
          <a:xfrm>
            <a:off x="4279504" y="5490553"/>
            <a:ext cx="181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(</a:t>
            </a:r>
            <a:r>
              <a:rPr lang="zh-TW" altLang="zh-TW" sz="1400" dirty="0"/>
              <a:t>Khatri et al., 2012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417C1ED-0192-F399-F93A-670BBFBFB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137" y="2007049"/>
            <a:ext cx="4235668" cy="326406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D033F45-82AE-50A4-A522-C6CA99F9B03C}"/>
              </a:ext>
            </a:extLst>
          </p:cNvPr>
          <p:cNvSpPr txBox="1"/>
          <p:nvPr/>
        </p:nvSpPr>
        <p:spPr>
          <a:xfrm>
            <a:off x="9033537" y="5435321"/>
            <a:ext cx="2471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(</a:t>
            </a:r>
            <a:r>
              <a:rPr lang="zh-TW" altLang="zh-TW" sz="1400" dirty="0"/>
              <a:t>Subramanian</a:t>
            </a:r>
            <a:r>
              <a:rPr lang="en-US" altLang="zh-TW" sz="1400" dirty="0"/>
              <a:t> et al., 2005)</a:t>
            </a:r>
            <a:endParaRPr lang="zh-TW" altLang="en-US" sz="1400" dirty="0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384F9546-E66B-3D49-E2E8-42141EBDF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957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59C855-C395-3250-2EB4-00EBACDE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zh-TW" altLang="zh-TW" dirty="0"/>
              <a:t>iological pathways</a:t>
            </a:r>
            <a:r>
              <a:rPr lang="en-US" altLang="zh-TW" dirty="0"/>
              <a:t> databases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9B66AF-9E39-4CAA-CB0B-8E81F6426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550645"/>
              </p:ext>
            </p:extLst>
          </p:nvPr>
        </p:nvGraphicFramePr>
        <p:xfrm>
          <a:off x="1294888" y="2003211"/>
          <a:ext cx="9958554" cy="4111220"/>
        </p:xfrm>
        <a:graphic>
          <a:graphicData uri="http://schemas.openxmlformats.org/drawingml/2006/table">
            <a:tbl>
              <a:tblPr/>
              <a:tblGrid>
                <a:gridCol w="4979277">
                  <a:extLst>
                    <a:ext uri="{9D8B030D-6E8A-4147-A177-3AD203B41FA5}">
                      <a16:colId xmlns:a16="http://schemas.microsoft.com/office/drawing/2014/main" val="2794974985"/>
                    </a:ext>
                  </a:extLst>
                </a:gridCol>
                <a:gridCol w="4979277">
                  <a:extLst>
                    <a:ext uri="{9D8B030D-6E8A-4147-A177-3AD203B41FA5}">
                      <a16:colId xmlns:a16="http://schemas.microsoft.com/office/drawing/2014/main" val="2932768338"/>
                    </a:ext>
                  </a:extLst>
                </a:gridCol>
              </a:tblGrid>
              <a:tr h="542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b="1" dirty="0"/>
                        <a:t>Database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600" b="1" dirty="0"/>
                        <a:t>D</a:t>
                      </a:r>
                      <a:r>
                        <a:rPr lang="zh-TW" sz="1600" b="1" dirty="0"/>
                        <a:t>escription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199587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b="1" i="1" dirty="0">
                          <a:solidFill>
                            <a:srgbClr val="FF0000"/>
                          </a:solidFill>
                        </a:rPr>
                        <a:t>Kyoto Encyclopedia of Genes and Genomes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A database for biological pathways, </a:t>
                      </a:r>
                      <a:r>
                        <a:rPr lang="zh-TW" sz="1600" dirty="0">
                          <a:solidFill>
                            <a:srgbClr val="00B0F0"/>
                          </a:solidFill>
                        </a:rPr>
                        <a:t>molecular interactions</a:t>
                      </a:r>
                      <a:r>
                        <a:rPr lang="zh-TW" sz="1600" dirty="0"/>
                        <a:t>, and </a:t>
                      </a:r>
                      <a:r>
                        <a:rPr lang="zh-TW" sz="1600" dirty="0">
                          <a:solidFill>
                            <a:srgbClr val="00B0F0"/>
                          </a:solidFill>
                        </a:rPr>
                        <a:t>disease mechanisms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91172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b="1" i="1" dirty="0">
                          <a:solidFill>
                            <a:srgbClr val="FF0000"/>
                          </a:solidFill>
                        </a:rPr>
                        <a:t>Reactome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A curated database of biological pathways and </a:t>
                      </a:r>
                      <a:r>
                        <a:rPr lang="zh-TW" sz="1600" dirty="0">
                          <a:solidFill>
                            <a:srgbClr val="00B0F0"/>
                          </a:solidFill>
                        </a:rPr>
                        <a:t>molecular reaction events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782334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b="1" i="1" dirty="0"/>
                        <a:t>Gene Ontology Biological Process 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A database that annotates genes according to biological processes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67007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b="1" i="1" dirty="0"/>
                        <a:t>MSigDB Hallmark Gene Sets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A collection of representative gene sets describing major biological states and cellular processes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877222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b="1" i="1" dirty="0"/>
                        <a:t>WikiPathways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A community-curated database of biological pathways</a:t>
                      </a:r>
                    </a:p>
                  </a:txBody>
                  <a:tcPr marL="80962" marR="80962" marT="40481" marB="40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557496"/>
                  </a:ext>
                </a:extLst>
              </a:tr>
            </a:tbl>
          </a:graphicData>
        </a:graphic>
      </p:graphicFrame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1BFB5D-A5EC-62CA-763F-10E4FACC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544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A35787-279A-7AA2-1BF6-E8CC37CC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Analysis process</a:t>
            </a:r>
            <a:r>
              <a:rPr lang="en-US" altLang="zh-TW" dirty="0"/>
              <a:t> (1)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AC614D-7678-2442-6045-DC5430A7A8C1}"/>
              </a:ext>
            </a:extLst>
          </p:cNvPr>
          <p:cNvSpPr txBox="1"/>
          <p:nvPr/>
        </p:nvSpPr>
        <p:spPr>
          <a:xfrm>
            <a:off x="4895319" y="1850410"/>
            <a:ext cx="384784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Remove genes with a value of 0</a:t>
            </a:r>
          </a:p>
        </p:txBody>
      </p:sp>
      <p:sp>
        <p:nvSpPr>
          <p:cNvPr id="5" name="箭號: 向下 4">
            <a:extLst>
              <a:ext uri="{FF2B5EF4-FFF2-40B4-BE49-F238E27FC236}">
                <a16:creationId xmlns:a16="http://schemas.microsoft.com/office/drawing/2014/main" id="{948F7DB2-D22D-267E-42BB-5CE5B268243E}"/>
              </a:ext>
            </a:extLst>
          </p:cNvPr>
          <p:cNvSpPr/>
          <p:nvPr/>
        </p:nvSpPr>
        <p:spPr>
          <a:xfrm>
            <a:off x="6702640" y="2540659"/>
            <a:ext cx="233203" cy="6915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5CDAF-4256-A382-3C03-E69D3E558935}"/>
              </a:ext>
            </a:extLst>
          </p:cNvPr>
          <p:cNvSpPr txBox="1"/>
          <p:nvPr/>
        </p:nvSpPr>
        <p:spPr>
          <a:xfrm>
            <a:off x="4220992" y="3451876"/>
            <a:ext cx="520103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Rank the genes according to Shapley values</a:t>
            </a:r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31673548-2E8B-5B2B-D075-79A00BA24636}"/>
              </a:ext>
            </a:extLst>
          </p:cNvPr>
          <p:cNvSpPr/>
          <p:nvPr/>
        </p:nvSpPr>
        <p:spPr>
          <a:xfrm>
            <a:off x="4549805" y="4290917"/>
            <a:ext cx="249951" cy="9052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2004D441-804E-CA7E-A6B6-5E62A226B691}"/>
              </a:ext>
            </a:extLst>
          </p:cNvPr>
          <p:cNvSpPr/>
          <p:nvPr/>
        </p:nvSpPr>
        <p:spPr>
          <a:xfrm>
            <a:off x="8910056" y="4290917"/>
            <a:ext cx="249951" cy="9052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B13DC9-1A3E-507D-20D9-4D185CB62EC6}"/>
              </a:ext>
            </a:extLst>
          </p:cNvPr>
          <p:cNvSpPr txBox="1"/>
          <p:nvPr/>
        </p:nvSpPr>
        <p:spPr>
          <a:xfrm>
            <a:off x="3571749" y="5569264"/>
            <a:ext cx="220606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ORA(</a:t>
            </a:r>
            <a:r>
              <a:rPr lang="en-US" altLang="zh-TW" dirty="0">
                <a:solidFill>
                  <a:srgbClr val="00B0F0"/>
                </a:solidFill>
              </a:rPr>
              <a:t>cutoff:top50</a:t>
            </a:r>
            <a:r>
              <a:rPr lang="en-US" altLang="zh-TW" dirty="0"/>
              <a:t>)</a:t>
            </a:r>
            <a:endParaRPr lang="zh-TW" altLang="zh-TW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DD71DF2-E5B0-E407-4ED6-05DFBB1EF48A}"/>
              </a:ext>
            </a:extLst>
          </p:cNvPr>
          <p:cNvSpPr txBox="1"/>
          <p:nvPr/>
        </p:nvSpPr>
        <p:spPr>
          <a:xfrm>
            <a:off x="8718456" y="5570256"/>
            <a:ext cx="7988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GSEA</a:t>
            </a:r>
            <a:endParaRPr lang="zh-TW" altLang="zh-TW" dirty="0"/>
          </a:p>
        </p:txBody>
      </p:sp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14386B33-3B24-CA90-482E-A68C0C18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42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D90C3-A37E-B017-CC0D-05D8100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ORA result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0266140-E51F-BE81-9F54-F2327608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339" y="1838604"/>
            <a:ext cx="4276644" cy="414019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F6C10D5-0BEC-64E3-CF43-E63C77EDC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073" y="2544068"/>
            <a:ext cx="4107509" cy="2729273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FBA4283-AF9F-F018-9856-A71067A61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1" y="2742115"/>
            <a:ext cx="2668588" cy="2142548"/>
          </a:xfrm>
          <a:ln w="38100"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/>
              <a:t>Database:</a:t>
            </a:r>
          </a:p>
          <a:p>
            <a:pPr marL="0" indent="0">
              <a:buNone/>
            </a:pPr>
            <a:r>
              <a:rPr lang="en-US" altLang="zh-TW" dirty="0"/>
              <a:t>	KEGG</a:t>
            </a:r>
          </a:p>
          <a:p>
            <a:endParaRPr lang="en-US" altLang="zh-TW" dirty="0"/>
          </a:p>
          <a:p>
            <a:r>
              <a:rPr lang="en-US" altLang="zh-TW" dirty="0"/>
              <a:t>Virus family: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Retroviridae</a:t>
            </a:r>
            <a:endParaRPr lang="zh-TW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A686C5-0A3A-2134-50EC-DF3842C8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83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6A89A-432A-27A2-888A-86DBE3D3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GSEA result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29BB4B-EDBB-7696-1C7F-43826F064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274" y="1905000"/>
            <a:ext cx="4766905" cy="443059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0C570C6-DA05-E617-B4A6-7F7B6E6F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561" y="259645"/>
            <a:ext cx="2334668" cy="6338709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E9771A0-AA4E-A26E-298A-08AA02C8F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62" y="2653215"/>
            <a:ext cx="2668588" cy="2142548"/>
          </a:xfrm>
          <a:ln w="38100"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/>
              <a:t>Database: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Reactome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Virus family: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Picornaviridae</a:t>
            </a:r>
            <a:endParaRPr lang="zh-TW" altLang="en-US" dirty="0"/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74676FFD-D8A2-8191-F0BD-E94832F4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0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62ECD-6652-377E-0178-B55A1FBA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35C563-7AD1-98F4-3C6E-41BB2DB4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Purpose of a</a:t>
            </a:r>
            <a:r>
              <a:rPr lang="zh-TW" altLang="zh-TW" dirty="0"/>
              <a:t>nalysis process</a:t>
            </a:r>
            <a:r>
              <a:rPr lang="en-US" altLang="zh-TW" dirty="0"/>
              <a:t> (1)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5963A4-AD7E-B553-CB55-B1FDBA88E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zh-TW" altLang="zh-TW" dirty="0"/>
              <a:t>Identify pathways for further exploration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Infer the biological processes in which pathways may jointly participate based on the genes shared between them</a:t>
            </a:r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9DAFBC-9731-792F-D60D-3D34F418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25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A568E-E5B3-37BF-6338-B341EE83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8598AF-8E9C-2418-13F0-240C1DEB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Analysis process</a:t>
            </a:r>
            <a:r>
              <a:rPr lang="en-US" altLang="zh-TW" dirty="0"/>
              <a:t> (2)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DE075DE-3FB8-DF69-4111-CED4DB1CB744}"/>
              </a:ext>
            </a:extLst>
          </p:cNvPr>
          <p:cNvSpPr txBox="1"/>
          <p:nvPr/>
        </p:nvSpPr>
        <p:spPr>
          <a:xfrm>
            <a:off x="3966355" y="3834625"/>
            <a:ext cx="425929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dirty="0"/>
              <a:t>Simultaneously significant pathways</a:t>
            </a:r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EBFE6164-8494-3445-94F8-2B11C32D458B}"/>
              </a:ext>
            </a:extLst>
          </p:cNvPr>
          <p:cNvSpPr/>
          <p:nvPr/>
        </p:nvSpPr>
        <p:spPr>
          <a:xfrm>
            <a:off x="4774359" y="2523728"/>
            <a:ext cx="249951" cy="9052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7078E0CC-AAFD-90EC-B0C3-006CCEB4FCDB}"/>
              </a:ext>
            </a:extLst>
          </p:cNvPr>
          <p:cNvSpPr/>
          <p:nvPr/>
        </p:nvSpPr>
        <p:spPr>
          <a:xfrm>
            <a:off x="7139692" y="2523728"/>
            <a:ext cx="249951" cy="9052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6D2335F-EC2C-5561-DBD1-A9C986E63767}"/>
              </a:ext>
            </a:extLst>
          </p:cNvPr>
          <p:cNvSpPr txBox="1"/>
          <p:nvPr/>
        </p:nvSpPr>
        <p:spPr>
          <a:xfrm>
            <a:off x="4535080" y="1811774"/>
            <a:ext cx="710173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ORA</a:t>
            </a:r>
            <a:endParaRPr lang="zh-TW" altLang="zh-TW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262CA88-0C76-12B3-C0D0-09CA7E179B98}"/>
              </a:ext>
            </a:extLst>
          </p:cNvPr>
          <p:cNvSpPr txBox="1"/>
          <p:nvPr/>
        </p:nvSpPr>
        <p:spPr>
          <a:xfrm>
            <a:off x="6865257" y="1806027"/>
            <a:ext cx="7988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GSEA</a:t>
            </a:r>
            <a:endParaRPr lang="zh-TW" altLang="zh-TW" dirty="0"/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9C67D0CF-79A2-F031-2087-4F98F5316501}"/>
              </a:ext>
            </a:extLst>
          </p:cNvPr>
          <p:cNvSpPr/>
          <p:nvPr/>
        </p:nvSpPr>
        <p:spPr>
          <a:xfrm>
            <a:off x="5971024" y="4609582"/>
            <a:ext cx="249951" cy="9052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B9F175-F50E-BC99-DECC-4B56488F3603}"/>
              </a:ext>
            </a:extLst>
          </p:cNvPr>
          <p:cNvSpPr txBox="1"/>
          <p:nvPr/>
        </p:nvSpPr>
        <p:spPr>
          <a:xfrm>
            <a:off x="2110339" y="5920479"/>
            <a:ext cx="8335571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b="1" dirty="0">
                <a:solidFill>
                  <a:srgbClr val="FF0000"/>
                </a:solidFill>
              </a:rPr>
              <a:t>Features learned by the model and their potential biological significance</a:t>
            </a: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78788F8D-56B4-4F33-5ACA-DBEF083A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267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15F1B-10D2-388B-DA26-1E7D2856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Example of </a:t>
            </a:r>
            <a:r>
              <a:rPr lang="zh-TW" altLang="zh-TW" dirty="0">
                <a:solidFill>
                  <a:schemeClr val="tx1"/>
                </a:solidFill>
              </a:rPr>
              <a:t>biological significance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219012-8011-26B5-A29C-A8A4398BC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151" y="1758950"/>
            <a:ext cx="3561110" cy="3619500"/>
          </a:xfrm>
          <a:prstGeom prst="rect">
            <a:avLst/>
          </a:prstGeom>
        </p:spPr>
      </p:pic>
      <p:pic>
        <p:nvPicPr>
          <p:cNvPr id="5" name="圖形 1">
            <a:extLst>
              <a:ext uri="{FF2B5EF4-FFF2-40B4-BE49-F238E27FC236}">
                <a16:creationId xmlns:a16="http://schemas.microsoft.com/office/drawing/2014/main" id="{9E2DA0E7-4299-B518-B638-DE231CCF2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7153" y="1904999"/>
            <a:ext cx="5464568" cy="24257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623D8B6-92A5-5097-0203-AE532A1654BD}"/>
              </a:ext>
            </a:extLst>
          </p:cNvPr>
          <p:cNvSpPr txBox="1"/>
          <p:nvPr/>
        </p:nvSpPr>
        <p:spPr>
          <a:xfrm>
            <a:off x="6029523" y="4953001"/>
            <a:ext cx="6099174" cy="1384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zh-TW" sz="1400" dirty="0"/>
              <a:t>IL-10 signaling is an important immunoregulatory pathway that suppresses excessive inflammatory responses by inhibiting antigen-presenting cell activation and reducing pro-inflammatory cytokine production. Upon IL-10 receptor activation, JAK1/TYK2-mediated phosphorylation activates STAT3, which regulates downstream anti-inflammatory gene expression.</a:t>
            </a:r>
            <a:endParaRPr lang="zh-TW" altLang="en-US" sz="1400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6CE57DC0-AE34-D37F-7C98-DE5AB725D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04" y="1764215"/>
            <a:ext cx="2293938" cy="2142548"/>
          </a:xfrm>
          <a:ln w="38100"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/>
              <a:t>Database: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Reactome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Virus family: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Retroviridae</a:t>
            </a:r>
            <a:endParaRPr lang="zh-TW" altLang="zh-TW" dirty="0"/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C29B78-ABF6-508C-4167-072C4CFD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934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5BF4-D44C-3381-7E28-20762E35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A1DE5B-6E52-574E-C900-E7FBF133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of a</a:t>
            </a:r>
            <a:r>
              <a:rPr lang="zh-TW" altLang="zh-TW" dirty="0"/>
              <a:t>nalysis process</a:t>
            </a:r>
            <a:r>
              <a:rPr lang="en-US" altLang="zh-TW" dirty="0"/>
              <a:t> (2)</a:t>
            </a:r>
            <a:br>
              <a:rPr lang="zh-TW" altLang="zh-TW" dirty="0"/>
            </a:b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08209CC-B0B9-6467-0334-24C340053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35055"/>
              </p:ext>
            </p:extLst>
          </p:nvPr>
        </p:nvGraphicFramePr>
        <p:xfrm>
          <a:off x="1365250" y="1905000"/>
          <a:ext cx="9785349" cy="4328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261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1087261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721431">
                <a:tc>
                  <a:txBody>
                    <a:bodyPr/>
                    <a:lstStyle/>
                    <a:p>
                      <a:pPr algn="ctr"/>
                      <a:endParaRPr lang="zh-TW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Alphaviridae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Coronaviridae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/>
                        <a:t>Flaviviridae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Orthoherpesviridae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/>
                        <a:t>Orthomyxoviridae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Picornaviridae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/>
                        <a:t>Reoviridae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Retroviridae</a:t>
                      </a:r>
                      <a:endParaRPr lang="zh-TW" altLang="en-US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7214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/>
                        <a:t>KEGG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rgbClr val="00B0F0"/>
                          </a:solidFill>
                        </a:rPr>
                        <a:t>7</a:t>
                      </a:r>
                      <a:endParaRPr lang="zh-TW" altLang="en-US" sz="1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7214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Reactome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7214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/>
                        <a:t>GO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rgbClr val="00B050"/>
                          </a:solidFill>
                        </a:rPr>
                        <a:t>OSA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00B050"/>
                          </a:solidFill>
                        </a:rPr>
                        <a:t>OSA</a:t>
                      </a:r>
                      <a:endParaRPr lang="zh-TW" altLang="en-US" sz="1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rgbClr val="00B050"/>
                          </a:solidFill>
                        </a:rPr>
                        <a:t>OSA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7214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MSigDB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7214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err="1"/>
                        <a:t>WikiPathways</a:t>
                      </a:r>
                      <a:endParaRPr lang="zh-TW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rgbClr val="00B050"/>
                          </a:solidFill>
                        </a:rPr>
                        <a:t>OSA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tx2"/>
                          </a:solidFill>
                        </a:rPr>
                        <a:t>GSEA</a:t>
                      </a:r>
                      <a:endParaRPr lang="zh-TW" altLang="en-US" sz="12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00B0F0"/>
                          </a:solidFill>
                        </a:rPr>
                        <a:t>8</a:t>
                      </a:r>
                      <a:endParaRPr lang="zh-TW" altLang="en-US" sz="1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582847E-EFD2-2693-D4E1-5CB7E633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29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D8EA2-B066-F9B2-66CA-C44CDFF2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C6CC-89FF-49BD-658A-367CB6E5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of a</a:t>
            </a:r>
            <a:r>
              <a:rPr lang="zh-TW" altLang="zh-TW" dirty="0"/>
              <a:t>nalysis process</a:t>
            </a:r>
            <a:r>
              <a:rPr lang="en-US" altLang="zh-TW" dirty="0"/>
              <a:t> (2)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ECFD93-D6C2-1FA8-7B9C-4865DD06D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zh-TW" altLang="zh-TW" dirty="0"/>
              <a:t>The gene set of </a:t>
            </a:r>
            <a:r>
              <a:rPr lang="zh-TW" altLang="zh-TW" dirty="0">
                <a:solidFill>
                  <a:srgbClr val="FF0000"/>
                </a:solidFill>
              </a:rPr>
              <a:t>Orthomyxoviridae</a:t>
            </a:r>
            <a:r>
              <a:rPr lang="zh-TW" altLang="zh-TW" dirty="0"/>
              <a:t> is not enriched in any pathway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The majority of statistically significant results are concentrated in the gene set of </a:t>
            </a:r>
            <a:r>
              <a:rPr lang="zh-TW" altLang="zh-TW" dirty="0">
                <a:solidFill>
                  <a:srgbClr val="00B0F0"/>
                </a:solidFill>
              </a:rPr>
              <a:t>Retroviridae</a:t>
            </a:r>
            <a:endParaRPr lang="en-US" altLang="zh-TW" dirty="0">
              <a:solidFill>
                <a:srgbClr val="00B0F0"/>
              </a:solidFill>
            </a:endParaRPr>
          </a:p>
          <a:p>
            <a:endParaRPr lang="en-US" altLang="zh-TW" dirty="0">
              <a:solidFill>
                <a:srgbClr val="00B0F0"/>
              </a:solidFill>
            </a:endParaRPr>
          </a:p>
          <a:p>
            <a:r>
              <a:rPr lang="zh-TW" altLang="zh-TW" dirty="0"/>
              <a:t>There are too many significantly enriched pathways in common, making it uncertain which one best reflects the biological significance</a:t>
            </a:r>
          </a:p>
          <a:p>
            <a:pPr marL="0" indent="0">
              <a:buNone/>
            </a:pPr>
            <a:endParaRPr lang="en-US" altLang="zh-TW" dirty="0">
              <a:solidFill>
                <a:srgbClr val="00B0F0"/>
              </a:solidFill>
            </a:endParaRPr>
          </a:p>
          <a:p>
            <a:endParaRPr lang="en-US" altLang="zh-TW" dirty="0"/>
          </a:p>
          <a:p>
            <a:endParaRPr lang="zh-TW" altLang="zh-TW" dirty="0"/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20383E-7D5C-4387-6125-3529E247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219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F5BB3-CB64-C50C-5D46-66E30FA8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CB4FA-8F93-5C12-68D7-C7061F44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zh-TW" altLang="zh-TW" dirty="0"/>
              <a:t>he XGBoost analysis for the dataset also needs to be completed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Systematically analyze the biological significance of the pathway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Identify the reasons why an analysis might be significant in only one instance or completely non-significant</a:t>
            </a:r>
          </a:p>
          <a:p>
            <a:pPr marL="0" indent="0">
              <a:buNone/>
            </a:pPr>
            <a:endParaRPr lang="zh-TW" altLang="zh-TW" dirty="0"/>
          </a:p>
          <a:p>
            <a:endParaRPr lang="en-US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DE38BC-AF32-880D-1735-01DCD441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234660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239</TotalTime>
  <Words>718</Words>
  <Application>Microsoft Office PowerPoint</Application>
  <PresentationFormat>寬螢幕</PresentationFormat>
  <Paragraphs>159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Wingdings 2</vt:lpstr>
      <vt:lpstr>Wingdings 3</vt:lpstr>
      <vt:lpstr>絲縷</vt:lpstr>
      <vt:lpstr>Progress Report </vt:lpstr>
      <vt:lpstr>Dataset for analysis </vt:lpstr>
      <vt:lpstr>Aim</vt:lpstr>
      <vt:lpstr>Enrichment analysis</vt:lpstr>
      <vt:lpstr>ORA &amp; GSEA </vt:lpstr>
      <vt:lpstr>Biological pathways databases</vt:lpstr>
      <vt:lpstr>Analysis process (1) </vt:lpstr>
      <vt:lpstr>Example of ORA result</vt:lpstr>
      <vt:lpstr>Example of GSEA result</vt:lpstr>
      <vt:lpstr>Purpose of analysis process (1) </vt:lpstr>
      <vt:lpstr>Analysis process (2) </vt:lpstr>
      <vt:lpstr>Example of biological significance </vt:lpstr>
      <vt:lpstr>Problem of analysis process (2) </vt:lpstr>
      <vt:lpstr>Problem of analysis process (2) 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4</cp:revision>
  <dcterms:created xsi:type="dcterms:W3CDTF">2026-07-22T01:16:54Z</dcterms:created>
  <dcterms:modified xsi:type="dcterms:W3CDTF">2026-07-22T05:16:51Z</dcterms:modified>
</cp:coreProperties>
</file>