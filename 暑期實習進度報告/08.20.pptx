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78" r:id="rId3"/>
    <p:sldId id="282" r:id="rId4"/>
    <p:sldId id="283" r:id="rId5"/>
    <p:sldId id="284" r:id="rId6"/>
    <p:sldId id="299" r:id="rId7"/>
    <p:sldId id="285" r:id="rId8"/>
    <p:sldId id="286" r:id="rId9"/>
    <p:sldId id="300" r:id="rId10"/>
    <p:sldId id="287" r:id="rId11"/>
    <p:sldId id="301" r:id="rId12"/>
    <p:sldId id="288" r:id="rId13"/>
    <p:sldId id="302" r:id="rId14"/>
    <p:sldId id="298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28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3895" autoAdjust="0"/>
  </p:normalViewPr>
  <p:slideViewPr>
    <p:cSldViewPr snapToGrid="0">
      <p:cViewPr varScale="1">
        <p:scale>
          <a:sx n="81" d="100"/>
          <a:sy n="81" d="100"/>
        </p:scale>
        <p:origin x="11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4B67A6-86C8-4AEC-8A8F-6C2F464F56C5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07B5DF-8346-47E0-A838-EF3629E0D1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5122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Image source : </a:t>
            </a:r>
            <a:r>
              <a:rPr lang="en-US" altLang="zh-TW" dirty="0" err="1"/>
              <a:t>pngtree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6588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8EEF1-7FF7-CAD0-BCA0-6E9B79BC6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5188187-7DDB-9D11-6316-C309A32AE0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26B72CA-F1E0-DB97-6F17-323DFA375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確認</a:t>
            </a:r>
            <a:r>
              <a:rPr lang="en-US" altLang="zh-TW" dirty="0"/>
              <a:t>3000</a:t>
            </a:r>
            <a:r>
              <a:rPr lang="zh-TW" altLang="en-US" dirty="0"/>
              <a:t>個基因是不是都有包含</a:t>
            </a:r>
            <a:r>
              <a:rPr lang="en-US" altLang="zh-TW" dirty="0"/>
              <a:t>virus</a:t>
            </a:r>
            <a:r>
              <a:rPr lang="zh-TW" altLang="en-US" dirty="0"/>
              <a:t> </a:t>
            </a:r>
            <a:r>
              <a:rPr lang="en-US" altLang="zh-TW" dirty="0"/>
              <a:t>gene(</a:t>
            </a:r>
            <a:r>
              <a:rPr lang="zh-TW" altLang="en-US" dirty="0"/>
              <a:t>可能有</a:t>
            </a:r>
            <a:r>
              <a:rPr lang="en-US" altLang="zh-TW" dirty="0"/>
              <a:t>confounding)(</a:t>
            </a:r>
            <a:r>
              <a:rPr lang="zh-TW" altLang="en-US" dirty="0"/>
              <a:t>不太確定 原始檔案沒有基因的</a:t>
            </a:r>
            <a:r>
              <a:rPr lang="en-US" altLang="zh-TW" dirty="0"/>
              <a:t>annotation)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64F19F-8B41-7593-BA6F-9A88D5ED76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7747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2A2AC-BC59-54EF-57B0-0A27B8B4F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E0888D6-9734-954D-620C-E02831FCA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ABDF0CD-DADB-54DB-9ABC-14BFCF4448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確認</a:t>
            </a:r>
            <a:r>
              <a:rPr lang="en-US" altLang="zh-TW" dirty="0"/>
              <a:t>3000</a:t>
            </a:r>
            <a:r>
              <a:rPr lang="zh-TW" altLang="en-US" dirty="0"/>
              <a:t>個基因是不是都有包含</a:t>
            </a:r>
            <a:r>
              <a:rPr lang="en-US" altLang="zh-TW" dirty="0"/>
              <a:t>virus</a:t>
            </a:r>
            <a:r>
              <a:rPr lang="zh-TW" altLang="en-US" dirty="0"/>
              <a:t> </a:t>
            </a:r>
            <a:r>
              <a:rPr lang="en-US" altLang="zh-TW" dirty="0"/>
              <a:t>gene(</a:t>
            </a:r>
            <a:r>
              <a:rPr lang="zh-TW" altLang="en-US" dirty="0"/>
              <a:t>可能有</a:t>
            </a:r>
            <a:r>
              <a:rPr lang="en-US" altLang="zh-TW" dirty="0"/>
              <a:t>confounding)(</a:t>
            </a:r>
            <a:r>
              <a:rPr lang="zh-TW" altLang="en-US" dirty="0"/>
              <a:t>不太確定 原始檔案沒有基因的</a:t>
            </a:r>
            <a:r>
              <a:rPr lang="en-US" altLang="zh-TW" dirty="0"/>
              <a:t>annotation)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82A2B7-A9B4-E190-7421-CC92A1336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56641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49406-37CA-6E7B-D581-57CC5FB3B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93AB5CA-0137-45F1-81CF-85F00280D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47A9DDC-D6B0-5095-0B8D-49085CC67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other ml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15A1DEA-664C-6A37-6388-41DE57A5DC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7689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59094-BCD1-F2C8-FA17-337C76FBA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32C5334-BFC3-E298-70CD-C7F66BCA3C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ACBDD09-E185-9502-1A95-25912008B4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FC605E-38F3-0E44-C121-8BECD5091F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99610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47ACB-13DA-217D-5A27-5093AE035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CE3F1F7-CB69-6D9A-7ADD-C27F483DFE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009397C-F8CA-5A4F-8162-9551F47F5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1314508-A950-CC70-5177-AECE1487E8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37928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B6ECE-5C6A-6721-E9D5-CB7DBE368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DAB81D8-A9BC-4E6D-D54F-36B7ECD3C0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40BFA59-72D0-CE91-D0BF-6A7A99F5B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513709-FD3E-B98B-0F38-EA03ED8C5A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43849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1E74E-2241-67AE-4793-FA1A91F37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076B93-0601-9C3D-308A-C514BFEA7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CE0D654-F579-8174-C537-C6F0016684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9439216-4746-7736-25BE-53C8D7305C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33267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92E4E-CC2F-B7BC-E2C3-537075075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0903697-284E-B2B5-B2CF-CADE065F6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B369AB4-153B-1C4A-773D-2A3CAA200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1</a:t>
            </a:r>
            <a:r>
              <a:rPr lang="zh-TW" altLang="en-US" dirty="0"/>
              <a:t> </a:t>
            </a:r>
            <a:r>
              <a:rPr lang="en-US" altLang="zh-TW" dirty="0"/>
              <a:t>~</a:t>
            </a:r>
            <a:r>
              <a:rPr lang="zh-TW" altLang="en-US" dirty="0"/>
              <a:t> </a:t>
            </a:r>
            <a:r>
              <a:rPr lang="en-US" altLang="zh-TW" dirty="0"/>
              <a:t>9</a:t>
            </a:r>
            <a:r>
              <a:rPr lang="zh-TW" altLang="en-US" dirty="0"/>
              <a:t>要去看生物意義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44FBCA3-B611-8C83-0084-E5163C1461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2840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798D9-C70C-D950-AC03-EA581366E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9EEBB53-99EB-2054-883C-0C2C79D059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0B21E1A-E029-1B23-B70D-31891E0E6D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1</a:t>
            </a:r>
            <a:r>
              <a:rPr lang="zh-TW" altLang="en-US" dirty="0"/>
              <a:t> </a:t>
            </a:r>
            <a:r>
              <a:rPr lang="en-US" altLang="zh-TW" dirty="0"/>
              <a:t>~</a:t>
            </a:r>
            <a:r>
              <a:rPr lang="zh-TW" altLang="en-US" dirty="0"/>
              <a:t> </a:t>
            </a:r>
            <a:r>
              <a:rPr lang="en-US" altLang="zh-TW" dirty="0"/>
              <a:t>9</a:t>
            </a:r>
            <a:r>
              <a:rPr lang="zh-TW" altLang="en-US" dirty="0"/>
              <a:t>要去看生物意義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D7604BA-4A05-B704-DF91-FF8D2E5507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18005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78BCF-A969-8E73-D287-0274B5377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7928AD2-8DEF-7D55-337F-DCBC80310D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4413B7A-6E9C-D2B0-001A-78E2B323DB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73CA354-90FB-D357-F995-D803ECFEFA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79328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D0B67-7028-6AE4-D954-D73993927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EFB4908-6EA5-0248-2010-8DA7C8A883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AAF4795-04D7-174C-ED40-C36DAFD94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為什麼判斷完的</a:t>
            </a:r>
            <a:r>
              <a:rPr lang="en-US" altLang="zh-TW" dirty="0"/>
              <a:t>infection</a:t>
            </a:r>
            <a:r>
              <a:rPr lang="zh-TW" altLang="en-US" dirty="0"/>
              <a:t>比例會那麼高，訓練前後每個</a:t>
            </a:r>
            <a:r>
              <a:rPr lang="en-US" altLang="zh-TW" dirty="0"/>
              <a:t>cell type</a:t>
            </a:r>
            <a:r>
              <a:rPr lang="zh-TW" altLang="en-US"/>
              <a:t>在感染上都大幅提升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816D392-3242-FB01-1C01-641B679EA5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99180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E0BD8-2727-989E-5ECF-A724A387C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B13C154-FB65-9369-3DD6-6C1A9F024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71A45DA-78BE-E095-2495-1BBCB91ACB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A935FF-C7C3-867F-73CF-0BD941A2F4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86005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2C3F9-C464-50A9-8F09-1F9E3B866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5FF5099-4B51-C7B0-1ACF-80B51D79B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580ABAB-6BE3-A6FA-80D7-ABA716F0B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9D13A2D-4EF8-BDDC-086B-3D2CE24ADD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20897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EA6A0-E083-02EB-3F07-CA9D5BDBA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7108FFD-9284-4ACE-AB66-2EEE8DCE0C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B28DC10-F4BD-AC29-C62C-63CFAB167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C11275F-81F8-E68A-1A16-22393793C9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15219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DF074-F05D-9A38-FACA-B10B1D130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00C06A2-5B42-D22E-4321-8C778BC90D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2CF8DF2-B6DD-7AAD-2AA8-B2898322D7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C915BD5-77FD-AADC-DC92-F233311028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43224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848D3-2CE2-1B60-83FC-3192C17D2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17819AF-367B-505C-DA0C-1E47F063A5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E34D60E-12C3-6B80-8732-02AD8ACE4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92F6F6-525A-66FB-1B63-EE1A00B6A0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7253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2778C-362B-4F7E-AC5C-0E3D67C9A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9AAD8EE-82A8-E9B2-ABFB-565A32814D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0456ADC-0E79-4667-7B8C-7DBC6CA7C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7C2AF40-461C-8B0E-47A8-6D5E0E235F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113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59C6B-EED7-79E8-4913-A419DDA1B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B287A33-E6A4-BD94-1003-CE93D4813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B216BD5-9A1A-35F8-7774-DDBAAB6229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E76E80B-908F-59B3-80C2-6857C7E20A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5994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7C305-5696-4A7F-86AE-9C076744B4EA}" type="datetime1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6819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50FA-4614-4BF5-8794-75F97A0B2544}" type="datetime1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9890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336E6-5EE0-4A71-81C3-454B5C7B8BFB}" type="datetime1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7079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ED53-FC9D-48CB-AA63-3CC0B044F3C0}" type="datetime1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9202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D8557-2EF5-4AB0-8FDE-59BF801865CC}" type="datetime1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3214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BEE1F-4E42-4556-91FB-8362A0311142}" type="datetime1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7133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9E288-AC8B-4B62-B049-7671F3A2DFF0}" type="datetime1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7810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82A0F-D946-4FC0-8D63-AF5246A679AE}" type="datetime1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3026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BBE9F-1777-4CD2-896A-5CE0FA3014FF}" type="datetime1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224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432D5-B03D-4717-A904-795F862C1E5D}" type="datetime1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1225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5C8B2-1CA8-4214-9C14-3CAA749726CE}" type="datetime1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41247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A667E-6D94-4A33-B267-6660FFC03615}" type="datetime1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44987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2C43B-7B97-41B4-A0D9-48858736EFA4}" type="datetime1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76489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EF5B8-0A25-46D3-80D8-0863E07A873E}" type="datetime1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9607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5B9F2-24E4-479E-A18C-BF8EB1ED4286}" type="datetime1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7112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E6E13-70FA-486A-9C9C-12B2AF2AEAF1}" type="datetime1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2653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4D7AFE-6A4C-47D2-A958-3F76A70AFF87}" type="datetime1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1018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2427F2-A2B9-864E-785A-93A31EB6FF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TW" altLang="zh-TW" dirty="0"/>
              <a:t>Research Progress and Future Work</a:t>
            </a:r>
            <a:br>
              <a:rPr lang="zh-TW" altLang="zh-TW" dirty="0"/>
            </a:b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D3CD96D-FA25-F806-372C-F4EF862075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08.20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B4FE53C-9997-536E-CA11-C15CC9227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4449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90FC2-61F5-8D5F-B088-51759F9AC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EB38E9-1FF3-C6BE-7125-F9C7D57E74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2660" y="1318591"/>
            <a:ext cx="2772372" cy="4220820"/>
          </a:xfrm>
        </p:spPr>
        <p:txBody>
          <a:bodyPr anchor="ctr">
            <a:normAutofit/>
          </a:bodyPr>
          <a:lstStyle/>
          <a:p>
            <a:pPr algn="r"/>
            <a:r>
              <a:rPr lang="en-US" altLang="zh-TW" sz="6600" dirty="0">
                <a:solidFill>
                  <a:schemeClr val="tx2">
                    <a:lumMod val="75000"/>
                  </a:schemeClr>
                </a:solidFill>
              </a:rPr>
              <a:t>Aim 2</a:t>
            </a:r>
            <a:endParaRPr lang="zh-TW" altLang="en-US" sz="6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722C5C0-3664-341D-00B6-2A00A7809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1271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053B7-7E3F-DE48-9226-048BD2DF4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895BE6-1705-23BD-F2CD-285B05B79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Data </a:t>
            </a:r>
            <a:r>
              <a:rPr lang="en-US" altLang="zh-TW" dirty="0"/>
              <a:t>information</a:t>
            </a:r>
            <a:endParaRPr lang="zh-TW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C22DD0-0D3D-E450-447D-4CB626371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Ravindra2021</a:t>
            </a:r>
            <a:r>
              <a:rPr lang="en-US" altLang="zh-TW" dirty="0"/>
              <a:t>:</a:t>
            </a:r>
          </a:p>
          <a:p>
            <a:pPr marL="400050" lvl="1" indent="0">
              <a:buNone/>
            </a:pPr>
            <a:r>
              <a:rPr lang="en-US" altLang="zh-TW" dirty="0"/>
              <a:t>RNA raw count data comprising 77,668 cells and 33,539 genes</a:t>
            </a:r>
            <a:r>
              <a:rPr lang="zh-TW" altLang="zh-TW" dirty="0"/>
              <a:t>.</a:t>
            </a:r>
          </a:p>
          <a:p>
            <a:endParaRPr lang="en-US" altLang="zh-TW" dirty="0"/>
          </a:p>
          <a:p>
            <a:r>
              <a:rPr lang="zh-TW" altLang="zh-TW" dirty="0"/>
              <a:t>Key fields</a:t>
            </a:r>
            <a:r>
              <a:rPr lang="en-US" altLang="zh-TW" dirty="0"/>
              <a:t>:</a:t>
            </a:r>
          </a:p>
          <a:p>
            <a:pPr marL="400050" lvl="1" indent="0">
              <a:buNone/>
            </a:pPr>
            <a:r>
              <a:rPr lang="en-US" altLang="zh-TW" dirty="0"/>
              <a:t>‘</a:t>
            </a:r>
            <a:r>
              <a:rPr lang="zh-TW" altLang="zh-TW" dirty="0"/>
              <a:t>pmito</a:t>
            </a:r>
            <a:r>
              <a:rPr lang="en-US" altLang="zh-TW" dirty="0"/>
              <a:t>’</a:t>
            </a:r>
            <a:r>
              <a:rPr lang="zh-TW" altLang="zh-TW" dirty="0"/>
              <a:t>,</a:t>
            </a:r>
            <a:r>
              <a:rPr lang="en-US" altLang="zh-TW" dirty="0"/>
              <a:t> ‘</a:t>
            </a:r>
            <a:r>
              <a:rPr lang="zh-TW" altLang="zh-TW" dirty="0"/>
              <a:t>n_genes</a:t>
            </a:r>
            <a:r>
              <a:rPr lang="en-US" altLang="zh-TW" dirty="0"/>
              <a:t>’, ‘</a:t>
            </a:r>
            <a:r>
              <a:rPr lang="zh-TW" altLang="zh-TW" dirty="0"/>
              <a:t>Viral_transcript</a:t>
            </a:r>
            <a:r>
              <a:rPr lang="en-US" altLang="zh-TW" dirty="0"/>
              <a:t>’, ‘</a:t>
            </a:r>
            <a:r>
              <a:rPr lang="zh-TW" altLang="zh-TW" dirty="0"/>
              <a:t>Condition</a:t>
            </a:r>
            <a:r>
              <a:rPr lang="en-US" altLang="zh-TW" dirty="0"/>
              <a:t>’, 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C5F3D97-7EA9-E711-B2F2-F5102244B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2206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F468A-9A64-820D-0765-1CFA58184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BDEF14-D837-A4F2-F78D-F043CE02A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Data preprocessing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885AC6-D696-82BF-4B16-C2D7C540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6756FC7-73AD-C505-F7A8-0C97D6F4DFD0}"/>
              </a:ext>
            </a:extLst>
          </p:cNvPr>
          <p:cNvSpPr txBox="1"/>
          <p:nvPr/>
        </p:nvSpPr>
        <p:spPr>
          <a:xfrm>
            <a:off x="1022817" y="1855819"/>
            <a:ext cx="3135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2000" dirty="0"/>
              <a:t>Quality Control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917516A9-5288-9026-0A74-DC85F7DCE5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80" y="2756879"/>
            <a:ext cx="1138653" cy="999998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56B0CD0B-83AB-A23E-86C3-4D38259BA7BC}"/>
              </a:ext>
            </a:extLst>
          </p:cNvPr>
          <p:cNvSpPr txBox="1"/>
          <p:nvPr/>
        </p:nvSpPr>
        <p:spPr>
          <a:xfrm>
            <a:off x="2056218" y="2545471"/>
            <a:ext cx="21121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P</a:t>
            </a:r>
            <a:r>
              <a:rPr lang="zh-TW" altLang="zh-TW" sz="1600" dirty="0"/>
              <a:t>mito</a:t>
            </a:r>
            <a:r>
              <a:rPr lang="zh-TW" altLang="en-US" sz="1600" dirty="0"/>
              <a:t> </a:t>
            </a:r>
            <a:r>
              <a:rPr lang="en-US" altLang="zh-TW" sz="1600" dirty="0"/>
              <a:t>&lt;</a:t>
            </a:r>
            <a:r>
              <a:rPr lang="zh-TW" altLang="en-US" sz="1600" dirty="0"/>
              <a:t> </a:t>
            </a:r>
            <a:r>
              <a:rPr lang="en-US" altLang="zh-TW" sz="1600" dirty="0"/>
              <a:t>0.2</a:t>
            </a:r>
          </a:p>
          <a:p>
            <a:endParaRPr lang="en-US" altLang="zh-TW" sz="1600" dirty="0"/>
          </a:p>
          <a:p>
            <a:r>
              <a:rPr lang="en-US" altLang="zh-TW" sz="1600" dirty="0"/>
              <a:t>n</a:t>
            </a:r>
            <a:r>
              <a:rPr lang="zh-TW" altLang="zh-TW" sz="1600" dirty="0"/>
              <a:t>_genes</a:t>
            </a:r>
            <a:r>
              <a:rPr lang="en-US" altLang="zh-TW" sz="1600" dirty="0"/>
              <a:t> &gt; 500</a:t>
            </a:r>
          </a:p>
          <a:p>
            <a:endParaRPr lang="en-US" altLang="zh-TW" sz="1600" dirty="0"/>
          </a:p>
          <a:p>
            <a:r>
              <a:rPr lang="en-US" altLang="zh-TW" sz="1600" dirty="0">
                <a:solidFill>
                  <a:srgbClr val="FF0000"/>
                </a:solidFill>
              </a:rPr>
              <a:t>Condition != Mock</a:t>
            </a: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8E0D8B08-F595-E81A-8925-B1B0045AEA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817" y="4519844"/>
            <a:ext cx="832096" cy="1066064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FB45BD4E-6046-02B1-8C5C-2F9AB00E3CCA}"/>
              </a:ext>
            </a:extLst>
          </p:cNvPr>
          <p:cNvSpPr txBox="1"/>
          <p:nvPr/>
        </p:nvSpPr>
        <p:spPr>
          <a:xfrm>
            <a:off x="2046658" y="4889736"/>
            <a:ext cx="2112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 err="1"/>
              <a:t>Min_cells</a:t>
            </a:r>
            <a:r>
              <a:rPr lang="en-US" altLang="zh-TW" sz="1600" dirty="0"/>
              <a:t>= 10</a:t>
            </a:r>
            <a:endParaRPr lang="zh-TW" altLang="en-US" sz="16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36A34E3-E38A-5E49-A407-139447763D04}"/>
              </a:ext>
            </a:extLst>
          </p:cNvPr>
          <p:cNvSpPr txBox="1"/>
          <p:nvPr/>
        </p:nvSpPr>
        <p:spPr>
          <a:xfrm>
            <a:off x="5406620" y="1844204"/>
            <a:ext cx="42528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C</a:t>
            </a:r>
            <a:r>
              <a:rPr lang="zh-TW" altLang="zh-TW" sz="2000" dirty="0"/>
              <a:t>ells with high-confidence labels</a:t>
            </a: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D911F92F-69FB-AB3F-24F3-E81D795DC6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235" y="4515540"/>
            <a:ext cx="1233519" cy="1068130"/>
          </a:xfrm>
          <a:prstGeom prst="rect">
            <a:avLst/>
          </a:prstGeom>
        </p:spPr>
      </p:pic>
      <p:grpSp>
        <p:nvGrpSpPr>
          <p:cNvPr id="33" name="群組 32">
            <a:extLst>
              <a:ext uri="{FF2B5EF4-FFF2-40B4-BE49-F238E27FC236}">
                <a16:creationId xmlns:a16="http://schemas.microsoft.com/office/drawing/2014/main" id="{5269BB12-A7B1-C989-1244-AE99BE116C93}"/>
              </a:ext>
            </a:extLst>
          </p:cNvPr>
          <p:cNvGrpSpPr/>
          <p:nvPr/>
        </p:nvGrpSpPr>
        <p:grpSpPr>
          <a:xfrm>
            <a:off x="9659502" y="2454256"/>
            <a:ext cx="2399534" cy="2436241"/>
            <a:chOff x="9250693" y="4066345"/>
            <a:chExt cx="2399534" cy="2436241"/>
          </a:xfrm>
        </p:grpSpPr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C0673E75-C346-E305-F15E-0C4CBC36F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59502" y="4066345"/>
              <a:ext cx="1581917" cy="356420"/>
            </a:xfrm>
            <a:prstGeom prst="rect">
              <a:avLst/>
            </a:prstGeom>
          </p:spPr>
        </p:pic>
        <p:pic>
          <p:nvPicPr>
            <p:cNvPr id="28" name="圖片 27">
              <a:extLst>
                <a:ext uri="{FF2B5EF4-FFF2-40B4-BE49-F238E27FC236}">
                  <a16:creationId xmlns:a16="http://schemas.microsoft.com/office/drawing/2014/main" id="{F9E7BFBD-9069-4FC4-5712-9EAE25A6C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59502" y="4593234"/>
              <a:ext cx="1404873" cy="368721"/>
            </a:xfrm>
            <a:prstGeom prst="rect">
              <a:avLst/>
            </a:prstGeom>
          </p:spPr>
        </p:pic>
        <p:pic>
          <p:nvPicPr>
            <p:cNvPr id="30" name="圖片 29">
              <a:extLst>
                <a:ext uri="{FF2B5EF4-FFF2-40B4-BE49-F238E27FC236}">
                  <a16:creationId xmlns:a16="http://schemas.microsoft.com/office/drawing/2014/main" id="{1ABF89C6-C431-4805-BD5D-01E6A1D00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693" y="5184732"/>
              <a:ext cx="2399534" cy="1317854"/>
            </a:xfrm>
            <a:prstGeom prst="rect">
              <a:avLst/>
            </a:prstGeom>
          </p:spPr>
        </p:pic>
      </p:grp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DCC581FB-25D3-819E-0FF0-BE55815F43A1}"/>
              </a:ext>
            </a:extLst>
          </p:cNvPr>
          <p:cNvSpPr txBox="1"/>
          <p:nvPr/>
        </p:nvSpPr>
        <p:spPr>
          <a:xfrm>
            <a:off x="6945714" y="2545124"/>
            <a:ext cx="21520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600" dirty="0"/>
              <a:t>Viral_transcript</a:t>
            </a:r>
            <a:r>
              <a:rPr lang="en-US" altLang="zh-TW" sz="1600" dirty="0"/>
              <a:t> &gt; </a:t>
            </a:r>
            <a:r>
              <a:rPr lang="en-US" altLang="zh-TW" sz="1600" dirty="0" err="1"/>
              <a:t>T</a:t>
            </a:r>
            <a:r>
              <a:rPr lang="en-US" altLang="zh-TW" sz="1100" dirty="0" err="1"/>
              <a:t>inf</a:t>
            </a:r>
            <a:endParaRPr lang="zh-TW" altLang="zh-TW" sz="1100" dirty="0"/>
          </a:p>
          <a:p>
            <a:endParaRPr lang="en-US" altLang="zh-TW" sz="1600" dirty="0"/>
          </a:p>
          <a:p>
            <a:endParaRPr lang="en-US" altLang="zh-TW" sz="1600" dirty="0"/>
          </a:p>
          <a:p>
            <a:r>
              <a:rPr lang="en-US" altLang="zh-TW" sz="1600" dirty="0"/>
              <a:t>n</a:t>
            </a:r>
            <a:r>
              <a:rPr lang="zh-TW" altLang="zh-TW" sz="1600" dirty="0"/>
              <a:t>_genes</a:t>
            </a:r>
            <a:r>
              <a:rPr lang="en-US" altLang="zh-TW" sz="1600" dirty="0"/>
              <a:t> &gt; 1000</a:t>
            </a:r>
            <a:endParaRPr lang="zh-TW" altLang="en-US" sz="1600" dirty="0"/>
          </a:p>
        </p:txBody>
      </p:sp>
      <p:sp>
        <p:nvSpPr>
          <p:cNvPr id="34" name="箭號: 向右 33">
            <a:extLst>
              <a:ext uri="{FF2B5EF4-FFF2-40B4-BE49-F238E27FC236}">
                <a16:creationId xmlns:a16="http://schemas.microsoft.com/office/drawing/2014/main" id="{5941DAF7-7602-8E7E-74F0-6C9AB1FF2BA7}"/>
              </a:ext>
            </a:extLst>
          </p:cNvPr>
          <p:cNvSpPr/>
          <p:nvPr/>
        </p:nvSpPr>
        <p:spPr>
          <a:xfrm>
            <a:off x="3952172" y="3832968"/>
            <a:ext cx="736429" cy="3385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13202AB5-C4F7-51A3-A8E0-EF1F2458459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962" y="2590944"/>
            <a:ext cx="1418136" cy="1066064"/>
          </a:xfrm>
          <a:prstGeom prst="rect">
            <a:avLst/>
          </a:prstGeom>
        </p:spPr>
      </p:pic>
      <p:sp>
        <p:nvSpPr>
          <p:cNvPr id="38" name="文字方塊 37">
            <a:extLst>
              <a:ext uri="{FF2B5EF4-FFF2-40B4-BE49-F238E27FC236}">
                <a16:creationId xmlns:a16="http://schemas.microsoft.com/office/drawing/2014/main" id="{688E8E9F-7996-6CE7-4A71-1ECF9FBB11EB}"/>
              </a:ext>
            </a:extLst>
          </p:cNvPr>
          <p:cNvSpPr txBox="1"/>
          <p:nvPr/>
        </p:nvSpPr>
        <p:spPr>
          <a:xfrm>
            <a:off x="6946981" y="4637377"/>
            <a:ext cx="215201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600" dirty="0"/>
              <a:t>Viral_transcript</a:t>
            </a:r>
            <a:r>
              <a:rPr lang="en-US" altLang="zh-TW" sz="1600" dirty="0"/>
              <a:t> = 0</a:t>
            </a:r>
          </a:p>
          <a:p>
            <a:endParaRPr lang="en-US" altLang="zh-TW" sz="1600" dirty="0"/>
          </a:p>
          <a:p>
            <a:r>
              <a:rPr lang="en-US" altLang="zh-TW" sz="1600" dirty="0">
                <a:solidFill>
                  <a:srgbClr val="FF0000"/>
                </a:solidFill>
              </a:rPr>
              <a:t>n</a:t>
            </a:r>
            <a:r>
              <a:rPr lang="zh-TW" altLang="zh-TW" sz="1600" dirty="0">
                <a:solidFill>
                  <a:srgbClr val="FF0000"/>
                </a:solidFill>
              </a:rPr>
              <a:t>_genes</a:t>
            </a:r>
            <a:r>
              <a:rPr lang="en-US" altLang="zh-TW" sz="1600" dirty="0">
                <a:solidFill>
                  <a:srgbClr val="FF0000"/>
                </a:solidFill>
              </a:rPr>
              <a:t> &gt; 1000</a:t>
            </a:r>
            <a:endParaRPr lang="zh-TW" altLang="en-US" sz="1600" dirty="0">
              <a:solidFill>
                <a:srgbClr val="FF0000"/>
              </a:solidFill>
            </a:endParaRPr>
          </a:p>
          <a:p>
            <a:endParaRPr lang="en-US" altLang="zh-TW" sz="1100" dirty="0"/>
          </a:p>
          <a:p>
            <a:r>
              <a:rPr lang="en-US" altLang="zh-TW" sz="1600" dirty="0">
                <a:solidFill>
                  <a:srgbClr val="FF0000"/>
                </a:solidFill>
              </a:rPr>
              <a:t>Condition = 1dpi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2566E7B7-AAD3-05DB-17F6-36723D025DA0}"/>
              </a:ext>
            </a:extLst>
          </p:cNvPr>
          <p:cNvSpPr txBox="1"/>
          <p:nvPr/>
        </p:nvSpPr>
        <p:spPr>
          <a:xfrm>
            <a:off x="4651780" y="2587602"/>
            <a:ext cx="754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600" b="1" dirty="0">
                <a:solidFill>
                  <a:srgbClr val="00B050"/>
                </a:solidFill>
              </a:rPr>
              <a:t>17</a:t>
            </a:r>
            <a:r>
              <a:rPr lang="en-US" altLang="zh-TW" sz="1600" b="1" dirty="0">
                <a:solidFill>
                  <a:srgbClr val="00B050"/>
                </a:solidFill>
              </a:rPr>
              <a:t>07</a:t>
            </a:r>
            <a:endParaRPr lang="zh-TW" altLang="en-US" sz="1600" b="1" dirty="0">
              <a:solidFill>
                <a:srgbClr val="00B050"/>
              </a:solidFill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2F6675A2-82B0-CEFF-6381-8A9260A1F5F7}"/>
              </a:ext>
            </a:extLst>
          </p:cNvPr>
          <p:cNvSpPr txBox="1"/>
          <p:nvPr/>
        </p:nvSpPr>
        <p:spPr>
          <a:xfrm>
            <a:off x="4613152" y="4442848"/>
            <a:ext cx="8320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b="1" dirty="0">
                <a:solidFill>
                  <a:srgbClr val="FF0000"/>
                </a:solidFill>
              </a:rPr>
              <a:t>7505</a:t>
            </a:r>
            <a:endParaRPr lang="zh-TW" altLang="en-US" sz="1400" b="1" dirty="0">
              <a:solidFill>
                <a:srgbClr val="FF0000"/>
              </a:solidFill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B69DE469-2F16-9BA4-A052-5D04347E5284}"/>
              </a:ext>
            </a:extLst>
          </p:cNvPr>
          <p:cNvSpPr txBox="1"/>
          <p:nvPr/>
        </p:nvSpPr>
        <p:spPr>
          <a:xfrm>
            <a:off x="4651780" y="6108498"/>
            <a:ext cx="23904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* </a:t>
            </a:r>
            <a:r>
              <a:rPr lang="en-US" altLang="zh-TW" sz="1600" b="1" dirty="0"/>
              <a:t>42769 Unknown cell</a:t>
            </a:r>
            <a:endParaRPr lang="zh-TW" altLang="zh-TW" sz="1600" b="1" dirty="0"/>
          </a:p>
        </p:txBody>
      </p:sp>
    </p:spTree>
    <p:extLst>
      <p:ext uri="{BB962C8B-B14F-4D97-AF65-F5344CB8AC3E}">
        <p14:creationId xmlns:p14="http://schemas.microsoft.com/office/powerpoint/2010/main" val="2689587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97B9C-5262-894D-91BE-B892C888D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148E68-D7ED-C8A7-B6E3-031B1AD56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Topological relationships of cells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54FED8-9E66-E9E2-C145-7513B641B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7F7B512-2C03-3EF0-5519-297DA2178946}"/>
              </a:ext>
            </a:extLst>
          </p:cNvPr>
          <p:cNvSpPr txBox="1"/>
          <p:nvPr/>
        </p:nvSpPr>
        <p:spPr>
          <a:xfrm>
            <a:off x="740847" y="2155582"/>
            <a:ext cx="4667124" cy="33855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sz="1600" dirty="0"/>
              <a:t>Select the top 3,000 highly variable genes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AB02996-31D5-4AB3-6D79-CC9F457AA034}"/>
              </a:ext>
            </a:extLst>
          </p:cNvPr>
          <p:cNvSpPr txBox="1"/>
          <p:nvPr/>
        </p:nvSpPr>
        <p:spPr>
          <a:xfrm>
            <a:off x="740847" y="3679582"/>
            <a:ext cx="4837987" cy="33855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zh-TW" sz="1600" dirty="0"/>
              <a:t>Performing clustering using PCA</a:t>
            </a:r>
            <a:r>
              <a:rPr lang="en-US" altLang="zh-TW" sz="1600" dirty="0"/>
              <a:t>(</a:t>
            </a:r>
            <a:r>
              <a:rPr lang="en-US" altLang="zh-TW" sz="1600" dirty="0" err="1"/>
              <a:t>n_comps</a:t>
            </a:r>
            <a:r>
              <a:rPr lang="en-US" altLang="zh-TW" sz="1600" dirty="0"/>
              <a:t> = 50)</a:t>
            </a:r>
            <a:endParaRPr lang="zh-TW" altLang="zh-TW" sz="16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128528B-61C1-342F-1E55-472500D662F4}"/>
              </a:ext>
            </a:extLst>
          </p:cNvPr>
          <p:cNvSpPr txBox="1"/>
          <p:nvPr/>
        </p:nvSpPr>
        <p:spPr>
          <a:xfrm>
            <a:off x="919356" y="5474071"/>
            <a:ext cx="4310104" cy="36933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sz="1600" dirty="0"/>
              <a:t>Construct a KNN graph</a:t>
            </a:r>
            <a:r>
              <a:rPr lang="en-US" altLang="zh-TW" sz="1600" dirty="0"/>
              <a:t>(</a:t>
            </a:r>
            <a:r>
              <a:rPr lang="zh-TW" altLang="zh-TW" dirty="0"/>
              <a:t>n_neighbors=15</a:t>
            </a:r>
            <a:r>
              <a:rPr lang="en-US" altLang="zh-TW" sz="1600" dirty="0"/>
              <a:t>)</a:t>
            </a:r>
            <a:endParaRPr lang="zh-TW" altLang="zh-TW" sz="1600" dirty="0"/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9E2742E9-7DAA-745E-D2AB-05EEB7CF3B98}"/>
              </a:ext>
            </a:extLst>
          </p:cNvPr>
          <p:cNvSpPr/>
          <p:nvPr/>
        </p:nvSpPr>
        <p:spPr>
          <a:xfrm rot="5400000">
            <a:off x="2798737" y="3009891"/>
            <a:ext cx="551342" cy="2306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箭號: 向右 20">
            <a:extLst>
              <a:ext uri="{FF2B5EF4-FFF2-40B4-BE49-F238E27FC236}">
                <a16:creationId xmlns:a16="http://schemas.microsoft.com/office/drawing/2014/main" id="{974A855E-33F2-459F-6BC7-C054FD986DFE}"/>
              </a:ext>
            </a:extLst>
          </p:cNvPr>
          <p:cNvSpPr/>
          <p:nvPr/>
        </p:nvSpPr>
        <p:spPr>
          <a:xfrm rot="5400000">
            <a:off x="2798737" y="4610603"/>
            <a:ext cx="551342" cy="2306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DCD8C64A-60AA-4869-C23A-552B4892C8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116694"/>
              </p:ext>
            </p:extLst>
          </p:nvPr>
        </p:nvGraphicFramePr>
        <p:xfrm>
          <a:off x="6068702" y="3582130"/>
          <a:ext cx="5673376" cy="2651760"/>
        </p:xfrm>
        <a:graphic>
          <a:graphicData uri="http://schemas.openxmlformats.org/drawingml/2006/table">
            <a:tbl>
              <a:tblPr/>
              <a:tblGrid>
                <a:gridCol w="1418344">
                  <a:extLst>
                    <a:ext uri="{9D8B030D-6E8A-4147-A177-3AD203B41FA5}">
                      <a16:colId xmlns:a16="http://schemas.microsoft.com/office/drawing/2014/main" val="897932352"/>
                    </a:ext>
                  </a:extLst>
                </a:gridCol>
                <a:gridCol w="1418344">
                  <a:extLst>
                    <a:ext uri="{9D8B030D-6E8A-4147-A177-3AD203B41FA5}">
                      <a16:colId xmlns:a16="http://schemas.microsoft.com/office/drawing/2014/main" val="4161012092"/>
                    </a:ext>
                  </a:extLst>
                </a:gridCol>
                <a:gridCol w="1418344">
                  <a:extLst>
                    <a:ext uri="{9D8B030D-6E8A-4147-A177-3AD203B41FA5}">
                      <a16:colId xmlns:a16="http://schemas.microsoft.com/office/drawing/2014/main" val="3336251322"/>
                    </a:ext>
                  </a:extLst>
                </a:gridCol>
                <a:gridCol w="1418344">
                  <a:extLst>
                    <a:ext uri="{9D8B030D-6E8A-4147-A177-3AD203B41FA5}">
                      <a16:colId xmlns:a16="http://schemas.microsoft.com/office/drawing/2014/main" val="1769316306"/>
                    </a:ext>
                  </a:extLst>
                </a:gridCol>
              </a:tblGrid>
              <a:tr h="23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/>
                        <a:t>Cell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 dirty="0"/>
                        <a:t>Uninfected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Infection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290973"/>
                  </a:ext>
                </a:extLst>
              </a:tr>
              <a:tr h="266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 dirty="0"/>
                        <a:t>BC/Club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200" dirty="0"/>
                        <a:t>314</a:t>
                      </a:r>
                      <a:endParaRPr lang="zh-TW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 dirty="0"/>
                        <a:t>124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200" dirty="0"/>
                        <a:t>28.3</a:t>
                      </a:r>
                      <a:r>
                        <a:rPr lang="zh-TW" sz="1200" dirty="0"/>
                        <a:t>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17708"/>
                  </a:ext>
                </a:extLst>
              </a:tr>
              <a:tr h="23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/>
                        <a:t>Basal cells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200" dirty="0"/>
                        <a:t>1357</a:t>
                      </a:r>
                      <a:endParaRPr lang="zh-TW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 dirty="0"/>
                        <a:t>16</a:t>
                      </a:r>
                      <a:r>
                        <a:rPr lang="en-US" altLang="zh-TW" sz="1200" dirty="0"/>
                        <a:t>7</a:t>
                      </a:r>
                      <a:endParaRPr lang="zh-TW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200" dirty="0"/>
                        <a:t>11.0</a:t>
                      </a:r>
                      <a:r>
                        <a:rPr lang="zh-TW" sz="1200" dirty="0"/>
                        <a:t>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6581397"/>
                  </a:ext>
                </a:extLst>
              </a:tr>
              <a:tr h="23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 b="1" dirty="0">
                          <a:solidFill>
                            <a:schemeClr val="accent1"/>
                          </a:solidFill>
                        </a:rPr>
                        <a:t>Ciliated cells</a:t>
                      </a:r>
                      <a:endParaRPr lang="zh-TW" sz="12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200" b="1" dirty="0">
                          <a:solidFill>
                            <a:schemeClr val="accent1"/>
                          </a:solidFill>
                        </a:rPr>
                        <a:t>3212</a:t>
                      </a:r>
                      <a:endParaRPr lang="zh-TW" sz="12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200" b="1" dirty="0">
                          <a:solidFill>
                            <a:schemeClr val="accent1"/>
                          </a:solidFill>
                        </a:rPr>
                        <a:t>1219</a:t>
                      </a:r>
                      <a:endParaRPr lang="zh-TW" sz="12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200" b="1" dirty="0">
                          <a:solidFill>
                            <a:schemeClr val="accent1"/>
                          </a:solidFill>
                        </a:rPr>
                        <a:t>27.5</a:t>
                      </a:r>
                      <a:r>
                        <a:rPr lang="zh-TW" sz="1200" b="1" dirty="0">
                          <a:solidFill>
                            <a:schemeClr val="accent1"/>
                          </a:solidFill>
                        </a:rPr>
                        <a:t>%</a:t>
                      </a:r>
                      <a:endParaRPr lang="zh-TW" sz="12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8344141"/>
                  </a:ext>
                </a:extLst>
              </a:tr>
              <a:tr h="23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/>
                        <a:t>Club cells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200" dirty="0"/>
                        <a:t>2443</a:t>
                      </a:r>
                      <a:endParaRPr lang="zh-TW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 dirty="0"/>
                        <a:t>19</a:t>
                      </a:r>
                      <a:r>
                        <a:rPr lang="en-US" altLang="zh-TW" sz="1200" dirty="0"/>
                        <a:t>3</a:t>
                      </a:r>
                      <a:endParaRPr lang="zh-TW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200" dirty="0"/>
                        <a:t>7.3</a:t>
                      </a:r>
                      <a:r>
                        <a:rPr lang="zh-TW" sz="1200" dirty="0"/>
                        <a:t>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62079"/>
                  </a:ext>
                </a:extLst>
              </a:tr>
              <a:tr h="23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/>
                        <a:t>Goblet cells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200" dirty="0"/>
                        <a:t>10</a:t>
                      </a:r>
                      <a:endParaRPr lang="zh-TW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 dirty="0"/>
                        <a:t>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561233"/>
                  </a:ext>
                </a:extLst>
              </a:tr>
              <a:tr h="23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 dirty="0"/>
                        <a:t>Ionocytes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200" dirty="0"/>
                        <a:t>76</a:t>
                      </a:r>
                      <a:endParaRPr lang="zh-TW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200" dirty="0"/>
                        <a:t>2</a:t>
                      </a:r>
                      <a:r>
                        <a:rPr lang="zh-TW" sz="1200" dirty="0"/>
                        <a:t>.6%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4610050"/>
                  </a:ext>
                </a:extLst>
              </a:tr>
              <a:tr h="390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/>
                        <a:t>Neuroendocrine cells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 dirty="0"/>
                        <a:t>7</a:t>
                      </a:r>
                      <a:r>
                        <a:rPr lang="en-US" altLang="zh-TW" sz="1200" dirty="0"/>
                        <a:t>2</a:t>
                      </a:r>
                      <a:endParaRPr lang="zh-TW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 dirty="0"/>
                        <a:t>2.</a:t>
                      </a:r>
                      <a:r>
                        <a:rPr lang="en-US" altLang="zh-TW" sz="1200" dirty="0"/>
                        <a:t>7</a:t>
                      </a:r>
                      <a:r>
                        <a:rPr lang="zh-TW" sz="1200" dirty="0"/>
                        <a:t>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601872"/>
                  </a:ext>
                </a:extLst>
              </a:tr>
              <a:tr h="23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/>
                        <a:t>Tuft cells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200" dirty="0"/>
                        <a:t>21</a:t>
                      </a:r>
                      <a:endParaRPr lang="zh-TW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 dirty="0"/>
                        <a:t>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3526411"/>
                  </a:ext>
                </a:extLst>
              </a:tr>
            </a:tbl>
          </a:graphicData>
        </a:graphic>
      </p:graphicFrame>
      <p:sp>
        <p:nvSpPr>
          <p:cNvPr id="29" name="文字方塊 28">
            <a:extLst>
              <a:ext uri="{FF2B5EF4-FFF2-40B4-BE49-F238E27FC236}">
                <a16:creationId xmlns:a16="http://schemas.microsoft.com/office/drawing/2014/main" id="{13777BAF-52FD-D855-192A-5514D3387DEC}"/>
              </a:ext>
            </a:extLst>
          </p:cNvPr>
          <p:cNvSpPr txBox="1"/>
          <p:nvPr/>
        </p:nvSpPr>
        <p:spPr>
          <a:xfrm>
            <a:off x="5934145" y="6432539"/>
            <a:ext cx="1914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* P-value &lt; 0.001 </a:t>
            </a:r>
            <a:endParaRPr lang="zh-TW" altLang="zh-TW" sz="16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17B0911-595A-6E8E-C068-0ED99F5E0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145" y="1448989"/>
            <a:ext cx="6047880" cy="192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50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1098D-825B-006C-38D0-11CAF7F4E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E9E950-1C52-38F3-FD47-B459E03EC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Topological relationships of cells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F6958B-0269-FD1D-3CAA-BB46CECB9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C88C37D-A51D-DDB0-3DAC-323ADD82E7A4}"/>
              </a:ext>
            </a:extLst>
          </p:cNvPr>
          <p:cNvSpPr txBox="1"/>
          <p:nvPr/>
        </p:nvSpPr>
        <p:spPr>
          <a:xfrm>
            <a:off x="740847" y="2155582"/>
            <a:ext cx="4667124" cy="33855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sz="1600" dirty="0"/>
              <a:t>Select the top 3,000 highly variable genes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DA42D2D-F921-7B35-DC9D-0A8E8F9A86C2}"/>
              </a:ext>
            </a:extLst>
          </p:cNvPr>
          <p:cNvSpPr txBox="1"/>
          <p:nvPr/>
        </p:nvSpPr>
        <p:spPr>
          <a:xfrm>
            <a:off x="740847" y="3679582"/>
            <a:ext cx="4837987" cy="33855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zh-TW" sz="1600" dirty="0"/>
              <a:t>Performing clustering using PCA</a:t>
            </a:r>
            <a:r>
              <a:rPr lang="en-US" altLang="zh-TW" sz="1600" dirty="0"/>
              <a:t>(</a:t>
            </a:r>
            <a:r>
              <a:rPr lang="en-US" altLang="zh-TW" sz="1600" dirty="0" err="1"/>
              <a:t>n_comps</a:t>
            </a:r>
            <a:r>
              <a:rPr lang="en-US" altLang="zh-TW" sz="1600" dirty="0"/>
              <a:t> = 50)</a:t>
            </a:r>
            <a:endParaRPr lang="zh-TW" altLang="zh-TW" sz="16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4C19892-CADB-EBBD-42D6-C71D041A04D0}"/>
              </a:ext>
            </a:extLst>
          </p:cNvPr>
          <p:cNvSpPr txBox="1"/>
          <p:nvPr/>
        </p:nvSpPr>
        <p:spPr>
          <a:xfrm>
            <a:off x="919356" y="5474071"/>
            <a:ext cx="4310104" cy="36933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sz="1600" dirty="0"/>
              <a:t>Construct a KNN graph</a:t>
            </a:r>
            <a:r>
              <a:rPr lang="en-US" altLang="zh-TW" sz="1600" dirty="0"/>
              <a:t>(</a:t>
            </a:r>
            <a:r>
              <a:rPr lang="zh-TW" altLang="zh-TW" dirty="0"/>
              <a:t>n_neighbors=15</a:t>
            </a:r>
            <a:r>
              <a:rPr lang="en-US" altLang="zh-TW" sz="1600" dirty="0"/>
              <a:t>)</a:t>
            </a:r>
            <a:endParaRPr lang="zh-TW" altLang="zh-TW" sz="1600" dirty="0"/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33AC2A6E-EB4B-A586-4A30-6AD24C4C6649}"/>
              </a:ext>
            </a:extLst>
          </p:cNvPr>
          <p:cNvSpPr/>
          <p:nvPr/>
        </p:nvSpPr>
        <p:spPr>
          <a:xfrm rot="5400000">
            <a:off x="2798737" y="3009891"/>
            <a:ext cx="551342" cy="2306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箭號: 向右 20">
            <a:extLst>
              <a:ext uri="{FF2B5EF4-FFF2-40B4-BE49-F238E27FC236}">
                <a16:creationId xmlns:a16="http://schemas.microsoft.com/office/drawing/2014/main" id="{46E368D1-DF58-4EA7-DDFB-E0C9D6F814EB}"/>
              </a:ext>
            </a:extLst>
          </p:cNvPr>
          <p:cNvSpPr/>
          <p:nvPr/>
        </p:nvSpPr>
        <p:spPr>
          <a:xfrm rot="5400000">
            <a:off x="2798737" y="4610603"/>
            <a:ext cx="551342" cy="2306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ACB228E5-F93E-10AD-61FE-80E3ACBF5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145" y="1487690"/>
            <a:ext cx="5942491" cy="1895791"/>
          </a:xfrm>
          <a:prstGeom prst="rect">
            <a:avLst/>
          </a:prstGeom>
        </p:spPr>
      </p:pic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322E8E08-FA48-484B-BC86-14817D370F4A}"/>
              </a:ext>
            </a:extLst>
          </p:cNvPr>
          <p:cNvGraphicFramePr>
            <a:graphicFrameLocks noGrp="1"/>
          </p:cNvGraphicFramePr>
          <p:nvPr/>
        </p:nvGraphicFramePr>
        <p:xfrm>
          <a:off x="6068702" y="3582130"/>
          <a:ext cx="5673376" cy="2651760"/>
        </p:xfrm>
        <a:graphic>
          <a:graphicData uri="http://schemas.openxmlformats.org/drawingml/2006/table">
            <a:tbl>
              <a:tblPr/>
              <a:tblGrid>
                <a:gridCol w="1418344">
                  <a:extLst>
                    <a:ext uri="{9D8B030D-6E8A-4147-A177-3AD203B41FA5}">
                      <a16:colId xmlns:a16="http://schemas.microsoft.com/office/drawing/2014/main" val="897932352"/>
                    </a:ext>
                  </a:extLst>
                </a:gridCol>
                <a:gridCol w="1418344">
                  <a:extLst>
                    <a:ext uri="{9D8B030D-6E8A-4147-A177-3AD203B41FA5}">
                      <a16:colId xmlns:a16="http://schemas.microsoft.com/office/drawing/2014/main" val="4161012092"/>
                    </a:ext>
                  </a:extLst>
                </a:gridCol>
                <a:gridCol w="1418344">
                  <a:extLst>
                    <a:ext uri="{9D8B030D-6E8A-4147-A177-3AD203B41FA5}">
                      <a16:colId xmlns:a16="http://schemas.microsoft.com/office/drawing/2014/main" val="3336251322"/>
                    </a:ext>
                  </a:extLst>
                </a:gridCol>
                <a:gridCol w="1418344">
                  <a:extLst>
                    <a:ext uri="{9D8B030D-6E8A-4147-A177-3AD203B41FA5}">
                      <a16:colId xmlns:a16="http://schemas.microsoft.com/office/drawing/2014/main" val="1769316306"/>
                    </a:ext>
                  </a:extLst>
                </a:gridCol>
              </a:tblGrid>
              <a:tr h="23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/>
                        <a:t>Cell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Uninfected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Infection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290973"/>
                  </a:ext>
                </a:extLst>
              </a:tr>
              <a:tr h="23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 dirty="0"/>
                        <a:t>BC/Club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1521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124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7.5%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17708"/>
                  </a:ext>
                </a:extLst>
              </a:tr>
              <a:tr h="23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/>
                        <a:t>Basal cells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9549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169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1.7%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6581397"/>
                  </a:ext>
                </a:extLst>
              </a:tr>
              <a:tr h="23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 b="1" dirty="0">
                          <a:solidFill>
                            <a:schemeClr val="accent1"/>
                          </a:solidFill>
                        </a:rPr>
                        <a:t>Ciliated cells</a:t>
                      </a:r>
                      <a:endParaRPr lang="zh-TW" sz="12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 b="1">
                          <a:solidFill>
                            <a:schemeClr val="accent1"/>
                          </a:solidFill>
                        </a:rPr>
                        <a:t>6208</a:t>
                      </a:r>
                      <a:endParaRPr lang="zh-TW" sz="120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 b="1">
                          <a:solidFill>
                            <a:schemeClr val="accent1"/>
                          </a:solidFill>
                        </a:rPr>
                        <a:t>1222</a:t>
                      </a:r>
                      <a:endParaRPr lang="zh-TW" sz="120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 b="1" dirty="0">
                          <a:solidFill>
                            <a:schemeClr val="accent1"/>
                          </a:solidFill>
                        </a:rPr>
                        <a:t>16.4%</a:t>
                      </a:r>
                      <a:endParaRPr lang="zh-TW" sz="12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8344141"/>
                  </a:ext>
                </a:extLst>
              </a:tr>
              <a:tr h="23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/>
                        <a:t>Club cells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4493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194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4.1%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62079"/>
                  </a:ext>
                </a:extLst>
              </a:tr>
              <a:tr h="23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/>
                        <a:t>Goblet cells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561233"/>
                  </a:ext>
                </a:extLst>
              </a:tr>
              <a:tr h="23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 dirty="0"/>
                        <a:t>Ionocytes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 dirty="0"/>
                        <a:t>123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1.6%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4610050"/>
                  </a:ext>
                </a:extLst>
              </a:tr>
              <a:tr h="390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/>
                        <a:t>Neuroendocrine cells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74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2.6%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601872"/>
                  </a:ext>
                </a:extLst>
              </a:tr>
              <a:tr h="23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/>
                        <a:t>Tuft cells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 dirty="0"/>
                        <a:t>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3526411"/>
                  </a:ext>
                </a:extLst>
              </a:tr>
            </a:tbl>
          </a:graphicData>
        </a:graphic>
      </p:graphicFrame>
      <p:sp>
        <p:nvSpPr>
          <p:cNvPr id="29" name="文字方塊 28">
            <a:extLst>
              <a:ext uri="{FF2B5EF4-FFF2-40B4-BE49-F238E27FC236}">
                <a16:creationId xmlns:a16="http://schemas.microsoft.com/office/drawing/2014/main" id="{5D2A6D41-8740-B4E7-5031-B8EF4FBD6EE8}"/>
              </a:ext>
            </a:extLst>
          </p:cNvPr>
          <p:cNvSpPr txBox="1"/>
          <p:nvPr/>
        </p:nvSpPr>
        <p:spPr>
          <a:xfrm>
            <a:off x="5934145" y="6432539"/>
            <a:ext cx="1914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* P-value &lt; 0.001 </a:t>
            </a:r>
            <a:endParaRPr lang="zh-TW" altLang="zh-TW" sz="16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F989931-7F31-81C2-D717-564DF011CB6B}"/>
              </a:ext>
            </a:extLst>
          </p:cNvPr>
          <p:cNvSpPr txBox="1"/>
          <p:nvPr/>
        </p:nvSpPr>
        <p:spPr>
          <a:xfrm>
            <a:off x="7010400" y="179773"/>
            <a:ext cx="4843417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zh-TW" dirty="0"/>
              <a:t>Done </a:t>
            </a:r>
            <a:r>
              <a:rPr lang="en-US" altLang="zh-TW" dirty="0"/>
              <a:t>before</a:t>
            </a:r>
            <a:r>
              <a:rPr lang="zh-TW" altLang="zh-TW" dirty="0"/>
              <a:t> the discussion on August 6th</a:t>
            </a:r>
          </a:p>
        </p:txBody>
      </p:sp>
    </p:spTree>
    <p:extLst>
      <p:ext uri="{BB962C8B-B14F-4D97-AF65-F5344CB8AC3E}">
        <p14:creationId xmlns:p14="http://schemas.microsoft.com/office/powerpoint/2010/main" val="768541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11DBE-FF14-5746-5D6F-63B543819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061744-BB47-11A9-9725-7F0749ED2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GCN model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07C1A92-0EA9-D377-A6F8-A3724F833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AF17326-44F9-8C17-B33F-719F7943E3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426" y="533874"/>
            <a:ext cx="3262049" cy="4032154"/>
          </a:xfrm>
          <a:prstGeom prst="rect">
            <a:avLst/>
          </a:prstGeom>
        </p:spPr>
      </p:pic>
      <p:grpSp>
        <p:nvGrpSpPr>
          <p:cNvPr id="27" name="群組 26">
            <a:extLst>
              <a:ext uri="{FF2B5EF4-FFF2-40B4-BE49-F238E27FC236}">
                <a16:creationId xmlns:a16="http://schemas.microsoft.com/office/drawing/2014/main" id="{A3992759-24F0-1145-F984-1140E81CBEFB}"/>
              </a:ext>
            </a:extLst>
          </p:cNvPr>
          <p:cNvGrpSpPr/>
          <p:nvPr/>
        </p:nvGrpSpPr>
        <p:grpSpPr>
          <a:xfrm>
            <a:off x="8321653" y="4743773"/>
            <a:ext cx="3041315" cy="1768466"/>
            <a:chOff x="8873975" y="4406243"/>
            <a:chExt cx="3041315" cy="1768466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5B63523C-1705-8B10-42CB-C97B5933FB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76598" y="4406243"/>
              <a:ext cx="2938692" cy="1185864"/>
            </a:xfrm>
            <a:prstGeom prst="rect">
              <a:avLst/>
            </a:prstGeom>
          </p:spPr>
        </p:pic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007FCDD6-B027-F486-0F76-FFFAA27CBB76}"/>
                </a:ext>
              </a:extLst>
            </p:cNvPr>
            <p:cNvSpPr txBox="1"/>
            <p:nvPr/>
          </p:nvSpPr>
          <p:spPr>
            <a:xfrm>
              <a:off x="8873975" y="5897710"/>
              <a:ext cx="266342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TW" altLang="zh-TW" sz="1200" dirty="0"/>
                <a:t>GCN (Kipf &amp; Welling ICLR 2017)</a:t>
              </a:r>
              <a:endParaRPr lang="zh-TW" altLang="en-US" sz="1200" dirty="0"/>
            </a:p>
          </p:txBody>
        </p:sp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6059A20C-566D-8AEB-828D-7E72456167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76598" y="5497155"/>
              <a:ext cx="2751042" cy="539055"/>
            </a:xfrm>
            <a:prstGeom prst="rect">
              <a:avLst/>
            </a:prstGeom>
          </p:spPr>
        </p:pic>
      </p:grp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1C325B0-F485-9672-56FE-C01F8A8A1405}"/>
              </a:ext>
            </a:extLst>
          </p:cNvPr>
          <p:cNvSpPr txBox="1"/>
          <p:nvPr/>
        </p:nvSpPr>
        <p:spPr>
          <a:xfrm>
            <a:off x="4096342" y="1825959"/>
            <a:ext cx="1284334" cy="33855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All cells</a:t>
            </a:r>
            <a:endParaRPr lang="zh-TW" altLang="zh-TW" sz="16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6B7167AA-30C6-5778-2AC0-90F24C2B1E33}"/>
              </a:ext>
            </a:extLst>
          </p:cNvPr>
          <p:cNvSpPr txBox="1"/>
          <p:nvPr/>
        </p:nvSpPr>
        <p:spPr>
          <a:xfrm>
            <a:off x="1183690" y="2728144"/>
            <a:ext cx="3063052" cy="58477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Labeled cells</a:t>
            </a:r>
          </a:p>
          <a:p>
            <a:pPr algn="ctr"/>
            <a:r>
              <a:rPr lang="zh-TW" altLang="zh-TW" sz="1600" dirty="0"/>
              <a:t>Stratified Split</a:t>
            </a:r>
            <a:r>
              <a:rPr lang="en-US" altLang="zh-TW" sz="1600" dirty="0"/>
              <a:t> 80% / 20%</a:t>
            </a:r>
            <a:endParaRPr lang="zh-TW" altLang="zh-TW" sz="16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42C48805-36DF-65F6-1E6D-375292A8AACE}"/>
              </a:ext>
            </a:extLst>
          </p:cNvPr>
          <p:cNvSpPr txBox="1"/>
          <p:nvPr/>
        </p:nvSpPr>
        <p:spPr>
          <a:xfrm>
            <a:off x="1631684" y="3966786"/>
            <a:ext cx="2167063" cy="33855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Train / validation</a:t>
            </a:r>
            <a:endParaRPr lang="zh-TW" altLang="zh-TW" sz="1600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D3799A18-748D-C375-166E-7B4979036171}"/>
              </a:ext>
            </a:extLst>
          </p:cNvPr>
          <p:cNvSpPr txBox="1"/>
          <p:nvPr/>
        </p:nvSpPr>
        <p:spPr>
          <a:xfrm>
            <a:off x="5778197" y="2851254"/>
            <a:ext cx="2167063" cy="33855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Unknown cells</a:t>
            </a:r>
            <a:endParaRPr lang="zh-TW" altLang="zh-TW" sz="1600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BF61CAD4-AC74-F3F1-6852-EF7EB0949665}"/>
              </a:ext>
            </a:extLst>
          </p:cNvPr>
          <p:cNvSpPr txBox="1"/>
          <p:nvPr/>
        </p:nvSpPr>
        <p:spPr>
          <a:xfrm>
            <a:off x="4035663" y="4963372"/>
            <a:ext cx="1835276" cy="33855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sz="1600" dirty="0"/>
              <a:t>GCN model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AA93DEFF-E271-D002-8CDA-EF70CBCF4734}"/>
              </a:ext>
            </a:extLst>
          </p:cNvPr>
          <p:cNvSpPr txBox="1"/>
          <p:nvPr/>
        </p:nvSpPr>
        <p:spPr>
          <a:xfrm>
            <a:off x="3651062" y="5895336"/>
            <a:ext cx="2604478" cy="33855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sz="1600" dirty="0"/>
              <a:t>Predict </a:t>
            </a:r>
            <a:r>
              <a:rPr lang="en-US" altLang="zh-TW" sz="1600" dirty="0"/>
              <a:t>u</a:t>
            </a:r>
            <a:r>
              <a:rPr lang="zh-TW" altLang="zh-TW" sz="1600" dirty="0"/>
              <a:t>nknown </a:t>
            </a:r>
            <a:r>
              <a:rPr lang="en-US" altLang="zh-TW" sz="1600" dirty="0"/>
              <a:t>c</a:t>
            </a:r>
            <a:r>
              <a:rPr lang="zh-TW" altLang="zh-TW" sz="1600" dirty="0"/>
              <a:t>ells</a:t>
            </a:r>
          </a:p>
        </p:txBody>
      </p:sp>
      <p:sp>
        <p:nvSpPr>
          <p:cNvPr id="38" name="箭號: 向右 37">
            <a:extLst>
              <a:ext uri="{FF2B5EF4-FFF2-40B4-BE49-F238E27FC236}">
                <a16:creationId xmlns:a16="http://schemas.microsoft.com/office/drawing/2014/main" id="{CD2CED3F-9187-6557-10C9-14F5C2E6727A}"/>
              </a:ext>
            </a:extLst>
          </p:cNvPr>
          <p:cNvSpPr/>
          <p:nvPr/>
        </p:nvSpPr>
        <p:spPr>
          <a:xfrm rot="7582017">
            <a:off x="3477717" y="2386502"/>
            <a:ext cx="338554" cy="127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箭號: 向右 39">
            <a:extLst>
              <a:ext uri="{FF2B5EF4-FFF2-40B4-BE49-F238E27FC236}">
                <a16:creationId xmlns:a16="http://schemas.microsoft.com/office/drawing/2014/main" id="{E9E66010-FEAE-EE66-D6F7-B70DF934A2BB}"/>
              </a:ext>
            </a:extLst>
          </p:cNvPr>
          <p:cNvSpPr/>
          <p:nvPr/>
        </p:nvSpPr>
        <p:spPr>
          <a:xfrm rot="3173199">
            <a:off x="5661286" y="2385849"/>
            <a:ext cx="338554" cy="127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箭號: 向右 41">
            <a:extLst>
              <a:ext uri="{FF2B5EF4-FFF2-40B4-BE49-F238E27FC236}">
                <a16:creationId xmlns:a16="http://schemas.microsoft.com/office/drawing/2014/main" id="{51A8EEF6-3BC1-784E-8A8B-28033084F09C}"/>
              </a:ext>
            </a:extLst>
          </p:cNvPr>
          <p:cNvSpPr/>
          <p:nvPr/>
        </p:nvSpPr>
        <p:spPr>
          <a:xfrm rot="5400000">
            <a:off x="2545937" y="3585708"/>
            <a:ext cx="338554" cy="127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箭號: 向右 43">
            <a:extLst>
              <a:ext uri="{FF2B5EF4-FFF2-40B4-BE49-F238E27FC236}">
                <a16:creationId xmlns:a16="http://schemas.microsoft.com/office/drawing/2014/main" id="{C79FBFEA-CB36-D8BC-117B-5A2ABCEF5701}"/>
              </a:ext>
            </a:extLst>
          </p:cNvPr>
          <p:cNvSpPr/>
          <p:nvPr/>
        </p:nvSpPr>
        <p:spPr>
          <a:xfrm rot="3173199">
            <a:off x="3498571" y="4553196"/>
            <a:ext cx="338554" cy="127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箭號: 向右 45">
            <a:extLst>
              <a:ext uri="{FF2B5EF4-FFF2-40B4-BE49-F238E27FC236}">
                <a16:creationId xmlns:a16="http://schemas.microsoft.com/office/drawing/2014/main" id="{AE8F7700-CB11-A62C-1370-16C33F8C2D3A}"/>
              </a:ext>
            </a:extLst>
          </p:cNvPr>
          <p:cNvSpPr/>
          <p:nvPr/>
        </p:nvSpPr>
        <p:spPr>
          <a:xfrm rot="5400000">
            <a:off x="4784023" y="5542175"/>
            <a:ext cx="338554" cy="127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箭號: 向右 47">
            <a:extLst>
              <a:ext uri="{FF2B5EF4-FFF2-40B4-BE49-F238E27FC236}">
                <a16:creationId xmlns:a16="http://schemas.microsoft.com/office/drawing/2014/main" id="{F4D48177-F788-9DE9-5188-186967B90C0A}"/>
              </a:ext>
            </a:extLst>
          </p:cNvPr>
          <p:cNvSpPr/>
          <p:nvPr/>
        </p:nvSpPr>
        <p:spPr>
          <a:xfrm rot="7582017">
            <a:off x="6088324" y="4553849"/>
            <a:ext cx="338554" cy="127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減號 48">
            <a:extLst>
              <a:ext uri="{FF2B5EF4-FFF2-40B4-BE49-F238E27FC236}">
                <a16:creationId xmlns:a16="http://schemas.microsoft.com/office/drawing/2014/main" id="{5B422E99-CAB9-BE5A-4A69-01593E4DB9F3}"/>
              </a:ext>
            </a:extLst>
          </p:cNvPr>
          <p:cNvSpPr/>
          <p:nvPr/>
        </p:nvSpPr>
        <p:spPr>
          <a:xfrm rot="5400000">
            <a:off x="6343058" y="3369075"/>
            <a:ext cx="429584" cy="317272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減號 50">
            <a:extLst>
              <a:ext uri="{FF2B5EF4-FFF2-40B4-BE49-F238E27FC236}">
                <a16:creationId xmlns:a16="http://schemas.microsoft.com/office/drawing/2014/main" id="{2E683CA6-DFDB-4A8D-7A82-F3F4CFC4A023}"/>
              </a:ext>
            </a:extLst>
          </p:cNvPr>
          <p:cNvSpPr/>
          <p:nvPr/>
        </p:nvSpPr>
        <p:spPr>
          <a:xfrm rot="5400000">
            <a:off x="6343058" y="3921770"/>
            <a:ext cx="429584" cy="317272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3749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36B20-139C-AB97-9351-0BF83D441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5D6C28-DA74-1C84-9592-C58843576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GCN </a:t>
            </a:r>
            <a:r>
              <a:rPr lang="en-US" altLang="zh-TW" dirty="0"/>
              <a:t>results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3AE31C-3AC4-D116-0B2D-A31280E3C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8</a:t>
            </a:fld>
            <a:endParaRPr lang="zh-TW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C96E687-FFDE-E5ED-6B8E-86F233245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957993"/>
              </p:ext>
            </p:extLst>
          </p:nvPr>
        </p:nvGraphicFramePr>
        <p:xfrm>
          <a:off x="2208723" y="1916590"/>
          <a:ext cx="4946916" cy="1493520"/>
        </p:xfrm>
        <a:graphic>
          <a:graphicData uri="http://schemas.openxmlformats.org/drawingml/2006/table">
            <a:tbl>
              <a:tblPr/>
              <a:tblGrid>
                <a:gridCol w="1648972">
                  <a:extLst>
                    <a:ext uri="{9D8B030D-6E8A-4147-A177-3AD203B41FA5}">
                      <a16:colId xmlns:a16="http://schemas.microsoft.com/office/drawing/2014/main" val="1383026435"/>
                    </a:ext>
                  </a:extLst>
                </a:gridCol>
                <a:gridCol w="1648972">
                  <a:extLst>
                    <a:ext uri="{9D8B030D-6E8A-4147-A177-3AD203B41FA5}">
                      <a16:colId xmlns:a16="http://schemas.microsoft.com/office/drawing/2014/main" val="4204358492"/>
                    </a:ext>
                  </a:extLst>
                </a:gridCol>
                <a:gridCol w="1648972">
                  <a:extLst>
                    <a:ext uri="{9D8B030D-6E8A-4147-A177-3AD203B41FA5}">
                      <a16:colId xmlns:a16="http://schemas.microsoft.com/office/drawing/2014/main" val="4609462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/>
                        <a:t>Confusion matrix</a:t>
                      </a:r>
                      <a:endParaRPr lang="zh-TW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Predicted Uninfected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Predicted 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046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True Uninfected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1492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9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2998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True 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32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310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76261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DA4D436-A963-776F-D208-9BE1BD5A63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963695"/>
              </p:ext>
            </p:extLst>
          </p:nvPr>
        </p:nvGraphicFramePr>
        <p:xfrm>
          <a:off x="2208723" y="4076171"/>
          <a:ext cx="8915400" cy="2499360"/>
        </p:xfrm>
        <a:graphic>
          <a:graphicData uri="http://schemas.openxmlformats.org/drawingml/2006/table">
            <a:tbl>
              <a:tblPr/>
              <a:tblGrid>
                <a:gridCol w="1485900">
                  <a:extLst>
                    <a:ext uri="{9D8B030D-6E8A-4147-A177-3AD203B41FA5}">
                      <a16:colId xmlns:a16="http://schemas.microsoft.com/office/drawing/2014/main" val="409052019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394539283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53360861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12320068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682930857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13096076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1" dirty="0"/>
                        <a:t>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Precision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Recall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F1-score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2889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Uninfected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0.98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0.99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0.99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1501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651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0.9</a:t>
                      </a:r>
                      <a:r>
                        <a:rPr lang="en-US" altLang="zh-TW" sz="1600" dirty="0"/>
                        <a:t>7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0.9</a:t>
                      </a:r>
                      <a:r>
                        <a:rPr lang="en-US" altLang="zh-TW" sz="1600" dirty="0"/>
                        <a:t>1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0.9</a:t>
                      </a:r>
                      <a:r>
                        <a:rPr lang="en-US" altLang="zh-TW" sz="1600" dirty="0"/>
                        <a:t>4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34</a:t>
                      </a:r>
                      <a:r>
                        <a:rPr lang="en-US" altLang="zh-TW" sz="1600" dirty="0"/>
                        <a:t>2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397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0"/>
                        <a:t>Overall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/>
                        <a:t>0.98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1843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225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0"/>
                        <a:t>Overall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Macro average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0.9</a:t>
                      </a:r>
                      <a:r>
                        <a:rPr lang="en-US" altLang="zh-TW" sz="1600" dirty="0"/>
                        <a:t>8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0.9</a:t>
                      </a:r>
                      <a:r>
                        <a:rPr lang="en-US" altLang="zh-TW" sz="1600" dirty="0"/>
                        <a:t>5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0.9</a:t>
                      </a:r>
                      <a:r>
                        <a:rPr lang="en-US" altLang="zh-TW" sz="1600" dirty="0"/>
                        <a:t>6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1843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138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0" dirty="0"/>
                        <a:t>Overall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Weighted average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0.98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0.98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0.98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1843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038269"/>
                  </a:ext>
                </a:extLst>
              </a:tr>
            </a:tbl>
          </a:graphicData>
        </a:graphic>
      </p:graphicFrame>
      <p:pic>
        <p:nvPicPr>
          <p:cNvPr id="7" name="圖片 6">
            <a:extLst>
              <a:ext uri="{FF2B5EF4-FFF2-40B4-BE49-F238E27FC236}">
                <a16:creationId xmlns:a16="http://schemas.microsoft.com/office/drawing/2014/main" id="{E3FD64E5-2796-8420-7757-D18974B72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097" y="683985"/>
            <a:ext cx="3117026" cy="3180996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28CA9844-37BA-EE82-AEB0-C26830AA9055}"/>
              </a:ext>
            </a:extLst>
          </p:cNvPr>
          <p:cNvSpPr txBox="1"/>
          <p:nvPr/>
        </p:nvSpPr>
        <p:spPr>
          <a:xfrm>
            <a:off x="9350689" y="2532545"/>
            <a:ext cx="14121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50" dirty="0"/>
              <a:t>* PR-AUC = 0.9882</a:t>
            </a:r>
            <a:endParaRPr lang="zh-TW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611027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9D370-D80A-C00B-3B6A-D15D76E01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5FB408-08FA-61CA-AB79-7C2CDBB2D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GCN </a:t>
            </a:r>
            <a:r>
              <a:rPr lang="en-US" altLang="zh-TW" dirty="0"/>
              <a:t>results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AEEF4A-D3C4-53FF-C545-38C1B71C8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9</a:t>
            </a:fld>
            <a:endParaRPr lang="zh-TW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0863ABB-7C3D-47E5-007F-90304DB2639B}"/>
              </a:ext>
            </a:extLst>
          </p:cNvPr>
          <p:cNvGraphicFramePr>
            <a:graphicFrameLocks noGrp="1"/>
          </p:cNvGraphicFramePr>
          <p:nvPr/>
        </p:nvGraphicFramePr>
        <p:xfrm>
          <a:off x="2208723" y="1916590"/>
          <a:ext cx="4946916" cy="1493520"/>
        </p:xfrm>
        <a:graphic>
          <a:graphicData uri="http://schemas.openxmlformats.org/drawingml/2006/table">
            <a:tbl>
              <a:tblPr/>
              <a:tblGrid>
                <a:gridCol w="1648972">
                  <a:extLst>
                    <a:ext uri="{9D8B030D-6E8A-4147-A177-3AD203B41FA5}">
                      <a16:colId xmlns:a16="http://schemas.microsoft.com/office/drawing/2014/main" val="1383026435"/>
                    </a:ext>
                  </a:extLst>
                </a:gridCol>
                <a:gridCol w="1648972">
                  <a:extLst>
                    <a:ext uri="{9D8B030D-6E8A-4147-A177-3AD203B41FA5}">
                      <a16:colId xmlns:a16="http://schemas.microsoft.com/office/drawing/2014/main" val="4204358492"/>
                    </a:ext>
                  </a:extLst>
                </a:gridCol>
                <a:gridCol w="1648972">
                  <a:extLst>
                    <a:ext uri="{9D8B030D-6E8A-4147-A177-3AD203B41FA5}">
                      <a16:colId xmlns:a16="http://schemas.microsoft.com/office/drawing/2014/main" val="4609462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/>
                        <a:t>Confusion matrix</a:t>
                      </a:r>
                      <a:endParaRPr lang="zh-TW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Predicted Uninfected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Predicted 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046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True Uninfected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/>
                        <a:t>4411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2998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True 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334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76261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2DC6653-5B95-39EF-C3B2-2FFEB0572C8A}"/>
              </a:ext>
            </a:extLst>
          </p:cNvPr>
          <p:cNvGraphicFramePr>
            <a:graphicFrameLocks noGrp="1"/>
          </p:cNvGraphicFramePr>
          <p:nvPr/>
        </p:nvGraphicFramePr>
        <p:xfrm>
          <a:off x="2208723" y="4076171"/>
          <a:ext cx="8915400" cy="2499360"/>
        </p:xfrm>
        <a:graphic>
          <a:graphicData uri="http://schemas.openxmlformats.org/drawingml/2006/table">
            <a:tbl>
              <a:tblPr/>
              <a:tblGrid>
                <a:gridCol w="1485900">
                  <a:extLst>
                    <a:ext uri="{9D8B030D-6E8A-4147-A177-3AD203B41FA5}">
                      <a16:colId xmlns:a16="http://schemas.microsoft.com/office/drawing/2014/main" val="409052019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394539283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53360861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12320068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682930857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13096076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1" dirty="0"/>
                        <a:t>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Precision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Recall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F1-score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2889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Uninfected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4,416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651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0.97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0.98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343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397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0"/>
                        <a:t>Overall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1"/>
                        <a:t>1.00</a:t>
                      </a:r>
                      <a:endParaRPr lang="zh-TW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4,759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225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0"/>
                        <a:t>Overall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Macro average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4,759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138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0" dirty="0"/>
                        <a:t>Overall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Weighted average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4,759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038269"/>
                  </a:ext>
                </a:extLst>
              </a:tr>
            </a:tbl>
          </a:graphicData>
        </a:graphic>
      </p:graphicFrame>
      <p:pic>
        <p:nvPicPr>
          <p:cNvPr id="8" name="圖片 7">
            <a:extLst>
              <a:ext uri="{FF2B5EF4-FFF2-40B4-BE49-F238E27FC236}">
                <a16:creationId xmlns:a16="http://schemas.microsoft.com/office/drawing/2014/main" id="{E721BDC5-78B4-D7F6-5D1E-819CED01F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8802" y="787782"/>
            <a:ext cx="3086611" cy="3149956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A4C8DC8B-A39D-8140-7C2C-F6180C8990E5}"/>
              </a:ext>
            </a:extLst>
          </p:cNvPr>
          <p:cNvSpPr txBox="1"/>
          <p:nvPr/>
        </p:nvSpPr>
        <p:spPr>
          <a:xfrm>
            <a:off x="9263667" y="2532545"/>
            <a:ext cx="12651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50" dirty="0"/>
              <a:t>* PR-AUC = 0.998</a:t>
            </a:r>
            <a:endParaRPr lang="zh-TW" altLang="en-US" sz="105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F035DF7-86F7-EA08-7D75-9741FD9C1810}"/>
              </a:ext>
            </a:extLst>
          </p:cNvPr>
          <p:cNvSpPr txBox="1"/>
          <p:nvPr/>
        </p:nvSpPr>
        <p:spPr>
          <a:xfrm>
            <a:off x="7010400" y="179773"/>
            <a:ext cx="4843417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zh-TW" dirty="0"/>
              <a:t>Done </a:t>
            </a:r>
            <a:r>
              <a:rPr lang="en-US" altLang="zh-TW" dirty="0"/>
              <a:t>before</a:t>
            </a:r>
            <a:r>
              <a:rPr lang="zh-TW" altLang="zh-TW" dirty="0"/>
              <a:t> the discussion on August 6th</a:t>
            </a:r>
          </a:p>
        </p:txBody>
      </p:sp>
    </p:spTree>
    <p:extLst>
      <p:ext uri="{BB962C8B-B14F-4D97-AF65-F5344CB8AC3E}">
        <p14:creationId xmlns:p14="http://schemas.microsoft.com/office/powerpoint/2010/main" val="767231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F621A-EC75-A20A-B123-A6A8E3DAE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825FB8-B5A3-20E8-37D6-307C87C4D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GCN </a:t>
            </a:r>
            <a:r>
              <a:rPr lang="en-US" altLang="zh-TW" dirty="0"/>
              <a:t>results(2)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0096A1D-69BF-FE49-0E9F-BD75DF3B4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5B1ADAB-F433-E29F-667F-31D8AAC1F6B5}"/>
              </a:ext>
            </a:extLst>
          </p:cNvPr>
          <p:cNvSpPr txBox="1"/>
          <p:nvPr/>
        </p:nvSpPr>
        <p:spPr>
          <a:xfrm>
            <a:off x="6646219" y="3676116"/>
            <a:ext cx="36923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dirty="0"/>
              <a:t>Unknown → Infected: </a:t>
            </a:r>
            <a:r>
              <a:rPr lang="en-US" altLang="zh-TW" dirty="0"/>
              <a:t>19823</a:t>
            </a:r>
            <a:r>
              <a:rPr lang="zh-TW" altLang="zh-TW" dirty="0"/>
              <a:t> 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zh-TW" dirty="0"/>
              <a:t>cells Viral transcript &lt; 10: </a:t>
            </a:r>
            <a:r>
              <a:rPr lang="en-US" altLang="zh-TW" dirty="0"/>
              <a:t>18001</a:t>
            </a:r>
            <a:r>
              <a:rPr lang="zh-TW" altLang="zh-TW" dirty="0"/>
              <a:t> 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zh-TW" dirty="0"/>
              <a:t>cells Percentage: </a:t>
            </a:r>
            <a:r>
              <a:rPr lang="en-US" altLang="zh-TW" dirty="0"/>
              <a:t>90.81</a:t>
            </a:r>
            <a:r>
              <a:rPr lang="zh-TW" altLang="zh-TW" dirty="0"/>
              <a:t>%</a:t>
            </a:r>
            <a:endParaRPr lang="zh-TW" altLang="en-US" sz="16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4ED5D71-D9D7-1E70-4270-6D536362562A}"/>
              </a:ext>
            </a:extLst>
          </p:cNvPr>
          <p:cNvSpPr txBox="1"/>
          <p:nvPr/>
        </p:nvSpPr>
        <p:spPr>
          <a:xfrm>
            <a:off x="10750846" y="3953115"/>
            <a:ext cx="13572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dirty="0"/>
              <a:t>0: </a:t>
            </a:r>
            <a:r>
              <a:rPr lang="en-US" altLang="zh-TW" dirty="0"/>
              <a:t>2289</a:t>
            </a:r>
            <a:r>
              <a:rPr lang="zh-TW" altLang="zh-TW" dirty="0"/>
              <a:t> 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zh-TW" dirty="0"/>
              <a:t>1~9: </a:t>
            </a:r>
            <a:r>
              <a:rPr lang="en-US" altLang="zh-TW" dirty="0"/>
              <a:t>15712</a:t>
            </a:r>
            <a:endParaRPr lang="zh-TW" altLang="en-US" sz="1600" dirty="0"/>
          </a:p>
        </p:txBody>
      </p:sp>
      <p:sp>
        <p:nvSpPr>
          <p:cNvPr id="19" name="箭號: 向右 18">
            <a:extLst>
              <a:ext uri="{FF2B5EF4-FFF2-40B4-BE49-F238E27FC236}">
                <a16:creationId xmlns:a16="http://schemas.microsoft.com/office/drawing/2014/main" id="{44340894-5EF8-5514-CA9A-7A1CF864DDC5}"/>
              </a:ext>
            </a:extLst>
          </p:cNvPr>
          <p:cNvSpPr/>
          <p:nvPr/>
        </p:nvSpPr>
        <p:spPr>
          <a:xfrm rot="1570202">
            <a:off x="10349385" y="4482896"/>
            <a:ext cx="338554" cy="127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箭號: 向右 20">
            <a:extLst>
              <a:ext uri="{FF2B5EF4-FFF2-40B4-BE49-F238E27FC236}">
                <a16:creationId xmlns:a16="http://schemas.microsoft.com/office/drawing/2014/main" id="{99BCD0C4-AA12-F72E-E9CD-EEA490F28C19}"/>
              </a:ext>
            </a:extLst>
          </p:cNvPr>
          <p:cNvSpPr/>
          <p:nvPr/>
        </p:nvSpPr>
        <p:spPr>
          <a:xfrm rot="20406949">
            <a:off x="10349387" y="4165138"/>
            <a:ext cx="338554" cy="127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1E62FE6-F755-B2AA-A1C3-1B4E670F0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799" y="2018453"/>
            <a:ext cx="5802081" cy="432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276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8055A-34A6-3580-116E-B41B8E93C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74E669-78D2-A2D9-CA48-B168B6982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GCN </a:t>
            </a:r>
            <a:r>
              <a:rPr lang="en-US" altLang="zh-TW" dirty="0"/>
              <a:t>results(2)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7D6AF3-C7AB-84DF-AE90-4D8E8AA10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05A838E-BC12-FECB-513C-AC1015803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12" y="1853453"/>
            <a:ext cx="5893157" cy="4401219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C2D9D6BB-7801-7B8A-F962-CA7C87F12A26}"/>
              </a:ext>
            </a:extLst>
          </p:cNvPr>
          <p:cNvSpPr txBox="1"/>
          <p:nvPr/>
        </p:nvSpPr>
        <p:spPr>
          <a:xfrm>
            <a:off x="6646219" y="3676116"/>
            <a:ext cx="36923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dirty="0"/>
              <a:t>Unknown → Infected: 34822 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zh-TW" dirty="0"/>
              <a:t>cells Viral transcript &lt; 10: 32485 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zh-TW" dirty="0"/>
              <a:t>cells Percentage: 93.29%</a:t>
            </a:r>
            <a:endParaRPr lang="zh-TW" altLang="en-US" sz="16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02E7937-81E6-87EA-4EE8-B809D8DB1A80}"/>
              </a:ext>
            </a:extLst>
          </p:cNvPr>
          <p:cNvSpPr txBox="1"/>
          <p:nvPr/>
        </p:nvSpPr>
        <p:spPr>
          <a:xfrm>
            <a:off x="10750846" y="3953115"/>
            <a:ext cx="13572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dirty="0"/>
              <a:t>0: 8349 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zh-TW" dirty="0"/>
              <a:t>1~9: 24136</a:t>
            </a:r>
            <a:endParaRPr lang="zh-TW" altLang="en-US" sz="1600" dirty="0"/>
          </a:p>
        </p:txBody>
      </p:sp>
      <p:sp>
        <p:nvSpPr>
          <p:cNvPr id="19" name="箭號: 向右 18">
            <a:extLst>
              <a:ext uri="{FF2B5EF4-FFF2-40B4-BE49-F238E27FC236}">
                <a16:creationId xmlns:a16="http://schemas.microsoft.com/office/drawing/2014/main" id="{740EAAAF-198D-549C-8481-5A1D8C63A80D}"/>
              </a:ext>
            </a:extLst>
          </p:cNvPr>
          <p:cNvSpPr/>
          <p:nvPr/>
        </p:nvSpPr>
        <p:spPr>
          <a:xfrm rot="1570202">
            <a:off x="10349385" y="4482896"/>
            <a:ext cx="338554" cy="127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箭號: 向右 20">
            <a:extLst>
              <a:ext uri="{FF2B5EF4-FFF2-40B4-BE49-F238E27FC236}">
                <a16:creationId xmlns:a16="http://schemas.microsoft.com/office/drawing/2014/main" id="{3C6C1B24-2E6B-4C33-84DD-4602AC8A377D}"/>
              </a:ext>
            </a:extLst>
          </p:cNvPr>
          <p:cNvSpPr/>
          <p:nvPr/>
        </p:nvSpPr>
        <p:spPr>
          <a:xfrm rot="20406949">
            <a:off x="10349387" y="4165138"/>
            <a:ext cx="338554" cy="127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3AEB405-6BBE-2DE9-A3A1-1818BC880B1C}"/>
              </a:ext>
            </a:extLst>
          </p:cNvPr>
          <p:cNvSpPr txBox="1"/>
          <p:nvPr/>
        </p:nvSpPr>
        <p:spPr>
          <a:xfrm>
            <a:off x="7010400" y="179773"/>
            <a:ext cx="4843417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zh-TW" dirty="0"/>
              <a:t>Done </a:t>
            </a:r>
            <a:r>
              <a:rPr lang="en-US" altLang="zh-TW" dirty="0"/>
              <a:t>before</a:t>
            </a:r>
            <a:r>
              <a:rPr lang="zh-TW" altLang="zh-TW" dirty="0"/>
              <a:t> the discussion on August 6th</a:t>
            </a:r>
          </a:p>
        </p:txBody>
      </p:sp>
    </p:spTree>
    <p:extLst>
      <p:ext uri="{BB962C8B-B14F-4D97-AF65-F5344CB8AC3E}">
        <p14:creationId xmlns:p14="http://schemas.microsoft.com/office/powerpoint/2010/main" val="338852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9723C-0D48-3A29-5D6E-415F1099F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DF73DF-CB2F-82C3-53C3-ABCBF45A3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GCN </a:t>
            </a:r>
            <a:r>
              <a:rPr lang="en-US" altLang="zh-TW" dirty="0"/>
              <a:t>results(3)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C514D94-BFFC-AF71-5EF9-416505F34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7869BA2-4467-2505-B989-FCFEFE33B344}"/>
              </a:ext>
            </a:extLst>
          </p:cNvPr>
          <p:cNvSpPr txBox="1"/>
          <p:nvPr/>
        </p:nvSpPr>
        <p:spPr>
          <a:xfrm>
            <a:off x="6339433" y="5886349"/>
            <a:ext cx="57871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* </a:t>
            </a:r>
            <a:r>
              <a:rPr lang="zh-TW" altLang="zh-TW" sz="1600" dirty="0"/>
              <a:t>The model is highly confident in its classification results</a:t>
            </a:r>
            <a:r>
              <a:rPr lang="en-US" altLang="zh-TW" sz="1600" dirty="0"/>
              <a:t>.</a:t>
            </a:r>
            <a:endParaRPr lang="zh-TW" altLang="zh-TW" sz="16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3F6175F-6148-98E1-4659-F6D90018A6A4}"/>
              </a:ext>
            </a:extLst>
          </p:cNvPr>
          <p:cNvSpPr txBox="1"/>
          <p:nvPr/>
        </p:nvSpPr>
        <p:spPr>
          <a:xfrm>
            <a:off x="1083609" y="5773400"/>
            <a:ext cx="45396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solidFill>
                  <a:srgbClr val="FF0000"/>
                </a:solidFill>
              </a:rPr>
              <a:t>* </a:t>
            </a:r>
            <a:r>
              <a:rPr lang="zh-TW" altLang="zh-TW" sz="1600" dirty="0">
                <a:solidFill>
                  <a:srgbClr val="FF0000"/>
                </a:solidFill>
              </a:rPr>
              <a:t>The cutoff selected in the paper actually makes a lot of sense.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B87D538-CCC5-C4C1-6B7C-5C72AD75E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095" y="1681937"/>
            <a:ext cx="4940491" cy="3811236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7D76589D-17CB-60C8-17BF-92660EA98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22" y="1831229"/>
            <a:ext cx="5485178" cy="3556237"/>
          </a:xfrm>
          <a:prstGeom prst="rect">
            <a:avLst/>
          </a:prstGeom>
        </p:spPr>
      </p:pic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9C46474A-F04A-25F7-1E49-EE5BC4EF96BC}"/>
              </a:ext>
            </a:extLst>
          </p:cNvPr>
          <p:cNvCxnSpPr/>
          <p:nvPr/>
        </p:nvCxnSpPr>
        <p:spPr>
          <a:xfrm>
            <a:off x="873760" y="3429000"/>
            <a:ext cx="522224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9738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1D489-A695-8874-928A-52465AF42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2772A0-82A4-2625-E640-08032D977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GCN </a:t>
            </a:r>
            <a:r>
              <a:rPr lang="en-US" altLang="zh-TW" dirty="0"/>
              <a:t>results(3)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CD46B52-EB51-D5B4-2DB2-62E16BFC3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6165E9C-7F76-DB08-2350-AFF46C73C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13" y="1691754"/>
            <a:ext cx="5638666" cy="365574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4E503EBD-B1CD-1898-49C7-08FEB0F88B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3832" y="1691754"/>
            <a:ext cx="4961560" cy="3766949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158ACC2-A581-BC48-94F5-F03D60A4F7C0}"/>
              </a:ext>
            </a:extLst>
          </p:cNvPr>
          <p:cNvSpPr txBox="1"/>
          <p:nvPr/>
        </p:nvSpPr>
        <p:spPr>
          <a:xfrm>
            <a:off x="6339433" y="5886349"/>
            <a:ext cx="57871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* </a:t>
            </a:r>
            <a:r>
              <a:rPr lang="zh-TW" altLang="zh-TW" sz="1600" dirty="0"/>
              <a:t>The model is highly confident in its classification results</a:t>
            </a:r>
            <a:r>
              <a:rPr lang="en-US" altLang="zh-TW" sz="1600" dirty="0"/>
              <a:t>.</a:t>
            </a:r>
            <a:endParaRPr lang="zh-TW" altLang="zh-TW" sz="16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5272E75-843B-B4BA-11D8-EEE13157D82A}"/>
              </a:ext>
            </a:extLst>
          </p:cNvPr>
          <p:cNvSpPr/>
          <p:nvPr/>
        </p:nvSpPr>
        <p:spPr>
          <a:xfrm>
            <a:off x="2592925" y="1691754"/>
            <a:ext cx="1377658" cy="343481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E88243B-99F8-DDF2-B903-7A573928562D}"/>
              </a:ext>
            </a:extLst>
          </p:cNvPr>
          <p:cNvSpPr txBox="1"/>
          <p:nvPr/>
        </p:nvSpPr>
        <p:spPr>
          <a:xfrm>
            <a:off x="1080146" y="5701911"/>
            <a:ext cx="45396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* </a:t>
            </a:r>
            <a:r>
              <a:rPr lang="zh-TW" altLang="zh-TW" sz="1600" dirty="0">
                <a:solidFill>
                  <a:schemeClr val="accent1"/>
                </a:solidFill>
              </a:rPr>
              <a:t>The original literature would overlook a significant proportion of infected cells.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C950F15-93D1-65F1-3BAE-EF604F104039}"/>
              </a:ext>
            </a:extLst>
          </p:cNvPr>
          <p:cNvSpPr txBox="1"/>
          <p:nvPr/>
        </p:nvSpPr>
        <p:spPr>
          <a:xfrm>
            <a:off x="7010400" y="179773"/>
            <a:ext cx="4843417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zh-TW" dirty="0"/>
              <a:t>Done </a:t>
            </a:r>
            <a:r>
              <a:rPr lang="en-US" altLang="zh-TW" dirty="0"/>
              <a:t>before</a:t>
            </a:r>
            <a:r>
              <a:rPr lang="zh-TW" altLang="zh-TW" dirty="0"/>
              <a:t> the discussion on August 6th</a:t>
            </a:r>
          </a:p>
        </p:txBody>
      </p:sp>
    </p:spTree>
    <p:extLst>
      <p:ext uri="{BB962C8B-B14F-4D97-AF65-F5344CB8AC3E}">
        <p14:creationId xmlns:p14="http://schemas.microsoft.com/office/powerpoint/2010/main" val="3096833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D2ED2-DF7B-51DF-84BD-E05C90AD1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F99A17-366C-A1F5-7571-666EE414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Infection and Cell Type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BE969F6-FB89-EC5F-BD6A-B2B3DC806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14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F70A0A9-317B-C0EA-FC15-702A12F3B6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631894"/>
              </p:ext>
            </p:extLst>
          </p:nvPr>
        </p:nvGraphicFramePr>
        <p:xfrm>
          <a:off x="6352802" y="2266573"/>
          <a:ext cx="5493331" cy="3767532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03390">
                  <a:extLst>
                    <a:ext uri="{9D8B030D-6E8A-4147-A177-3AD203B41FA5}">
                      <a16:colId xmlns:a16="http://schemas.microsoft.com/office/drawing/2014/main" val="1639108065"/>
                    </a:ext>
                  </a:extLst>
                </a:gridCol>
                <a:gridCol w="1403390">
                  <a:extLst>
                    <a:ext uri="{9D8B030D-6E8A-4147-A177-3AD203B41FA5}">
                      <a16:colId xmlns:a16="http://schemas.microsoft.com/office/drawing/2014/main" val="3014232119"/>
                    </a:ext>
                  </a:extLst>
                </a:gridCol>
                <a:gridCol w="1283161">
                  <a:extLst>
                    <a:ext uri="{9D8B030D-6E8A-4147-A177-3AD203B41FA5}">
                      <a16:colId xmlns:a16="http://schemas.microsoft.com/office/drawing/2014/main" val="3061453955"/>
                    </a:ext>
                  </a:extLst>
                </a:gridCol>
                <a:gridCol w="1403390">
                  <a:extLst>
                    <a:ext uri="{9D8B030D-6E8A-4147-A177-3AD203B41FA5}">
                      <a16:colId xmlns:a16="http://schemas.microsoft.com/office/drawing/2014/main" val="1500121953"/>
                    </a:ext>
                  </a:extLst>
                </a:gridCol>
              </a:tblGrid>
              <a:tr h="586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Cell type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Uninfected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/>
                        <a:t>Infected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/>
                        <a:t>Infection rate</a:t>
                      </a:r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609895171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solidFill>
                            <a:srgbClr val="FF0000"/>
                          </a:solidFill>
                        </a:rPr>
                        <a:t>BC/Club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solidFill>
                            <a:srgbClr val="FF0000"/>
                          </a:solidFill>
                        </a:rPr>
                        <a:t>876</a:t>
                      </a:r>
                      <a:endParaRPr lang="zh-TW" sz="1600" dirty="0">
                        <a:solidFill>
                          <a:srgbClr val="FF0000"/>
                        </a:solidFill>
                      </a:endParaRP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solidFill>
                            <a:srgbClr val="FF0000"/>
                          </a:solidFill>
                        </a:rPr>
                        <a:t>1160</a:t>
                      </a:r>
                      <a:endParaRPr lang="zh-TW" sz="1600" dirty="0">
                        <a:solidFill>
                          <a:srgbClr val="FF0000"/>
                        </a:solidFill>
                      </a:endParaRP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b="1" dirty="0">
                          <a:solidFill>
                            <a:srgbClr val="FF0000"/>
                          </a:solidFill>
                        </a:rPr>
                        <a:t>56.9</a:t>
                      </a:r>
                      <a:r>
                        <a:rPr lang="zh-TW" sz="1600" b="1" dirty="0">
                          <a:solidFill>
                            <a:srgbClr val="FF0000"/>
                          </a:solidFill>
                        </a:rPr>
                        <a:t>%</a:t>
                      </a:r>
                      <a:endParaRPr lang="zh-TW" sz="1600" dirty="0">
                        <a:solidFill>
                          <a:srgbClr val="FF0000"/>
                        </a:solidFill>
                      </a:endParaRPr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170869035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Basal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7823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10137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b="1" dirty="0"/>
                        <a:t>56.4</a:t>
                      </a:r>
                      <a:r>
                        <a:rPr lang="zh-TW" sz="1600" b="1" dirty="0"/>
                        <a:t>%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1562039546"/>
                  </a:ext>
                </a:extLst>
              </a:tr>
              <a:tr h="586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Ciliated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6190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5764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b="1" dirty="0"/>
                        <a:t>48.2</a:t>
                      </a:r>
                      <a:r>
                        <a:rPr lang="zh-TW" sz="1600" b="1" dirty="0"/>
                        <a:t>%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169700995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Club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7151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2707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b="1" dirty="0"/>
                        <a:t>27.4</a:t>
                      </a:r>
                      <a:r>
                        <a:rPr lang="zh-TW" sz="1600" b="1" dirty="0"/>
                        <a:t>%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331232607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Goblet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47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17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b="1" dirty="0"/>
                        <a:t>26.5</a:t>
                      </a:r>
                      <a:r>
                        <a:rPr lang="zh-TW" sz="1600" b="1" dirty="0"/>
                        <a:t>%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2341682464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Ionocytes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427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27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b="1" dirty="0"/>
                        <a:t>5.9</a:t>
                      </a:r>
                      <a:r>
                        <a:rPr lang="zh-TW" sz="1600" b="1" dirty="0"/>
                        <a:t>%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3310311248"/>
                  </a:ext>
                </a:extLst>
              </a:tr>
              <a:tr h="586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Neuroendocrine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225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2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b="1" dirty="0"/>
                        <a:t>4.1</a:t>
                      </a:r>
                      <a:r>
                        <a:rPr lang="zh-TW" sz="1600" b="1" dirty="0"/>
                        <a:t>%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427276926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Tuft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207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9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b="1" dirty="0"/>
                        <a:t>0.8</a:t>
                      </a:r>
                      <a:r>
                        <a:rPr lang="zh-TW" sz="1600" b="1" dirty="0"/>
                        <a:t>%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3404495293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2BC43500-5622-A728-97EE-63A67EE288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960751"/>
              </p:ext>
            </p:extLst>
          </p:nvPr>
        </p:nvGraphicFramePr>
        <p:xfrm>
          <a:off x="524128" y="2266573"/>
          <a:ext cx="5493331" cy="377090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03390">
                  <a:extLst>
                    <a:ext uri="{9D8B030D-6E8A-4147-A177-3AD203B41FA5}">
                      <a16:colId xmlns:a16="http://schemas.microsoft.com/office/drawing/2014/main" val="1639108065"/>
                    </a:ext>
                  </a:extLst>
                </a:gridCol>
                <a:gridCol w="1403390">
                  <a:extLst>
                    <a:ext uri="{9D8B030D-6E8A-4147-A177-3AD203B41FA5}">
                      <a16:colId xmlns:a16="http://schemas.microsoft.com/office/drawing/2014/main" val="3014232119"/>
                    </a:ext>
                  </a:extLst>
                </a:gridCol>
                <a:gridCol w="1283161">
                  <a:extLst>
                    <a:ext uri="{9D8B030D-6E8A-4147-A177-3AD203B41FA5}">
                      <a16:colId xmlns:a16="http://schemas.microsoft.com/office/drawing/2014/main" val="3061453955"/>
                    </a:ext>
                  </a:extLst>
                </a:gridCol>
                <a:gridCol w="1403390">
                  <a:extLst>
                    <a:ext uri="{9D8B030D-6E8A-4147-A177-3AD203B41FA5}">
                      <a16:colId xmlns:a16="http://schemas.microsoft.com/office/drawing/2014/main" val="1500121953"/>
                    </a:ext>
                  </a:extLst>
                </a:gridCol>
              </a:tblGrid>
              <a:tr h="586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Cell type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Uninfected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Infected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/>
                        <a:t>Infection rate</a:t>
                      </a:r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609895171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solidFill>
                            <a:srgbClr val="FF0000"/>
                          </a:solidFill>
                        </a:rPr>
                        <a:t>BC/Club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314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28.3%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869035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Basal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2039546"/>
                  </a:ext>
                </a:extLst>
              </a:tr>
              <a:tr h="586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solidFill>
                            <a:schemeClr val="tx1"/>
                          </a:solidFill>
                        </a:rPr>
                        <a:t>Ciliated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3212</a:t>
                      </a:r>
                      <a:endParaRPr lang="zh-TW" alt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1219</a:t>
                      </a:r>
                      <a:endParaRPr lang="zh-TW" alt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27.5%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700995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Club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232607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Goblet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1682464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Ionocytes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0311248"/>
                  </a:ext>
                </a:extLst>
              </a:tr>
              <a:tr h="586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Neuroendocrine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76926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Tuft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4495293"/>
                  </a:ext>
                </a:extLst>
              </a:tr>
            </a:tbl>
          </a:graphicData>
        </a:graphic>
      </p:graphicFrame>
      <p:sp>
        <p:nvSpPr>
          <p:cNvPr id="16" name="文字方塊 15">
            <a:extLst>
              <a:ext uri="{FF2B5EF4-FFF2-40B4-BE49-F238E27FC236}">
                <a16:creationId xmlns:a16="http://schemas.microsoft.com/office/drawing/2014/main" id="{7C56F66A-EE64-C2B5-4C2C-EDBAB5AFDC83}"/>
              </a:ext>
            </a:extLst>
          </p:cNvPr>
          <p:cNvSpPr txBox="1"/>
          <p:nvPr/>
        </p:nvSpPr>
        <p:spPr>
          <a:xfrm>
            <a:off x="9938851" y="6233890"/>
            <a:ext cx="1914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* P-value &lt; 0.001 </a:t>
            </a:r>
            <a:endParaRPr lang="zh-TW" altLang="zh-TW" sz="16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10FD9F8-F0A5-80F6-5149-35A93222285A}"/>
              </a:ext>
            </a:extLst>
          </p:cNvPr>
          <p:cNvSpPr txBox="1"/>
          <p:nvPr/>
        </p:nvSpPr>
        <p:spPr>
          <a:xfrm>
            <a:off x="468726" y="1693435"/>
            <a:ext cx="6101122" cy="423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>
              <a:lnSpc>
                <a:spcPts val="2700"/>
              </a:lnSpc>
              <a:buNone/>
            </a:pPr>
            <a:r>
              <a:rPr lang="zh-TW" altLang="zh-TW" sz="2100" b="0" i="0" dirty="0">
                <a:solidFill>
                  <a:srgbClr val="1F1F1F"/>
                </a:solidFill>
                <a:effectLst/>
                <a:latin typeface="inherit"/>
              </a:rPr>
              <a:t>Cells with high-confidence labels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B314135-5729-6021-6587-BC30933BF3A6}"/>
              </a:ext>
            </a:extLst>
          </p:cNvPr>
          <p:cNvSpPr txBox="1"/>
          <p:nvPr/>
        </p:nvSpPr>
        <p:spPr>
          <a:xfrm>
            <a:off x="6239435" y="1693434"/>
            <a:ext cx="6101122" cy="423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>
              <a:lnSpc>
                <a:spcPts val="2700"/>
              </a:lnSpc>
              <a:buNone/>
            </a:pPr>
            <a:r>
              <a:rPr lang="zh-TW" altLang="zh-TW" sz="2100" b="0" i="0" dirty="0">
                <a:solidFill>
                  <a:srgbClr val="1F1F1F"/>
                </a:solidFill>
                <a:effectLst/>
                <a:latin typeface="inherit"/>
              </a:rPr>
              <a:t>Cells with unknown labels</a:t>
            </a:r>
          </a:p>
        </p:txBody>
      </p:sp>
    </p:spTree>
    <p:extLst>
      <p:ext uri="{BB962C8B-B14F-4D97-AF65-F5344CB8AC3E}">
        <p14:creationId xmlns:p14="http://schemas.microsoft.com/office/powerpoint/2010/main" val="1459305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178C6-6935-DA75-9AA6-31983D969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76578F-A138-BA6C-62BA-BE19A6DB1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Infection and Cell Type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AE847D-B7A5-0985-464E-16AEA854C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15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EE13D45-0E97-73A0-D6E5-3530B2863034}"/>
              </a:ext>
            </a:extLst>
          </p:cNvPr>
          <p:cNvGraphicFramePr>
            <a:graphicFrameLocks noGrp="1"/>
          </p:cNvGraphicFramePr>
          <p:nvPr/>
        </p:nvGraphicFramePr>
        <p:xfrm>
          <a:off x="6352802" y="2266573"/>
          <a:ext cx="5493331" cy="3767532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03390">
                  <a:extLst>
                    <a:ext uri="{9D8B030D-6E8A-4147-A177-3AD203B41FA5}">
                      <a16:colId xmlns:a16="http://schemas.microsoft.com/office/drawing/2014/main" val="1639108065"/>
                    </a:ext>
                  </a:extLst>
                </a:gridCol>
                <a:gridCol w="1403390">
                  <a:extLst>
                    <a:ext uri="{9D8B030D-6E8A-4147-A177-3AD203B41FA5}">
                      <a16:colId xmlns:a16="http://schemas.microsoft.com/office/drawing/2014/main" val="3014232119"/>
                    </a:ext>
                  </a:extLst>
                </a:gridCol>
                <a:gridCol w="1283161">
                  <a:extLst>
                    <a:ext uri="{9D8B030D-6E8A-4147-A177-3AD203B41FA5}">
                      <a16:colId xmlns:a16="http://schemas.microsoft.com/office/drawing/2014/main" val="3061453955"/>
                    </a:ext>
                  </a:extLst>
                </a:gridCol>
                <a:gridCol w="1403390">
                  <a:extLst>
                    <a:ext uri="{9D8B030D-6E8A-4147-A177-3AD203B41FA5}">
                      <a16:colId xmlns:a16="http://schemas.microsoft.com/office/drawing/2014/main" val="1500121953"/>
                    </a:ext>
                  </a:extLst>
                </a:gridCol>
              </a:tblGrid>
              <a:tr h="586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Cell type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Uninfected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/>
                        <a:t>Infected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Infection rate</a:t>
                      </a:r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609895171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solidFill>
                            <a:srgbClr val="FF0000"/>
                          </a:solidFill>
                        </a:rPr>
                        <a:t>BC/Club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>
                          <a:solidFill>
                            <a:srgbClr val="FF0000"/>
                          </a:solidFill>
                        </a:rPr>
                        <a:t>145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>
                          <a:solidFill>
                            <a:srgbClr val="FF0000"/>
                          </a:solidFill>
                        </a:rPr>
                        <a:t>2,206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b="1" dirty="0">
                          <a:solidFill>
                            <a:srgbClr val="FF0000"/>
                          </a:solidFill>
                        </a:rPr>
                        <a:t>93.8%</a:t>
                      </a:r>
                      <a:endParaRPr lang="zh-TW" sz="1600" dirty="0">
                        <a:solidFill>
                          <a:srgbClr val="FF0000"/>
                        </a:solidFill>
                      </a:endParaRPr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170869035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Basal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/>
                        <a:t>6,439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12,891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b="1" dirty="0"/>
                        <a:t>66.7%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1562039546"/>
                  </a:ext>
                </a:extLst>
              </a:tr>
              <a:tr h="586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Ciliated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/>
                        <a:t>2,794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12,378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b="1" dirty="0"/>
                        <a:t>81.6%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169700995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Club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5,261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7,041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b="1"/>
                        <a:t>57.2%</a:t>
                      </a:r>
                      <a:endParaRPr lang="zh-TW" sz="160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331232607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Goblet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/>
                        <a:t>58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16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b="1"/>
                        <a:t>21.6%</a:t>
                      </a:r>
                      <a:endParaRPr lang="zh-TW" sz="160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2341682464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Ionocytes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/>
                        <a:t>472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58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b="1"/>
                        <a:t>10.9%</a:t>
                      </a:r>
                      <a:endParaRPr lang="zh-TW" sz="160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3310311248"/>
                  </a:ext>
                </a:extLst>
              </a:tr>
              <a:tr h="586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Neuroendocrine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106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193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b="1" dirty="0"/>
                        <a:t>64.5%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427276926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Tuft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/>
                        <a:t>198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39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b="1" dirty="0"/>
                        <a:t>16.5%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3404495293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254B3AE4-73C8-D64D-335F-7E23275F9A7C}"/>
              </a:ext>
            </a:extLst>
          </p:cNvPr>
          <p:cNvGraphicFramePr>
            <a:graphicFrameLocks noGrp="1"/>
          </p:cNvGraphicFramePr>
          <p:nvPr/>
        </p:nvGraphicFramePr>
        <p:xfrm>
          <a:off x="524128" y="2266573"/>
          <a:ext cx="5493331" cy="377090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03390">
                  <a:extLst>
                    <a:ext uri="{9D8B030D-6E8A-4147-A177-3AD203B41FA5}">
                      <a16:colId xmlns:a16="http://schemas.microsoft.com/office/drawing/2014/main" val="1639108065"/>
                    </a:ext>
                  </a:extLst>
                </a:gridCol>
                <a:gridCol w="1403390">
                  <a:extLst>
                    <a:ext uri="{9D8B030D-6E8A-4147-A177-3AD203B41FA5}">
                      <a16:colId xmlns:a16="http://schemas.microsoft.com/office/drawing/2014/main" val="3014232119"/>
                    </a:ext>
                  </a:extLst>
                </a:gridCol>
                <a:gridCol w="1283161">
                  <a:extLst>
                    <a:ext uri="{9D8B030D-6E8A-4147-A177-3AD203B41FA5}">
                      <a16:colId xmlns:a16="http://schemas.microsoft.com/office/drawing/2014/main" val="3061453955"/>
                    </a:ext>
                  </a:extLst>
                </a:gridCol>
                <a:gridCol w="1403390">
                  <a:extLst>
                    <a:ext uri="{9D8B030D-6E8A-4147-A177-3AD203B41FA5}">
                      <a16:colId xmlns:a16="http://schemas.microsoft.com/office/drawing/2014/main" val="1500121953"/>
                    </a:ext>
                  </a:extLst>
                </a:gridCol>
              </a:tblGrid>
              <a:tr h="586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Cell type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Uninfected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Infected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/>
                        <a:t>Infection rate</a:t>
                      </a:r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609895171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BC/Club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869035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Basal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9549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2039546"/>
                  </a:ext>
                </a:extLst>
              </a:tr>
              <a:tr h="586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solidFill>
                            <a:srgbClr val="FF0000"/>
                          </a:solidFill>
                        </a:rPr>
                        <a:t>Ciliated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6208</a:t>
                      </a:r>
                      <a:endParaRPr lang="zh-TW" altLang="en-US" sz="1600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1222</a:t>
                      </a:r>
                      <a:endParaRPr lang="zh-TW" altLang="en-US" sz="1600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16.4%</a:t>
                      </a:r>
                      <a:endParaRPr lang="zh-TW" altLang="en-US" sz="16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700995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Club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4493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232607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Goblet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1682464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Ionocytes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0311248"/>
                  </a:ext>
                </a:extLst>
              </a:tr>
              <a:tr h="586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Neuroendocrine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76926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Tuft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4495293"/>
                  </a:ext>
                </a:extLst>
              </a:tr>
            </a:tbl>
          </a:graphicData>
        </a:graphic>
      </p:graphicFrame>
      <p:sp>
        <p:nvSpPr>
          <p:cNvPr id="16" name="文字方塊 15">
            <a:extLst>
              <a:ext uri="{FF2B5EF4-FFF2-40B4-BE49-F238E27FC236}">
                <a16:creationId xmlns:a16="http://schemas.microsoft.com/office/drawing/2014/main" id="{B8DB47CC-8824-5665-5B67-C4BE5DB00928}"/>
              </a:ext>
            </a:extLst>
          </p:cNvPr>
          <p:cNvSpPr txBox="1"/>
          <p:nvPr/>
        </p:nvSpPr>
        <p:spPr>
          <a:xfrm>
            <a:off x="9938851" y="6233890"/>
            <a:ext cx="1914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* P-value &lt; 0.001 </a:t>
            </a:r>
            <a:endParaRPr lang="zh-TW" altLang="zh-TW" sz="16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F8ABCFC7-3F56-6832-2566-D4F563C0FC03}"/>
              </a:ext>
            </a:extLst>
          </p:cNvPr>
          <p:cNvSpPr txBox="1"/>
          <p:nvPr/>
        </p:nvSpPr>
        <p:spPr>
          <a:xfrm>
            <a:off x="468726" y="1693435"/>
            <a:ext cx="6101122" cy="423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>
              <a:lnSpc>
                <a:spcPts val="2700"/>
              </a:lnSpc>
              <a:buNone/>
            </a:pPr>
            <a:r>
              <a:rPr lang="zh-TW" altLang="zh-TW" sz="2100" b="0" i="0" dirty="0">
                <a:solidFill>
                  <a:srgbClr val="1F1F1F"/>
                </a:solidFill>
                <a:effectLst/>
                <a:latin typeface="inherit"/>
              </a:rPr>
              <a:t>Cells with high-confidence labels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416EE0CD-0D04-2E76-E64C-CF4172D93197}"/>
              </a:ext>
            </a:extLst>
          </p:cNvPr>
          <p:cNvSpPr txBox="1"/>
          <p:nvPr/>
        </p:nvSpPr>
        <p:spPr>
          <a:xfrm>
            <a:off x="6239435" y="1693434"/>
            <a:ext cx="6101122" cy="423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>
              <a:lnSpc>
                <a:spcPts val="2700"/>
              </a:lnSpc>
              <a:buNone/>
            </a:pPr>
            <a:r>
              <a:rPr lang="zh-TW" altLang="zh-TW" sz="2100" b="0" i="0" dirty="0">
                <a:solidFill>
                  <a:srgbClr val="1F1F1F"/>
                </a:solidFill>
                <a:effectLst/>
                <a:latin typeface="inherit"/>
              </a:rPr>
              <a:t>Cells with unknown labels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C42FA026-BFF5-C7C0-D966-00D93CC69E02}"/>
              </a:ext>
            </a:extLst>
          </p:cNvPr>
          <p:cNvSpPr txBox="1"/>
          <p:nvPr/>
        </p:nvSpPr>
        <p:spPr>
          <a:xfrm>
            <a:off x="6996853" y="179773"/>
            <a:ext cx="4856964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zh-TW" dirty="0"/>
              <a:t>Done </a:t>
            </a:r>
            <a:r>
              <a:rPr lang="en-US" altLang="zh-TW" dirty="0"/>
              <a:t>before</a:t>
            </a:r>
            <a:r>
              <a:rPr lang="zh-TW" altLang="zh-TW" dirty="0"/>
              <a:t> the discussion on August 6th</a:t>
            </a:r>
          </a:p>
        </p:txBody>
      </p:sp>
    </p:spTree>
    <p:extLst>
      <p:ext uri="{BB962C8B-B14F-4D97-AF65-F5344CB8AC3E}">
        <p14:creationId xmlns:p14="http://schemas.microsoft.com/office/powerpoint/2010/main" val="3008092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4C5AA-FE4C-0617-11C1-329BBFDE0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2F1176-A6D9-030E-CEE6-C29F15969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Logistics regression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3A912B-B905-0B71-1BEE-B07A4B21F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16</a:t>
            </a:fld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0A83CA9-1E9F-88F0-52DF-0ABD95B207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22593"/>
              </p:ext>
            </p:extLst>
          </p:nvPr>
        </p:nvGraphicFramePr>
        <p:xfrm>
          <a:off x="2208723" y="1916590"/>
          <a:ext cx="4946916" cy="1493520"/>
        </p:xfrm>
        <a:graphic>
          <a:graphicData uri="http://schemas.openxmlformats.org/drawingml/2006/table">
            <a:tbl>
              <a:tblPr/>
              <a:tblGrid>
                <a:gridCol w="1648972">
                  <a:extLst>
                    <a:ext uri="{9D8B030D-6E8A-4147-A177-3AD203B41FA5}">
                      <a16:colId xmlns:a16="http://schemas.microsoft.com/office/drawing/2014/main" val="1383026435"/>
                    </a:ext>
                  </a:extLst>
                </a:gridCol>
                <a:gridCol w="1648972">
                  <a:extLst>
                    <a:ext uri="{9D8B030D-6E8A-4147-A177-3AD203B41FA5}">
                      <a16:colId xmlns:a16="http://schemas.microsoft.com/office/drawing/2014/main" val="4204358492"/>
                    </a:ext>
                  </a:extLst>
                </a:gridCol>
                <a:gridCol w="1648972">
                  <a:extLst>
                    <a:ext uri="{9D8B030D-6E8A-4147-A177-3AD203B41FA5}">
                      <a16:colId xmlns:a16="http://schemas.microsoft.com/office/drawing/2014/main" val="4609462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/>
                        <a:t>Confusion matrix</a:t>
                      </a:r>
                      <a:endParaRPr lang="zh-TW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Predicted Uninfected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Predicted 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046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True Uninfected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1501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0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2998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True 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2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3</a:t>
                      </a:r>
                      <a:r>
                        <a:rPr lang="en-US" altLang="zh-TW" sz="1600" dirty="0"/>
                        <a:t>40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762611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5DCF4FD-8157-28B5-4D2B-8D14DB47CB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794873"/>
              </p:ext>
            </p:extLst>
          </p:nvPr>
        </p:nvGraphicFramePr>
        <p:xfrm>
          <a:off x="2208723" y="4076171"/>
          <a:ext cx="8915400" cy="2499360"/>
        </p:xfrm>
        <a:graphic>
          <a:graphicData uri="http://schemas.openxmlformats.org/drawingml/2006/table">
            <a:tbl>
              <a:tblPr/>
              <a:tblGrid>
                <a:gridCol w="1485900">
                  <a:extLst>
                    <a:ext uri="{9D8B030D-6E8A-4147-A177-3AD203B41FA5}">
                      <a16:colId xmlns:a16="http://schemas.microsoft.com/office/drawing/2014/main" val="409052019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394539283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53360861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12320068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682930857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13096076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1" dirty="0"/>
                        <a:t>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Precision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Recall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F1-score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2889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Uninfected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1501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651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1.00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0.9</a:t>
                      </a:r>
                      <a:r>
                        <a:rPr lang="en-US" altLang="zh-TW" sz="1600" dirty="0"/>
                        <a:t>9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1.00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34</a:t>
                      </a:r>
                      <a:r>
                        <a:rPr lang="en-US" altLang="zh-TW" sz="1600" dirty="0"/>
                        <a:t>2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397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0" dirty="0"/>
                        <a:t>Overall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1" dirty="0"/>
                        <a:t>1.00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1843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225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0"/>
                        <a:t>Overall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Macro average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1.00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1.00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1.00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1843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138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0" dirty="0"/>
                        <a:t>Overall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Weighted average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1843</a:t>
                      </a: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038269"/>
                  </a:ext>
                </a:extLst>
              </a:tr>
            </a:tbl>
          </a:graphicData>
        </a:graphic>
      </p:graphicFrame>
      <p:pic>
        <p:nvPicPr>
          <p:cNvPr id="15" name="圖片 14">
            <a:extLst>
              <a:ext uri="{FF2B5EF4-FFF2-40B4-BE49-F238E27FC236}">
                <a16:creationId xmlns:a16="http://schemas.microsoft.com/office/drawing/2014/main" id="{9D024871-1AF2-C831-9D1C-BCC75C3BF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6741" y="421105"/>
            <a:ext cx="3417382" cy="3487515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17125ED8-C94E-865A-72E6-CFBA6B8B8DB3}"/>
              </a:ext>
            </a:extLst>
          </p:cNvPr>
          <p:cNvSpPr txBox="1"/>
          <p:nvPr/>
        </p:nvSpPr>
        <p:spPr>
          <a:xfrm>
            <a:off x="9350689" y="2532545"/>
            <a:ext cx="14121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50" dirty="0"/>
              <a:t>* PR-AUC = 0.9992</a:t>
            </a:r>
            <a:endParaRPr lang="zh-TW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012825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3EEB5-DE44-2DAE-EC77-D1C3761A5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230F9A-93E6-B834-4815-5E5139E18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GCN vs Logistics regression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6A7AD9-7E7C-D038-3470-90F7B16E1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17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1F02EAA-008F-C397-68C6-9B10C58B94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82870"/>
              </p:ext>
            </p:extLst>
          </p:nvPr>
        </p:nvGraphicFramePr>
        <p:xfrm>
          <a:off x="724360" y="2326018"/>
          <a:ext cx="5493331" cy="3767532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03390">
                  <a:extLst>
                    <a:ext uri="{9D8B030D-6E8A-4147-A177-3AD203B41FA5}">
                      <a16:colId xmlns:a16="http://schemas.microsoft.com/office/drawing/2014/main" val="1639108065"/>
                    </a:ext>
                  </a:extLst>
                </a:gridCol>
                <a:gridCol w="1403390">
                  <a:extLst>
                    <a:ext uri="{9D8B030D-6E8A-4147-A177-3AD203B41FA5}">
                      <a16:colId xmlns:a16="http://schemas.microsoft.com/office/drawing/2014/main" val="3014232119"/>
                    </a:ext>
                  </a:extLst>
                </a:gridCol>
                <a:gridCol w="1283161">
                  <a:extLst>
                    <a:ext uri="{9D8B030D-6E8A-4147-A177-3AD203B41FA5}">
                      <a16:colId xmlns:a16="http://schemas.microsoft.com/office/drawing/2014/main" val="3061453955"/>
                    </a:ext>
                  </a:extLst>
                </a:gridCol>
                <a:gridCol w="1403390">
                  <a:extLst>
                    <a:ext uri="{9D8B030D-6E8A-4147-A177-3AD203B41FA5}">
                      <a16:colId xmlns:a16="http://schemas.microsoft.com/office/drawing/2014/main" val="1500121953"/>
                    </a:ext>
                  </a:extLst>
                </a:gridCol>
              </a:tblGrid>
              <a:tr h="586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Cell type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Uninfected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/>
                        <a:t>Infected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/>
                        <a:t>Infection rate</a:t>
                      </a:r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609895171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solidFill>
                            <a:srgbClr val="FF0000"/>
                          </a:solidFill>
                        </a:rPr>
                        <a:t>BC/Club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solidFill>
                            <a:srgbClr val="FF0000"/>
                          </a:solidFill>
                        </a:rPr>
                        <a:t>876</a:t>
                      </a:r>
                      <a:endParaRPr lang="zh-TW" sz="1600" dirty="0">
                        <a:solidFill>
                          <a:srgbClr val="FF0000"/>
                        </a:solidFill>
                      </a:endParaRP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solidFill>
                            <a:srgbClr val="FF0000"/>
                          </a:solidFill>
                        </a:rPr>
                        <a:t>1160</a:t>
                      </a:r>
                      <a:endParaRPr lang="zh-TW" sz="1600" dirty="0">
                        <a:solidFill>
                          <a:srgbClr val="FF0000"/>
                        </a:solidFill>
                      </a:endParaRP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b="1" dirty="0">
                          <a:solidFill>
                            <a:srgbClr val="FF0000"/>
                          </a:solidFill>
                        </a:rPr>
                        <a:t>56.9</a:t>
                      </a:r>
                      <a:r>
                        <a:rPr lang="zh-TW" sz="1600" b="1" dirty="0">
                          <a:solidFill>
                            <a:srgbClr val="FF0000"/>
                          </a:solidFill>
                        </a:rPr>
                        <a:t>%</a:t>
                      </a:r>
                      <a:endParaRPr lang="zh-TW" sz="1600" dirty="0">
                        <a:solidFill>
                          <a:srgbClr val="FF0000"/>
                        </a:solidFill>
                      </a:endParaRPr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170869035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Basal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7823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10137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b="1" dirty="0"/>
                        <a:t>56.4</a:t>
                      </a:r>
                      <a:r>
                        <a:rPr lang="zh-TW" sz="1600" b="1" dirty="0"/>
                        <a:t>%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1562039546"/>
                  </a:ext>
                </a:extLst>
              </a:tr>
              <a:tr h="586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Ciliated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6190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5764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b="1" dirty="0"/>
                        <a:t>48.2</a:t>
                      </a:r>
                      <a:r>
                        <a:rPr lang="zh-TW" sz="1600" b="1" dirty="0"/>
                        <a:t>%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169700995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Club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7151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2707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b="1" dirty="0"/>
                        <a:t>27.4</a:t>
                      </a:r>
                      <a:r>
                        <a:rPr lang="zh-TW" sz="1600" b="1" dirty="0"/>
                        <a:t>%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331232607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Goblet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47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17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b="1" dirty="0"/>
                        <a:t>26.5</a:t>
                      </a:r>
                      <a:r>
                        <a:rPr lang="zh-TW" sz="1600" b="1" dirty="0"/>
                        <a:t>%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2341682464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Ionocytes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427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27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b="1" dirty="0"/>
                        <a:t>5.9</a:t>
                      </a:r>
                      <a:r>
                        <a:rPr lang="zh-TW" sz="1600" b="1" dirty="0"/>
                        <a:t>%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3310311248"/>
                  </a:ext>
                </a:extLst>
              </a:tr>
              <a:tr h="586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Neuroendocrine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225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2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b="1" dirty="0"/>
                        <a:t>4.1</a:t>
                      </a:r>
                      <a:r>
                        <a:rPr lang="zh-TW" sz="1600" b="1" dirty="0"/>
                        <a:t>%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427276926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Tuft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207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9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b="1" dirty="0"/>
                        <a:t>0.8</a:t>
                      </a:r>
                      <a:r>
                        <a:rPr lang="zh-TW" sz="1600" b="1" dirty="0"/>
                        <a:t>%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3404495293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ECB506D-1990-0521-BD26-6418CC0555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213395"/>
              </p:ext>
            </p:extLst>
          </p:nvPr>
        </p:nvGraphicFramePr>
        <p:xfrm>
          <a:off x="6423824" y="2326018"/>
          <a:ext cx="5493331" cy="3767532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03390">
                  <a:extLst>
                    <a:ext uri="{9D8B030D-6E8A-4147-A177-3AD203B41FA5}">
                      <a16:colId xmlns:a16="http://schemas.microsoft.com/office/drawing/2014/main" val="1639108065"/>
                    </a:ext>
                  </a:extLst>
                </a:gridCol>
                <a:gridCol w="1403390">
                  <a:extLst>
                    <a:ext uri="{9D8B030D-6E8A-4147-A177-3AD203B41FA5}">
                      <a16:colId xmlns:a16="http://schemas.microsoft.com/office/drawing/2014/main" val="3014232119"/>
                    </a:ext>
                  </a:extLst>
                </a:gridCol>
                <a:gridCol w="1283161">
                  <a:extLst>
                    <a:ext uri="{9D8B030D-6E8A-4147-A177-3AD203B41FA5}">
                      <a16:colId xmlns:a16="http://schemas.microsoft.com/office/drawing/2014/main" val="3061453955"/>
                    </a:ext>
                  </a:extLst>
                </a:gridCol>
                <a:gridCol w="1403390">
                  <a:extLst>
                    <a:ext uri="{9D8B030D-6E8A-4147-A177-3AD203B41FA5}">
                      <a16:colId xmlns:a16="http://schemas.microsoft.com/office/drawing/2014/main" val="1500121953"/>
                    </a:ext>
                  </a:extLst>
                </a:gridCol>
              </a:tblGrid>
              <a:tr h="586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Cell type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Uninfected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/>
                        <a:t>Infected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/>
                        <a:t>Infection rate</a:t>
                      </a:r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609895171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solidFill>
                            <a:schemeClr val="tx1"/>
                          </a:solidFill>
                        </a:rPr>
                        <a:t>BC/Club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875</a:t>
                      </a:r>
                      <a:endParaRPr lang="zh-TW" sz="1600" dirty="0">
                        <a:solidFill>
                          <a:schemeClr val="tx1"/>
                        </a:solidFill>
                      </a:endParaRP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1161</a:t>
                      </a:r>
                      <a:endParaRPr lang="zh-TW" sz="1600" dirty="0">
                        <a:solidFill>
                          <a:schemeClr val="tx1"/>
                        </a:solidFill>
                      </a:endParaRP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57.0</a:t>
                      </a:r>
                      <a:r>
                        <a:rPr lang="zh-TW" sz="1600" b="1" dirty="0">
                          <a:solidFill>
                            <a:schemeClr val="tx1"/>
                          </a:solidFill>
                        </a:rPr>
                        <a:t>%</a:t>
                      </a:r>
                      <a:endParaRPr lang="zh-TW" sz="1600" dirty="0">
                        <a:solidFill>
                          <a:schemeClr val="tx1"/>
                        </a:solidFill>
                      </a:endParaRPr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170869035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solidFill>
                            <a:srgbClr val="FF0000"/>
                          </a:solidFill>
                        </a:rPr>
                        <a:t>Basal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solidFill>
                            <a:srgbClr val="FF0000"/>
                          </a:solidFill>
                        </a:rPr>
                        <a:t>4097</a:t>
                      </a:r>
                      <a:endParaRPr lang="zh-TW" sz="1600" dirty="0">
                        <a:solidFill>
                          <a:srgbClr val="FF0000"/>
                        </a:solidFill>
                      </a:endParaRP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solidFill>
                            <a:srgbClr val="FF0000"/>
                          </a:solidFill>
                        </a:rPr>
                        <a:t>13863</a:t>
                      </a:r>
                      <a:endParaRPr lang="zh-TW" sz="1600" dirty="0">
                        <a:solidFill>
                          <a:srgbClr val="FF0000"/>
                        </a:solidFill>
                      </a:endParaRP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b="1" dirty="0">
                          <a:solidFill>
                            <a:srgbClr val="FF0000"/>
                          </a:solidFill>
                        </a:rPr>
                        <a:t>77.1</a:t>
                      </a:r>
                      <a:r>
                        <a:rPr lang="zh-TW" sz="1600" b="1" dirty="0">
                          <a:solidFill>
                            <a:srgbClr val="FF0000"/>
                          </a:solidFill>
                        </a:rPr>
                        <a:t>%</a:t>
                      </a:r>
                      <a:endParaRPr lang="zh-TW" sz="1600" dirty="0">
                        <a:solidFill>
                          <a:srgbClr val="FF0000"/>
                        </a:solidFill>
                      </a:endParaRPr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1562039546"/>
                  </a:ext>
                </a:extLst>
              </a:tr>
              <a:tr h="586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Ciliated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6403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5551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b="1" dirty="0"/>
                        <a:t>46.4</a:t>
                      </a:r>
                      <a:r>
                        <a:rPr lang="zh-TW" sz="1600" b="1" dirty="0"/>
                        <a:t>%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169700995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Club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6429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3429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b="1" dirty="0"/>
                        <a:t>34.7</a:t>
                      </a:r>
                      <a:r>
                        <a:rPr lang="zh-TW" sz="1600" b="1" dirty="0"/>
                        <a:t>%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331232607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Goblet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43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21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b="1" dirty="0"/>
                        <a:t>32.8</a:t>
                      </a:r>
                      <a:r>
                        <a:rPr lang="zh-TW" sz="1600" b="1" dirty="0"/>
                        <a:t>%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2341682464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Ionocytes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321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133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b="1" dirty="0"/>
                        <a:t>29.2</a:t>
                      </a:r>
                      <a:r>
                        <a:rPr lang="zh-TW" sz="1600" b="1" dirty="0"/>
                        <a:t>%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3310311248"/>
                  </a:ext>
                </a:extLst>
              </a:tr>
              <a:tr h="586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Neuroendocrine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173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54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b="1" dirty="0"/>
                        <a:t>23.7</a:t>
                      </a:r>
                      <a:r>
                        <a:rPr lang="zh-TW" sz="1600" b="1" dirty="0"/>
                        <a:t>%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427276926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Tuft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145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/>
                        <a:t>71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b="1" dirty="0"/>
                        <a:t>32.8</a:t>
                      </a:r>
                      <a:r>
                        <a:rPr lang="zh-TW" sz="1600" b="1" dirty="0"/>
                        <a:t>%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3404495293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1D0092CB-D774-1697-4F63-F57F65F2B32D}"/>
              </a:ext>
            </a:extLst>
          </p:cNvPr>
          <p:cNvSpPr txBox="1"/>
          <p:nvPr/>
        </p:nvSpPr>
        <p:spPr>
          <a:xfrm>
            <a:off x="724360" y="1762549"/>
            <a:ext cx="4087337" cy="423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>
              <a:lnSpc>
                <a:spcPts val="2700"/>
              </a:lnSpc>
              <a:buNone/>
            </a:pPr>
            <a:r>
              <a:rPr lang="zh-TW" altLang="zh-TW" sz="2100" b="0" i="0" dirty="0">
                <a:solidFill>
                  <a:srgbClr val="1F1F1F"/>
                </a:solidFill>
                <a:effectLst/>
                <a:latin typeface="inherit"/>
              </a:rPr>
              <a:t>Cells with unknown labels</a:t>
            </a:r>
            <a:r>
              <a:rPr lang="en-US" altLang="zh-TW" sz="2100" b="0" i="0" dirty="0">
                <a:solidFill>
                  <a:srgbClr val="1F1F1F"/>
                </a:solidFill>
                <a:effectLst/>
                <a:latin typeface="inherit"/>
              </a:rPr>
              <a:t> of GCN</a:t>
            </a:r>
            <a:endParaRPr lang="zh-TW" altLang="zh-TW" sz="2100" b="0" i="0" dirty="0">
              <a:solidFill>
                <a:srgbClr val="1F1F1F"/>
              </a:solidFill>
              <a:effectLst/>
              <a:latin typeface="inherit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F8F7C15-07B1-40EF-7781-85DD8D29D6C5}"/>
              </a:ext>
            </a:extLst>
          </p:cNvPr>
          <p:cNvSpPr txBox="1"/>
          <p:nvPr/>
        </p:nvSpPr>
        <p:spPr>
          <a:xfrm>
            <a:off x="6423824" y="1762549"/>
            <a:ext cx="4087337" cy="423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>
              <a:lnSpc>
                <a:spcPts val="2700"/>
              </a:lnSpc>
              <a:buNone/>
            </a:pPr>
            <a:r>
              <a:rPr lang="zh-TW" altLang="zh-TW" sz="2100" b="0" i="0" dirty="0">
                <a:solidFill>
                  <a:srgbClr val="1F1F1F"/>
                </a:solidFill>
                <a:effectLst/>
                <a:latin typeface="inherit"/>
              </a:rPr>
              <a:t>Cells with unknown labels</a:t>
            </a:r>
            <a:r>
              <a:rPr lang="en-US" altLang="zh-TW" sz="2100" b="0" i="0" dirty="0">
                <a:solidFill>
                  <a:srgbClr val="1F1F1F"/>
                </a:solidFill>
                <a:effectLst/>
                <a:latin typeface="inherit"/>
              </a:rPr>
              <a:t> of GCN</a:t>
            </a:r>
            <a:endParaRPr lang="zh-TW" altLang="zh-TW" sz="2100" b="0" i="0" dirty="0">
              <a:solidFill>
                <a:srgbClr val="1F1F1F"/>
              </a:solidFill>
              <a:effectLst/>
              <a:latin typeface="inherit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931E822-A27A-541D-E7DA-54E7F3AB7F11}"/>
              </a:ext>
            </a:extLst>
          </p:cNvPr>
          <p:cNvSpPr txBox="1"/>
          <p:nvPr/>
        </p:nvSpPr>
        <p:spPr>
          <a:xfrm>
            <a:off x="9938851" y="6233890"/>
            <a:ext cx="1914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* P-value &lt; 0.001 </a:t>
            </a:r>
            <a:endParaRPr lang="zh-TW" altLang="zh-TW" sz="1600" dirty="0"/>
          </a:p>
        </p:txBody>
      </p:sp>
    </p:spTree>
    <p:extLst>
      <p:ext uri="{BB962C8B-B14F-4D97-AF65-F5344CB8AC3E}">
        <p14:creationId xmlns:p14="http://schemas.microsoft.com/office/powerpoint/2010/main" val="18709705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F571B-7573-28A1-F002-1C6BB70F8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3E4A7C-FCD7-20CF-1BB1-DF8BAEA31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GCN vs Logistics regression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25521BF-68AC-379E-FB3B-4D481BCE0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18</a:t>
            </a:fld>
            <a:endParaRPr lang="zh-TW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EEA055C-5EDC-AB31-4E1F-A4A8AA234D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808758"/>
              </p:ext>
            </p:extLst>
          </p:nvPr>
        </p:nvGraphicFramePr>
        <p:xfrm>
          <a:off x="2411660" y="2732620"/>
          <a:ext cx="8259300" cy="2292140"/>
        </p:xfrm>
        <a:graphic>
          <a:graphicData uri="http://schemas.openxmlformats.org/drawingml/2006/table">
            <a:tbl>
              <a:tblPr/>
              <a:tblGrid>
                <a:gridCol w="2064825">
                  <a:extLst>
                    <a:ext uri="{9D8B030D-6E8A-4147-A177-3AD203B41FA5}">
                      <a16:colId xmlns:a16="http://schemas.microsoft.com/office/drawing/2014/main" val="3953364741"/>
                    </a:ext>
                  </a:extLst>
                </a:gridCol>
                <a:gridCol w="2064825">
                  <a:extLst>
                    <a:ext uri="{9D8B030D-6E8A-4147-A177-3AD203B41FA5}">
                      <a16:colId xmlns:a16="http://schemas.microsoft.com/office/drawing/2014/main" val="3502616432"/>
                    </a:ext>
                  </a:extLst>
                </a:gridCol>
                <a:gridCol w="2064825">
                  <a:extLst>
                    <a:ext uri="{9D8B030D-6E8A-4147-A177-3AD203B41FA5}">
                      <a16:colId xmlns:a16="http://schemas.microsoft.com/office/drawing/2014/main" val="3656777964"/>
                    </a:ext>
                  </a:extLst>
                </a:gridCol>
                <a:gridCol w="2064825">
                  <a:extLst>
                    <a:ext uri="{9D8B030D-6E8A-4147-A177-3AD203B41FA5}">
                      <a16:colId xmlns:a16="http://schemas.microsoft.com/office/drawing/2014/main" val="2921711030"/>
                    </a:ext>
                  </a:extLst>
                </a:gridCol>
              </a:tblGrid>
              <a:tr h="573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GCN \ Logistic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/>
                        <a:t>Logistic =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/>
                        <a:t>Logistic =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/>
                        <a:t>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368731"/>
                  </a:ext>
                </a:extLst>
              </a:tr>
              <a:tr h="573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b="1" dirty="0"/>
                        <a:t>GCN = 0</a:t>
                      </a:r>
                      <a:endParaRPr lang="zh-TW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dirty="0"/>
                        <a:t>16,523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dirty="0">
                          <a:solidFill>
                            <a:srgbClr val="FF0000"/>
                          </a:solidFill>
                        </a:rPr>
                        <a:t>6,423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/>
                        <a:t>22,946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4306729"/>
                  </a:ext>
                </a:extLst>
              </a:tr>
              <a:tr h="573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b="1"/>
                        <a:t>GCN = 1</a:t>
                      </a:r>
                      <a:endParaRPr lang="zh-TW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dirty="0">
                          <a:solidFill>
                            <a:srgbClr val="FF0000"/>
                          </a:solidFill>
                        </a:rPr>
                        <a:t>1,963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/>
                        <a:t>17,860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/>
                        <a:t>19,823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6202364"/>
                  </a:ext>
                </a:extLst>
              </a:tr>
              <a:tr h="573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b="1"/>
                        <a:t>Total</a:t>
                      </a:r>
                      <a:endParaRPr lang="zh-TW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/>
                        <a:t>18,486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/>
                        <a:t>24,283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dirty="0"/>
                        <a:t>42,769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778206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425E9347-5C77-2F8A-7BC4-7D095D71B960}"/>
              </a:ext>
            </a:extLst>
          </p:cNvPr>
          <p:cNvSpPr txBox="1"/>
          <p:nvPr/>
        </p:nvSpPr>
        <p:spPr>
          <a:xfrm>
            <a:off x="7631186" y="5367107"/>
            <a:ext cx="3403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* Disa</a:t>
            </a:r>
            <a:r>
              <a:rPr lang="zh-TW" altLang="zh-TW" dirty="0">
                <a:solidFill>
                  <a:srgbClr val="FF0000"/>
                </a:solidFill>
              </a:rPr>
              <a:t>greement rate</a:t>
            </a:r>
            <a:r>
              <a:rPr lang="en-US" altLang="zh-TW" dirty="0">
                <a:solidFill>
                  <a:srgbClr val="FF0000"/>
                </a:solidFill>
              </a:rPr>
              <a:t> = 19.6</a:t>
            </a:r>
            <a:endParaRPr lang="zh-TW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1172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79377-5161-B7C8-076E-2C1C68062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A4FFAF-49D6-CA3F-E9A7-BA5C029D8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GCN vs Logistics regression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A1A0A71-1ECD-BFB1-027B-364812940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19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CE6119B-BE9D-5747-5AB8-3EA1341CC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47" y="1602650"/>
            <a:ext cx="6189867" cy="4700496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103DF013-3657-E35B-4370-BD8F01548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1885" y="2445807"/>
            <a:ext cx="5102355" cy="1658265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6829D003-A6A9-50C9-DB78-C7F1CF84BEB2}"/>
              </a:ext>
            </a:extLst>
          </p:cNvPr>
          <p:cNvSpPr/>
          <p:nvPr/>
        </p:nvSpPr>
        <p:spPr>
          <a:xfrm>
            <a:off x="6841884" y="3869933"/>
            <a:ext cx="5102355" cy="2341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16B1A73-A3EF-0AFD-E51F-D96453A4B5A3}"/>
              </a:ext>
            </a:extLst>
          </p:cNvPr>
          <p:cNvSpPr txBox="1"/>
          <p:nvPr/>
        </p:nvSpPr>
        <p:spPr>
          <a:xfrm>
            <a:off x="6702539" y="4665771"/>
            <a:ext cx="54894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* </a:t>
            </a:r>
            <a:r>
              <a:rPr lang="zh-TW" altLang="zh-TW" dirty="0">
                <a:solidFill>
                  <a:srgbClr val="FF0000"/>
                </a:solidFill>
              </a:rPr>
              <a:t>The criterion used by GCN to determine whether a cell is infected—based on the abundance of viral transcripts—is quite peculiar.</a:t>
            </a:r>
          </a:p>
          <a:p>
            <a:endParaRPr lang="zh-TW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4910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CF23F-370C-B02D-4EDF-5279E017C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3B26FD-CB26-7E67-ACF9-BD8DA61D2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GCN vs Logistics regression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575E53E-17DF-E57D-32CB-347EDB067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20</a:t>
            </a:fld>
            <a:endParaRPr lang="zh-TW" altLang="en-US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8A6527BC-B4D9-D088-4E00-5082494E3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201" y="2241561"/>
            <a:ext cx="5027353" cy="3336490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C501CD6E-AB27-8804-64F9-AF3B450A0F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222" y="2241562"/>
            <a:ext cx="5027354" cy="3336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5829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71998-4893-6950-2E83-B69C8559E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600F97-0507-1F1E-5B91-681399BB4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GCN vs Logistics regression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B65244-268D-5F29-B7D1-997E3627B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21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26AE35E-B647-5F81-E790-F40F9E67C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62" y="1905000"/>
            <a:ext cx="5288948" cy="452243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E9F35A9-C2F9-8FAF-7837-D09A6E026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951" y="2764524"/>
            <a:ext cx="4992831" cy="700487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D27981BC-E650-7723-260F-9BD67F6EDE71}"/>
              </a:ext>
            </a:extLst>
          </p:cNvPr>
          <p:cNvSpPr txBox="1"/>
          <p:nvPr/>
        </p:nvSpPr>
        <p:spPr>
          <a:xfrm>
            <a:off x="6569951" y="4166217"/>
            <a:ext cx="51252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* </a:t>
            </a:r>
            <a:r>
              <a:rPr lang="zh-TW" altLang="zh-TW" dirty="0">
                <a:solidFill>
                  <a:srgbClr val="FF0000"/>
                </a:solidFill>
              </a:rPr>
              <a:t>For this set of cells (GCN1/Logistic0), the probabilities output </a:t>
            </a:r>
            <a:r>
              <a:rPr lang="en-US" altLang="zh-TW" dirty="0">
                <a:solidFill>
                  <a:srgbClr val="FF0000"/>
                </a:solidFill>
              </a:rPr>
              <a:t>of</a:t>
            </a:r>
            <a:r>
              <a:rPr lang="zh-TW" altLang="zh-TW" dirty="0">
                <a:solidFill>
                  <a:srgbClr val="FF0000"/>
                </a:solidFill>
              </a:rPr>
              <a:t> the two models</a:t>
            </a:r>
            <a:r>
              <a:rPr lang="en-US" altLang="zh-TW" dirty="0">
                <a:solidFill>
                  <a:srgbClr val="FF0000"/>
                </a:solidFill>
              </a:rPr>
              <a:t> are</a:t>
            </a:r>
            <a:r>
              <a:rPr lang="zh-TW" altLang="zh-TW" dirty="0">
                <a:solidFill>
                  <a:srgbClr val="FF0000"/>
                </a:solidFill>
              </a:rPr>
              <a:t> also</a:t>
            </a:r>
            <a:r>
              <a:rPr lang="en-US" altLang="zh-TW" dirty="0">
                <a:solidFill>
                  <a:srgbClr val="FF0000"/>
                </a:solidFill>
              </a:rPr>
              <a:t> different</a:t>
            </a:r>
            <a:r>
              <a:rPr lang="zh-TW" altLang="zh-TW" dirty="0">
                <a:solidFill>
                  <a:srgbClr val="FF0000"/>
                </a:solidFill>
              </a:rPr>
              <a:t>.</a:t>
            </a:r>
          </a:p>
          <a:p>
            <a:endParaRPr lang="zh-TW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11588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7B-2556-F895-A468-8A9744CD5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0288FB-0907-D75B-AB16-61E663594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GCN vs Logistics regression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5A13299-D5CB-A8EA-F3C8-B78B9543C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22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C273B78-DE5A-CEB9-D87E-34F7FD345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12" y="1909062"/>
            <a:ext cx="5790871" cy="432482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42042ECA-9AED-A523-FDDA-6261DC1979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914" y="2606994"/>
            <a:ext cx="5088361" cy="880359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53F9E536-7B0F-7D6A-C61A-FCD2085555C6}"/>
              </a:ext>
            </a:extLst>
          </p:cNvPr>
          <p:cNvSpPr txBox="1"/>
          <p:nvPr/>
        </p:nvSpPr>
        <p:spPr>
          <a:xfrm>
            <a:off x="6748914" y="4352836"/>
            <a:ext cx="512526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As the duration of infection increases, the number of viral transcripts in the cells rises, making them more likely to be classified as infected; both models exhibit the same trend.</a:t>
            </a:r>
          </a:p>
          <a:p>
            <a:endParaRPr lang="zh-TW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2429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ACD95-519F-F8BB-BDF3-DDBEA4DF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E7E19A-28DB-3415-3A00-CFB4073DC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Future works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A32F273-5B94-24C1-35E2-8E8EBB25F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23</a:t>
            </a:fld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A0AD95-3125-07D1-E166-291D81836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2259724"/>
            <a:ext cx="8915400" cy="2422635"/>
          </a:xfrm>
        </p:spPr>
        <p:txBody>
          <a:bodyPr/>
          <a:lstStyle/>
          <a:p>
            <a:r>
              <a:rPr lang="zh-TW" altLang="zh-TW" dirty="0"/>
              <a:t>Synthesize the results of Aim 1 and assign easily interpretable biological significance to each biological pathway.</a:t>
            </a:r>
          </a:p>
          <a:p>
            <a:pPr marL="0" indent="0">
              <a:buNone/>
            </a:pPr>
            <a:endParaRPr lang="en-US" altLang="zh-TW" dirty="0"/>
          </a:p>
          <a:p>
            <a:r>
              <a:rPr lang="zh-TW" altLang="zh-TW" dirty="0"/>
              <a:t>Consolidate current progress and the results of various trial-and-error efforts into a summer program completion presentation, and propose ideas for future expansion.</a:t>
            </a:r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70405109"/>
      </p:ext>
    </p:extLst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絲縷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絲縷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絲縷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3139</TotalTime>
  <Words>1566</Words>
  <Application>Microsoft Office PowerPoint</Application>
  <PresentationFormat>寬螢幕</PresentationFormat>
  <Paragraphs>591</Paragraphs>
  <Slides>23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9" baseType="lpstr">
      <vt:lpstr>inherit</vt:lpstr>
      <vt:lpstr>Aptos</vt:lpstr>
      <vt:lpstr>Arial</vt:lpstr>
      <vt:lpstr>Century Gothic</vt:lpstr>
      <vt:lpstr>Wingdings 3</vt:lpstr>
      <vt:lpstr>絲縷</vt:lpstr>
      <vt:lpstr>Research Progress and Future Work </vt:lpstr>
      <vt:lpstr>Aim 2</vt:lpstr>
      <vt:lpstr>Data information</vt:lpstr>
      <vt:lpstr>Data preprocessing</vt:lpstr>
      <vt:lpstr>Topological relationships of cells</vt:lpstr>
      <vt:lpstr>Topological relationships of cells</vt:lpstr>
      <vt:lpstr>GCN model</vt:lpstr>
      <vt:lpstr>GCN results</vt:lpstr>
      <vt:lpstr>GCN results</vt:lpstr>
      <vt:lpstr>GCN results(2)</vt:lpstr>
      <vt:lpstr>GCN results(2)</vt:lpstr>
      <vt:lpstr>GCN results(3)</vt:lpstr>
      <vt:lpstr>GCN results(3)</vt:lpstr>
      <vt:lpstr>Infection and Cell Type</vt:lpstr>
      <vt:lpstr>Infection and Cell Type</vt:lpstr>
      <vt:lpstr>Logistics regression</vt:lpstr>
      <vt:lpstr>GCN vs Logistics regression</vt:lpstr>
      <vt:lpstr>GCN vs Logistics regression</vt:lpstr>
      <vt:lpstr>GCN vs Logistics regression</vt:lpstr>
      <vt:lpstr>GCN vs Logistics regression</vt:lpstr>
      <vt:lpstr>GCN vs Logistics regression</vt:lpstr>
      <vt:lpstr>GCN vs Logistics regression</vt:lpstr>
      <vt:lpstr>Future works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俊延 賴</dc:creator>
  <cp:lastModifiedBy>俊延 賴</cp:lastModifiedBy>
  <cp:revision>54</cp:revision>
  <dcterms:created xsi:type="dcterms:W3CDTF">2026-07-22T01:16:54Z</dcterms:created>
  <dcterms:modified xsi:type="dcterms:W3CDTF">2026-08-18T05:25:34Z</dcterms:modified>
</cp:coreProperties>
</file>