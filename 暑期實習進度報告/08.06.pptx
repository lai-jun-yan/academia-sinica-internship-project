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71" r:id="rId3"/>
    <p:sldId id="277" r:id="rId4"/>
    <p:sldId id="279" r:id="rId5"/>
    <p:sldId id="280" r:id="rId6"/>
    <p:sldId id="281" r:id="rId7"/>
    <p:sldId id="278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8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6448" autoAdjust="0"/>
  </p:normalViewPr>
  <p:slideViewPr>
    <p:cSldViewPr snapToGrid="0">
      <p:cViewPr varScale="1">
        <p:scale>
          <a:sx n="73" d="100"/>
          <a:sy n="73" d="100"/>
        </p:scale>
        <p:origin x="14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4B67A6-86C8-4AEC-8A8F-6C2F464F56C5}" type="datetimeFigureOut">
              <a:rPr lang="zh-TW" altLang="en-US" smtClean="0"/>
              <a:t>2026/8/10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07B5DF-8346-47E0-A838-EF3629E0D13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5122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Enrichment</a:t>
            </a:r>
            <a:r>
              <a:rPr lang="zh-TW" altLang="en-US" dirty="0"/>
              <a:t>要做的多詳細</a:t>
            </a:r>
            <a:r>
              <a:rPr lang="en-US" altLang="zh-TW"/>
              <a:t>?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07B5DF-8346-47E0-A838-EF3629E0D137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2751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Image source : </a:t>
            </a:r>
            <a:r>
              <a:rPr lang="en-US" altLang="zh-TW" dirty="0" err="1"/>
              <a:t>pngtree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Cell type </a:t>
            </a:r>
            <a:r>
              <a:rPr lang="zh-TW" altLang="en-US" dirty="0"/>
              <a:t>不完整 </a:t>
            </a:r>
            <a:r>
              <a:rPr lang="zh-TW" altLang="en-US" dirty="0">
                <a:sym typeface="Wingdings 2" panose="05020102010507070707" pitchFamily="18" charset="2"/>
              </a:rPr>
              <a:t></a:t>
            </a:r>
            <a:endParaRPr lang="en-US" altLang="zh-TW" dirty="0"/>
          </a:p>
          <a:p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看一下</a:t>
            </a:r>
            <a:r>
              <a:rPr lang="en-US" altLang="zh-TW" dirty="0"/>
              <a:t>mock</a:t>
            </a:r>
            <a:r>
              <a:rPr lang="zh-TW" altLang="en-US" dirty="0"/>
              <a:t>的</a:t>
            </a:r>
            <a:r>
              <a:rPr lang="en-US" altLang="zh-TW" dirty="0" err="1"/>
              <a:t>vt</a:t>
            </a:r>
            <a:r>
              <a:rPr lang="en-US" altLang="zh-TW" dirty="0"/>
              <a:t> distribution</a:t>
            </a:r>
            <a:r>
              <a:rPr lang="zh-TW" altLang="en-US" dirty="0"/>
              <a:t> </a:t>
            </a:r>
            <a:r>
              <a:rPr lang="zh-TW" altLang="en-US" dirty="0">
                <a:sym typeface="Wingdings 2" panose="05020102010507070707" pitchFamily="18" charset="2"/>
              </a:rPr>
              <a:t></a:t>
            </a:r>
            <a:endParaRPr lang="en-US" altLang="zh-TW" dirty="0"/>
          </a:p>
          <a:p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1dpi</a:t>
            </a:r>
            <a:r>
              <a:rPr lang="zh-TW" altLang="en-US" dirty="0"/>
              <a:t> </a:t>
            </a:r>
            <a:r>
              <a:rPr lang="en-US" altLang="zh-TW" dirty="0" err="1"/>
              <a:t>vt</a:t>
            </a:r>
            <a:r>
              <a:rPr lang="en-US" altLang="zh-TW" dirty="0"/>
              <a:t> = 0</a:t>
            </a:r>
            <a:r>
              <a:rPr lang="zh-TW" altLang="en-US" dirty="0"/>
              <a:t> 當作</a:t>
            </a:r>
            <a:r>
              <a:rPr lang="en-US" altLang="zh-TW" dirty="0"/>
              <a:t>healthy</a:t>
            </a:r>
            <a:r>
              <a:rPr lang="zh-TW" altLang="en-US" dirty="0"/>
              <a:t> </a:t>
            </a:r>
            <a:r>
              <a:rPr lang="zh-TW" altLang="en-US" dirty="0">
                <a:sym typeface="Wingdings 2" panose="05020102010507070707" pitchFamily="18" charset="2"/>
              </a:rPr>
              <a:t>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07B5DF-8346-47E0-A838-EF3629E0D137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65880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8EEF1-7FF7-CAD0-BCA0-6E9B79BC6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5188187-7DDB-9D11-6316-C309A32AE0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26B72CA-F1E0-DB97-6F17-323DFA375F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Image source : </a:t>
            </a:r>
            <a:r>
              <a:rPr lang="en-US" altLang="zh-TW" dirty="0" err="1"/>
              <a:t>pngtree</a:t>
            </a:r>
            <a:endParaRPr lang="en-US" altLang="zh-TW" dirty="0"/>
          </a:p>
          <a:p>
            <a:r>
              <a:rPr lang="zh-TW" altLang="en-US" dirty="0"/>
              <a:t>確認</a:t>
            </a:r>
            <a:r>
              <a:rPr lang="en-US" altLang="zh-TW" dirty="0"/>
              <a:t>3000</a:t>
            </a:r>
            <a:r>
              <a:rPr lang="zh-TW" altLang="en-US" dirty="0"/>
              <a:t>個基因是不是都有包含</a:t>
            </a:r>
            <a:r>
              <a:rPr lang="en-US" altLang="zh-TW" dirty="0"/>
              <a:t>virus</a:t>
            </a:r>
            <a:r>
              <a:rPr lang="zh-TW" altLang="en-US" dirty="0"/>
              <a:t> </a:t>
            </a:r>
            <a:r>
              <a:rPr lang="en-US" altLang="zh-TW" dirty="0"/>
              <a:t>gene(</a:t>
            </a:r>
            <a:r>
              <a:rPr lang="zh-TW" altLang="en-US" dirty="0"/>
              <a:t>可能有</a:t>
            </a:r>
            <a:r>
              <a:rPr lang="en-US" altLang="zh-TW" dirty="0"/>
              <a:t>confounding)(</a:t>
            </a:r>
            <a:r>
              <a:rPr lang="zh-TW" altLang="en-US" dirty="0"/>
              <a:t>不太確定 原始檔案沒有基因的</a:t>
            </a:r>
            <a:r>
              <a:rPr lang="en-US" altLang="zh-TW" dirty="0"/>
              <a:t>annotation)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864F19F-8B41-7593-BA6F-9A88D5ED76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07B5DF-8346-47E0-A838-EF3629E0D137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77479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49406-37CA-6E7B-D581-57CC5FB3B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93AB5CA-0137-45F1-81CF-85F00280D6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47A9DDC-D6B0-5095-0B8D-49085CC674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Image source : </a:t>
            </a:r>
            <a:r>
              <a:rPr lang="en-US" altLang="zh-TW" dirty="0" err="1"/>
              <a:t>pngtree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15A1DEA-664C-6A37-6388-41DE57A5DC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07B5DF-8346-47E0-A838-EF3629E0D137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76897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59094-BCD1-F2C8-FA17-337C76FBA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32C5334-BFC3-E298-70CD-C7F66BCA3C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ACBDD09-E185-9502-1A95-25912008B4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Image source : </a:t>
            </a:r>
            <a:r>
              <a:rPr lang="en-US" altLang="zh-TW" dirty="0" err="1"/>
              <a:t>pngtree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0FC605E-38F3-0E44-C121-8BECD5091F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07B5DF-8346-47E0-A838-EF3629E0D137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99610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B6ECE-5C6A-6721-E9D5-CB7DBE368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DAB81D8-A9BC-4E6D-D54F-36B7ECD3C0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40BFA59-72D0-CE91-D0BF-6A7A99F5BE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Image source : </a:t>
            </a:r>
            <a:r>
              <a:rPr lang="en-US" altLang="zh-TW" dirty="0" err="1"/>
              <a:t>pngtree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7513709-FD3E-B98B-0F38-EA03ED8C5A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07B5DF-8346-47E0-A838-EF3629E0D137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43849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92E4E-CC2F-B7BC-E2C3-537075075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0903697-284E-B2B5-B2CF-CADE065F60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B369AB4-153B-1C4A-773D-2A3CAA200E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Image source : </a:t>
            </a:r>
            <a:r>
              <a:rPr lang="en-US" altLang="zh-TW" dirty="0" err="1"/>
              <a:t>pngtree</a:t>
            </a:r>
            <a:endParaRPr lang="en-US" altLang="zh-TW" dirty="0"/>
          </a:p>
          <a:p>
            <a:r>
              <a:rPr lang="en-US" altLang="zh-TW" dirty="0"/>
              <a:t>1</a:t>
            </a:r>
            <a:r>
              <a:rPr lang="zh-TW" altLang="en-US" dirty="0"/>
              <a:t> </a:t>
            </a:r>
            <a:r>
              <a:rPr lang="en-US" altLang="zh-TW" dirty="0"/>
              <a:t>~</a:t>
            </a:r>
            <a:r>
              <a:rPr lang="zh-TW" altLang="en-US" dirty="0"/>
              <a:t> </a:t>
            </a:r>
            <a:r>
              <a:rPr lang="en-US" altLang="zh-TW" dirty="0"/>
              <a:t>9</a:t>
            </a:r>
            <a:r>
              <a:rPr lang="zh-TW" altLang="en-US" dirty="0"/>
              <a:t>要去看生物意義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44FBCA3-B611-8C83-0084-E5163C1461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07B5DF-8346-47E0-A838-EF3629E0D137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28405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7C305-5696-4A7F-86AE-9C076744B4EA}" type="datetime1">
              <a:rPr lang="zh-TW" altLang="en-US" smtClean="0"/>
              <a:t>2026/8/10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6819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150FA-4614-4BF5-8794-75F97A0B2544}" type="datetime1">
              <a:rPr lang="zh-TW" altLang="en-US" smtClean="0"/>
              <a:t>2026/8/10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9890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336E6-5EE0-4A71-81C3-454B5C7B8BFB}" type="datetime1">
              <a:rPr lang="zh-TW" altLang="en-US" smtClean="0"/>
              <a:t>2026/8/10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7079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7ED53-FC9D-48CB-AA63-3CC0B044F3C0}" type="datetime1">
              <a:rPr lang="zh-TW" altLang="en-US" smtClean="0"/>
              <a:t>2026/8/10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9202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D8557-2EF5-4AB0-8FDE-59BF801865CC}" type="datetime1">
              <a:rPr lang="zh-TW" altLang="en-US" smtClean="0"/>
              <a:t>2026/8/10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3214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BEE1F-4E42-4556-91FB-8362A0311142}" type="datetime1">
              <a:rPr lang="zh-TW" altLang="en-US" smtClean="0"/>
              <a:t>2026/8/10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7133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9E288-AC8B-4B62-B049-7671F3A2DFF0}" type="datetime1">
              <a:rPr lang="zh-TW" altLang="en-US" smtClean="0"/>
              <a:t>2026/8/10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7810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82A0F-D946-4FC0-8D63-AF5246A679AE}" type="datetime1">
              <a:rPr lang="zh-TW" altLang="en-US" smtClean="0"/>
              <a:t>2026/8/10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3026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BBE9F-1777-4CD2-896A-5CE0FA3014FF}" type="datetime1">
              <a:rPr lang="zh-TW" altLang="en-US" smtClean="0"/>
              <a:t>2026/8/10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2246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432D5-B03D-4717-A904-795F862C1E5D}" type="datetime1">
              <a:rPr lang="zh-TW" altLang="en-US" smtClean="0"/>
              <a:t>2026/8/10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1225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5C8B2-1CA8-4214-9C14-3CAA749726CE}" type="datetime1">
              <a:rPr lang="zh-TW" altLang="en-US" smtClean="0"/>
              <a:t>2026/8/10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941247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A667E-6D94-4A33-B267-6660FFC03615}" type="datetime1">
              <a:rPr lang="zh-TW" altLang="en-US" smtClean="0"/>
              <a:t>2026/8/10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44987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2C43B-7B97-41B4-A0D9-48858736EFA4}" type="datetime1">
              <a:rPr lang="zh-TW" altLang="en-US" smtClean="0"/>
              <a:t>2026/8/10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476489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EF5B8-0A25-46D3-80D8-0863E07A873E}" type="datetime1">
              <a:rPr lang="zh-TW" altLang="en-US" smtClean="0"/>
              <a:t>2026/8/10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9607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5B9F2-24E4-479E-A18C-BF8EB1ED4286}" type="datetime1">
              <a:rPr lang="zh-TW" altLang="en-US" smtClean="0"/>
              <a:t>2026/8/10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71125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E6E13-70FA-486A-9C9C-12B2AF2AEAF1}" type="datetime1">
              <a:rPr lang="zh-TW" altLang="en-US" smtClean="0"/>
              <a:t>2026/8/10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2653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4D7AFE-6A4C-47D2-A958-3F76A70AFF87}" type="datetime1">
              <a:rPr lang="zh-TW" altLang="en-US" smtClean="0"/>
              <a:t>2026/8/10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1018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2427F2-A2B9-864E-785A-93A31EB6FF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zh-TW" altLang="zh-TW" dirty="0"/>
              <a:t>Research Progress and Future Work</a:t>
            </a:r>
            <a:br>
              <a:rPr lang="zh-TW" altLang="zh-TW" dirty="0"/>
            </a:b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D3CD96D-FA25-F806-372C-F4EF862075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/>
              <a:t>08.06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B4FE53C-9997-536E-CA11-C15CC9227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4449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D50D6A-9F9B-15A5-0DDF-16CE3A303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Aims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C8D8B10-28F2-1223-9B31-5469633439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Aim 1:</a:t>
            </a:r>
          </a:p>
          <a:p>
            <a:pPr marL="400050" lvl="1" indent="0">
              <a:buNone/>
            </a:pPr>
            <a:r>
              <a:rPr lang="zh-TW" altLang="zh-TW" dirty="0"/>
              <a:t>After excluding non-coding genes, re-run the enrichment analysis.</a:t>
            </a:r>
          </a:p>
          <a:p>
            <a:pPr marL="400050" lvl="1" indent="0">
              <a:buNone/>
            </a:pPr>
            <a:endParaRPr lang="en-US" altLang="zh-TW" dirty="0"/>
          </a:p>
          <a:p>
            <a:r>
              <a:rPr lang="en-US" altLang="zh-TW" dirty="0"/>
              <a:t>Aim 2:</a:t>
            </a:r>
          </a:p>
          <a:p>
            <a:pPr marL="400050" lvl="1" indent="0">
              <a:buNone/>
            </a:pPr>
            <a:r>
              <a:rPr lang="zh-TW" altLang="zh-TW" dirty="0"/>
              <a:t>Predict unknown cell</a:t>
            </a:r>
            <a:r>
              <a:rPr lang="en-US" altLang="zh-TW" dirty="0"/>
              <a:t>s</a:t>
            </a:r>
            <a:r>
              <a:rPr lang="zh-TW" altLang="zh-TW" dirty="0"/>
              <a:t> using existing gene expression data and some known cell labels.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15FDA7D-6860-0C75-D811-F1A62E7E6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3988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79DB2-3C9B-17AA-939E-B22AF460F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870039-7B31-EC98-5F09-FF9681AE73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2660" y="1318591"/>
            <a:ext cx="2772372" cy="4220820"/>
          </a:xfrm>
        </p:spPr>
        <p:txBody>
          <a:bodyPr anchor="ctr">
            <a:normAutofit/>
          </a:bodyPr>
          <a:lstStyle/>
          <a:p>
            <a:pPr algn="r"/>
            <a:r>
              <a:rPr lang="en-US" altLang="zh-TW" sz="6600" dirty="0">
                <a:solidFill>
                  <a:schemeClr val="tx2">
                    <a:lumMod val="75000"/>
                  </a:schemeClr>
                </a:solidFill>
              </a:rPr>
              <a:t>Aim 1</a:t>
            </a:r>
            <a:endParaRPr lang="zh-TW" altLang="en-US" sz="66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EB051F4-8DF7-9898-A05F-CA2C15D81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6593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C6512-6B39-7388-2945-E867EC8CF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1846E5-086A-8754-D08B-8718A5CB1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Immune gene list enrichment analysis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403B4F4-02C9-6357-165B-D0BCCC0D54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GSEA:</a:t>
            </a:r>
          </a:p>
          <a:p>
            <a:pPr marL="400050" lvl="1" indent="0">
              <a:buNone/>
            </a:pPr>
            <a:r>
              <a:rPr lang="zh-TW" altLang="zh-TW" dirty="0"/>
              <a:t>ORA has issues related to gene</a:t>
            </a:r>
            <a:r>
              <a:rPr lang="en-US" altLang="zh-TW" dirty="0"/>
              <a:t> list</a:t>
            </a:r>
            <a:r>
              <a:rPr lang="zh-TW" altLang="zh-TW" dirty="0"/>
              <a:t> background, so GSEA is used for the analysis instead.</a:t>
            </a:r>
          </a:p>
          <a:p>
            <a:endParaRPr lang="en-US" altLang="zh-TW" dirty="0"/>
          </a:p>
          <a:p>
            <a:r>
              <a:rPr lang="en-US" altLang="zh-TW" dirty="0"/>
              <a:t>Results:</a:t>
            </a:r>
          </a:p>
          <a:p>
            <a:pPr marL="400050" lvl="1" indent="0">
              <a:buNone/>
            </a:pPr>
            <a:r>
              <a:rPr lang="zh-TW" altLang="zh-TW" dirty="0"/>
              <a:t>Enrichment analysis was performed only for the RF model; for XGBoost, the majority of SHAP values ​​were zero, resulting in a gene list too small to yield reliable enrichment analysis results.</a:t>
            </a:r>
          </a:p>
          <a:p>
            <a:pPr marL="400050" lvl="1" indent="0">
              <a:buNone/>
            </a:pP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F3BB889-33C5-A2E5-2920-285155FF1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15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69655-6B49-6E97-865F-6F216CBA7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0D26CB-FFCF-7079-7D51-0DB24B065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Results of enrichment analysis(RF only)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B6908EF-0B73-736A-8635-C1ED8B85E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5</a:t>
            </a:fld>
            <a:endParaRPr lang="zh-TW" altLang="en-US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CCD856D9-B0ED-D960-2D63-5CFC4E3349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8436626"/>
              </p:ext>
            </p:extLst>
          </p:nvPr>
        </p:nvGraphicFramePr>
        <p:xfrm>
          <a:off x="2049729" y="1720893"/>
          <a:ext cx="9107181" cy="40711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1909">
                  <a:extLst>
                    <a:ext uri="{9D8B030D-6E8A-4147-A177-3AD203B41FA5}">
                      <a16:colId xmlns:a16="http://schemas.microsoft.com/office/drawing/2014/main" val="2341172823"/>
                    </a:ext>
                  </a:extLst>
                </a:gridCol>
                <a:gridCol w="1011909">
                  <a:extLst>
                    <a:ext uri="{9D8B030D-6E8A-4147-A177-3AD203B41FA5}">
                      <a16:colId xmlns:a16="http://schemas.microsoft.com/office/drawing/2014/main" val="3583683660"/>
                    </a:ext>
                  </a:extLst>
                </a:gridCol>
                <a:gridCol w="1011909">
                  <a:extLst>
                    <a:ext uri="{9D8B030D-6E8A-4147-A177-3AD203B41FA5}">
                      <a16:colId xmlns:a16="http://schemas.microsoft.com/office/drawing/2014/main" val="3426586895"/>
                    </a:ext>
                  </a:extLst>
                </a:gridCol>
                <a:gridCol w="1011909">
                  <a:extLst>
                    <a:ext uri="{9D8B030D-6E8A-4147-A177-3AD203B41FA5}">
                      <a16:colId xmlns:a16="http://schemas.microsoft.com/office/drawing/2014/main" val="881877480"/>
                    </a:ext>
                  </a:extLst>
                </a:gridCol>
                <a:gridCol w="1011909">
                  <a:extLst>
                    <a:ext uri="{9D8B030D-6E8A-4147-A177-3AD203B41FA5}">
                      <a16:colId xmlns:a16="http://schemas.microsoft.com/office/drawing/2014/main" val="3102894976"/>
                    </a:ext>
                  </a:extLst>
                </a:gridCol>
                <a:gridCol w="1011909">
                  <a:extLst>
                    <a:ext uri="{9D8B030D-6E8A-4147-A177-3AD203B41FA5}">
                      <a16:colId xmlns:a16="http://schemas.microsoft.com/office/drawing/2014/main" val="871233268"/>
                    </a:ext>
                  </a:extLst>
                </a:gridCol>
                <a:gridCol w="1011909">
                  <a:extLst>
                    <a:ext uri="{9D8B030D-6E8A-4147-A177-3AD203B41FA5}">
                      <a16:colId xmlns:a16="http://schemas.microsoft.com/office/drawing/2014/main" val="3836922239"/>
                    </a:ext>
                  </a:extLst>
                </a:gridCol>
                <a:gridCol w="1011909">
                  <a:extLst>
                    <a:ext uri="{9D8B030D-6E8A-4147-A177-3AD203B41FA5}">
                      <a16:colId xmlns:a16="http://schemas.microsoft.com/office/drawing/2014/main" val="635051631"/>
                    </a:ext>
                  </a:extLst>
                </a:gridCol>
                <a:gridCol w="1011909">
                  <a:extLst>
                    <a:ext uri="{9D8B030D-6E8A-4147-A177-3AD203B41FA5}">
                      <a16:colId xmlns:a16="http://schemas.microsoft.com/office/drawing/2014/main" val="582826549"/>
                    </a:ext>
                  </a:extLst>
                </a:gridCol>
              </a:tblGrid>
              <a:tr h="731752">
                <a:tc>
                  <a:txBody>
                    <a:bodyPr/>
                    <a:lstStyle/>
                    <a:p>
                      <a:pPr algn="ctr"/>
                      <a:endParaRPr lang="zh-TW" altLang="en-US" sz="6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 err="1"/>
                        <a:t>Alphaviridae</a:t>
                      </a:r>
                      <a:endParaRPr lang="zh-TW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 err="1"/>
                        <a:t>Coronaviridae</a:t>
                      </a:r>
                      <a:endParaRPr lang="zh-TW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/>
                        <a:t>Flaviviridae</a:t>
                      </a:r>
                      <a:endParaRPr lang="zh-TW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 err="1"/>
                        <a:t>Orthoherpesviridae</a:t>
                      </a:r>
                      <a:endParaRPr lang="zh-TW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/>
                        <a:t>Orthomyxoviridae</a:t>
                      </a:r>
                      <a:endParaRPr lang="zh-TW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 err="1"/>
                        <a:t>Picornaviridae</a:t>
                      </a:r>
                      <a:endParaRPr lang="zh-TW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/>
                        <a:t>Reoviridae</a:t>
                      </a:r>
                      <a:endParaRPr lang="zh-TW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 err="1"/>
                        <a:t>Retroviridae</a:t>
                      </a:r>
                      <a:endParaRPr lang="zh-TW" altLang="en-US" sz="9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3311088"/>
                  </a:ext>
                </a:extLst>
              </a:tr>
              <a:tr h="6678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/>
                        <a:t>KEGG</a:t>
                      </a:r>
                      <a:endParaRPr lang="zh-TW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solidFill>
                            <a:srgbClr val="FF0000"/>
                          </a:solidFill>
                          <a:sym typeface="Wingdings 2" panose="05020102010507070707" pitchFamily="18" charset="2"/>
                        </a:rPr>
                        <a:t>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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1" dirty="0">
                          <a:solidFill>
                            <a:srgbClr val="FF0000"/>
                          </a:solidFill>
                          <a:sym typeface="Wingdings 2" panose="05020102010507070707" pitchFamily="18" charset="2"/>
                        </a:rPr>
                        <a:t>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 2" panose="05020102010507070707" pitchFamily="18" charset="2"/>
                        </a:rPr>
                        <a:t>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rgbClr val="00B0F0"/>
                          </a:solidFill>
                          <a:sym typeface="Wingdings 2" panose="05020102010507070707" pitchFamily="18" charset="2"/>
                        </a:rPr>
                        <a:t></a:t>
                      </a:r>
                      <a:endParaRPr lang="zh-TW" altLang="en-US" sz="1800" b="1" dirty="0">
                        <a:solidFill>
                          <a:srgbClr val="00B0F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2223638"/>
                  </a:ext>
                </a:extLst>
              </a:tr>
              <a:tr h="6678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 err="1"/>
                        <a:t>Reactome</a:t>
                      </a:r>
                      <a:endParaRPr lang="zh-TW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1" dirty="0">
                          <a:solidFill>
                            <a:srgbClr val="FF0000"/>
                          </a:solidFill>
                          <a:sym typeface="Wingdings 2" panose="05020102010507070707" pitchFamily="18" charset="2"/>
                        </a:rPr>
                        <a:t>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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 2" panose="05020102010507070707" pitchFamily="18" charset="2"/>
                        </a:rPr>
                        <a:t>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 2" panose="05020102010507070707" pitchFamily="18" charset="2"/>
                        </a:rPr>
                        <a:t>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 2" panose="05020102010507070707" pitchFamily="18" charset="2"/>
                        </a:rPr>
                        <a:t>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1097473"/>
                  </a:ext>
                </a:extLst>
              </a:tr>
              <a:tr h="6678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/>
                        <a:t>GO</a:t>
                      </a:r>
                      <a:endParaRPr lang="zh-TW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rgbClr val="00B0F0"/>
                          </a:solidFill>
                          <a:sym typeface="Wingdings 2" panose="05020102010507070707" pitchFamily="18" charset="2"/>
                        </a:rPr>
                        <a:t></a:t>
                      </a:r>
                      <a:endParaRPr lang="zh-TW" altLang="en-US" sz="1800" b="1" dirty="0">
                        <a:solidFill>
                          <a:srgbClr val="00B0F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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 2" panose="05020102010507070707" pitchFamily="18" charset="2"/>
                        </a:rPr>
                        <a:t>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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 2" panose="05020102010507070707" pitchFamily="18" charset="2"/>
                        </a:rPr>
                        <a:t>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rgbClr val="00B0F0"/>
                          </a:solidFill>
                          <a:sym typeface="Wingdings 2" panose="05020102010507070707" pitchFamily="18" charset="2"/>
                        </a:rPr>
                        <a:t></a:t>
                      </a:r>
                      <a:endParaRPr lang="zh-TW" altLang="en-US" sz="1800" b="1" dirty="0">
                        <a:solidFill>
                          <a:srgbClr val="00B0F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7833258"/>
                  </a:ext>
                </a:extLst>
              </a:tr>
              <a:tr h="6678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 err="1"/>
                        <a:t>MSigDB</a:t>
                      </a:r>
                      <a:endParaRPr lang="zh-TW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1" dirty="0">
                          <a:solidFill>
                            <a:srgbClr val="FF0000"/>
                          </a:solidFill>
                          <a:sym typeface="Wingdings 2" panose="05020102010507070707" pitchFamily="18" charset="2"/>
                        </a:rPr>
                        <a:t>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1" dirty="0">
                          <a:solidFill>
                            <a:srgbClr val="FF0000"/>
                          </a:solidFill>
                          <a:sym typeface="Wingdings 2" panose="05020102010507070707" pitchFamily="18" charset="2"/>
                        </a:rPr>
                        <a:t>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1" dirty="0">
                          <a:solidFill>
                            <a:srgbClr val="FF0000"/>
                          </a:solidFill>
                          <a:sym typeface="Wingdings 2" panose="05020102010507070707" pitchFamily="18" charset="2"/>
                        </a:rPr>
                        <a:t>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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0509392"/>
                  </a:ext>
                </a:extLst>
              </a:tr>
              <a:tr h="6678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 err="1"/>
                        <a:t>WikiPathways</a:t>
                      </a:r>
                      <a:endParaRPr lang="zh-TW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1" dirty="0">
                          <a:solidFill>
                            <a:srgbClr val="FF0000"/>
                          </a:solidFill>
                          <a:sym typeface="Wingdings 2" panose="05020102010507070707" pitchFamily="18" charset="2"/>
                        </a:rPr>
                        <a:t>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rgbClr val="00B0F0"/>
                          </a:solidFill>
                          <a:sym typeface="Wingdings 2" panose="05020102010507070707" pitchFamily="18" charset="2"/>
                        </a:rPr>
                        <a:t></a:t>
                      </a:r>
                      <a:endParaRPr lang="zh-TW" altLang="en-US" sz="1800" b="1" dirty="0">
                        <a:solidFill>
                          <a:srgbClr val="00B0F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 2" panose="05020102010507070707" pitchFamily="18" charset="2"/>
                        </a:rPr>
                        <a:t>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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 2" panose="05020102010507070707" pitchFamily="18" charset="2"/>
                        </a:rPr>
                        <a:t>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rgbClr val="00B0F0"/>
                          </a:solidFill>
                          <a:sym typeface="Wingdings 2" panose="05020102010507070707" pitchFamily="18" charset="2"/>
                        </a:rPr>
                        <a:t></a:t>
                      </a:r>
                      <a:endParaRPr lang="zh-TW" altLang="en-US" sz="1800" b="1" dirty="0">
                        <a:solidFill>
                          <a:srgbClr val="00B0F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6349636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256B9C9F-0E1F-0B71-5C16-604A216B1E40}"/>
              </a:ext>
            </a:extLst>
          </p:cNvPr>
          <p:cNvSpPr txBox="1"/>
          <p:nvPr/>
        </p:nvSpPr>
        <p:spPr>
          <a:xfrm>
            <a:off x="5486401" y="6001901"/>
            <a:ext cx="57871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/>
              <a:t>* </a:t>
            </a:r>
            <a:r>
              <a:rPr lang="zh-TW" altLang="zh-TW" sz="1600" dirty="0"/>
              <a:t>The significance level is set at 0.25, which is very lenient</a:t>
            </a:r>
            <a:r>
              <a:rPr lang="en-US" altLang="zh-TW" sz="1600" dirty="0"/>
              <a:t>.</a:t>
            </a:r>
            <a:endParaRPr lang="zh-TW" altLang="zh-TW" sz="1600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B3074970-A77A-E9B1-97AC-B6B632B23A96}"/>
              </a:ext>
            </a:extLst>
          </p:cNvPr>
          <p:cNvSpPr txBox="1"/>
          <p:nvPr/>
        </p:nvSpPr>
        <p:spPr>
          <a:xfrm>
            <a:off x="8502692" y="6340455"/>
            <a:ext cx="27708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600" dirty="0"/>
              <a:t>(</a:t>
            </a:r>
            <a:r>
              <a:rPr lang="zh-TW" altLang="zh-TW" sz="1600" dirty="0"/>
              <a:t>Subramanian</a:t>
            </a:r>
            <a:r>
              <a:rPr lang="en-US" altLang="zh-TW" sz="1600" dirty="0"/>
              <a:t> et al., 2005)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843355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584C4-30AF-AAE7-0328-BC9A0858F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B86FB6-245D-8FC9-E705-EAC379B65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Future works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1A22642-3358-83AA-F065-BDDFECE0C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E3CC972-C540-C583-6FA5-D3C0E618BD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r>
              <a:rPr lang="zh-TW" altLang="zh-TW" dirty="0"/>
              <a:t>Based on the database annotations, identify the biological pathways that achieved statistical significance and examine the potential biological significance of the features learned by the model.</a:t>
            </a:r>
            <a:endParaRPr lang="en-US" altLang="zh-TW" dirty="0"/>
          </a:p>
          <a:p>
            <a:endParaRPr lang="zh-TW" altLang="zh-TW" dirty="0"/>
          </a:p>
          <a:p>
            <a:r>
              <a:rPr lang="zh-TW" altLang="zh-TW" dirty="0"/>
              <a:t>Analyze gene topological relationships using raw RNA data and WGCNA.</a:t>
            </a:r>
            <a:r>
              <a:rPr lang="en-US" altLang="zh-TW" dirty="0"/>
              <a:t> </a:t>
            </a:r>
          </a:p>
          <a:p>
            <a:endParaRPr lang="en-US" altLang="zh-TW" dirty="0"/>
          </a:p>
          <a:p>
            <a:r>
              <a:rPr lang="zh-TW" altLang="zh-TW" dirty="0"/>
              <a:t>It is not yet clear how to resolve the issue with XGBoost.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45544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90FC2-61F5-8D5F-B088-51759F9AC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EB38E9-1FF3-C6BE-7125-F9C7D57E74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2660" y="1318591"/>
            <a:ext cx="2772372" cy="4220820"/>
          </a:xfrm>
        </p:spPr>
        <p:txBody>
          <a:bodyPr anchor="ctr">
            <a:normAutofit/>
          </a:bodyPr>
          <a:lstStyle/>
          <a:p>
            <a:pPr algn="r"/>
            <a:r>
              <a:rPr lang="en-US" altLang="zh-TW" sz="6600" dirty="0">
                <a:solidFill>
                  <a:schemeClr val="tx2">
                    <a:lumMod val="75000"/>
                  </a:schemeClr>
                </a:solidFill>
              </a:rPr>
              <a:t>Aim 2</a:t>
            </a:r>
            <a:endParaRPr lang="zh-TW" altLang="en-US" sz="66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722C5C0-3664-341D-00B6-2A00A7809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1271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053B7-7E3F-DE48-9226-048BD2DF4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895BE6-1705-23BD-F2CD-285B05B79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Data </a:t>
            </a:r>
            <a:r>
              <a:rPr lang="en-US" altLang="zh-TW" dirty="0"/>
              <a:t>information</a:t>
            </a:r>
            <a:endParaRPr lang="zh-TW" altLang="zh-TW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6C22DD0-0D3D-E450-447D-4CB626371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Ravindra2021</a:t>
            </a:r>
            <a:r>
              <a:rPr lang="en-US" altLang="zh-TW" dirty="0"/>
              <a:t>:</a:t>
            </a:r>
          </a:p>
          <a:p>
            <a:pPr marL="400050" lvl="1" indent="0">
              <a:buNone/>
            </a:pPr>
            <a:r>
              <a:rPr lang="en-US" altLang="zh-TW" dirty="0"/>
              <a:t>RNA raw count data comprising 77,668 cells and 33,539 genes</a:t>
            </a:r>
            <a:r>
              <a:rPr lang="zh-TW" altLang="zh-TW" dirty="0"/>
              <a:t>.</a:t>
            </a:r>
          </a:p>
          <a:p>
            <a:endParaRPr lang="en-US" altLang="zh-TW" dirty="0"/>
          </a:p>
          <a:p>
            <a:r>
              <a:rPr lang="zh-TW" altLang="zh-TW" dirty="0"/>
              <a:t>Key fields</a:t>
            </a:r>
            <a:r>
              <a:rPr lang="en-US" altLang="zh-TW" dirty="0"/>
              <a:t>:</a:t>
            </a:r>
          </a:p>
          <a:p>
            <a:pPr marL="400050" lvl="1" indent="0">
              <a:buNone/>
            </a:pPr>
            <a:r>
              <a:rPr lang="en-US" altLang="zh-TW" dirty="0"/>
              <a:t>‘</a:t>
            </a:r>
            <a:r>
              <a:rPr lang="zh-TW" altLang="zh-TW" dirty="0"/>
              <a:t>pmito</a:t>
            </a:r>
            <a:r>
              <a:rPr lang="en-US" altLang="zh-TW" dirty="0"/>
              <a:t>’</a:t>
            </a:r>
            <a:r>
              <a:rPr lang="zh-TW" altLang="zh-TW" dirty="0"/>
              <a:t>,</a:t>
            </a:r>
            <a:r>
              <a:rPr lang="en-US" altLang="zh-TW" dirty="0"/>
              <a:t> ‘</a:t>
            </a:r>
            <a:r>
              <a:rPr lang="zh-TW" altLang="zh-TW" dirty="0"/>
              <a:t>n_genes</a:t>
            </a:r>
            <a:r>
              <a:rPr lang="en-US" altLang="zh-TW" dirty="0"/>
              <a:t>’, ‘</a:t>
            </a:r>
            <a:r>
              <a:rPr lang="zh-TW" altLang="zh-TW" dirty="0"/>
              <a:t>Viral_transcript</a:t>
            </a:r>
            <a:r>
              <a:rPr lang="en-US" altLang="zh-TW" dirty="0"/>
              <a:t>’, ‘</a:t>
            </a:r>
            <a:r>
              <a:rPr lang="zh-TW" altLang="zh-TW" dirty="0"/>
              <a:t>Condition</a:t>
            </a:r>
            <a:r>
              <a:rPr lang="en-US" altLang="zh-TW" dirty="0"/>
              <a:t>’, 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C5F3D97-7EA9-E711-B2F2-F5102244B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2206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F468A-9A64-820D-0765-1CFA58184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BDEF14-D837-A4F2-F78D-F043CE02A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Data preprocessing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9885AC6-D696-82BF-4B16-C2D7C540F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9</a:t>
            </a:fld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6756FC7-73AD-C505-F7A8-0C97D6F4DFD0}"/>
              </a:ext>
            </a:extLst>
          </p:cNvPr>
          <p:cNvSpPr txBox="1"/>
          <p:nvPr/>
        </p:nvSpPr>
        <p:spPr>
          <a:xfrm>
            <a:off x="1022817" y="1855819"/>
            <a:ext cx="31359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2000" dirty="0"/>
              <a:t>Quality Control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917516A9-5288-9026-0A74-DC85F7DCE5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80" y="2756879"/>
            <a:ext cx="1138653" cy="999998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56B0CD0B-83AB-A23E-86C3-4D38259BA7BC}"/>
              </a:ext>
            </a:extLst>
          </p:cNvPr>
          <p:cNvSpPr txBox="1"/>
          <p:nvPr/>
        </p:nvSpPr>
        <p:spPr>
          <a:xfrm>
            <a:off x="2046658" y="2841380"/>
            <a:ext cx="21121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P</a:t>
            </a:r>
            <a:r>
              <a:rPr lang="zh-TW" altLang="zh-TW" sz="1600" dirty="0"/>
              <a:t>mito</a:t>
            </a:r>
            <a:r>
              <a:rPr lang="zh-TW" altLang="en-US" sz="1600" dirty="0"/>
              <a:t> </a:t>
            </a:r>
            <a:r>
              <a:rPr lang="en-US" altLang="zh-TW" sz="1600" dirty="0"/>
              <a:t>&lt;</a:t>
            </a:r>
            <a:r>
              <a:rPr lang="zh-TW" altLang="en-US" sz="1600" dirty="0"/>
              <a:t> </a:t>
            </a:r>
            <a:r>
              <a:rPr lang="en-US" altLang="zh-TW" sz="1600" dirty="0"/>
              <a:t>0.2</a:t>
            </a:r>
          </a:p>
          <a:p>
            <a:endParaRPr lang="en-US" altLang="zh-TW" sz="1600" dirty="0"/>
          </a:p>
          <a:p>
            <a:r>
              <a:rPr lang="en-US" altLang="zh-TW" sz="1600" dirty="0"/>
              <a:t>n</a:t>
            </a:r>
            <a:r>
              <a:rPr lang="zh-TW" altLang="zh-TW" sz="1600" dirty="0"/>
              <a:t>_genes</a:t>
            </a:r>
            <a:r>
              <a:rPr lang="en-US" altLang="zh-TW" sz="1600" dirty="0"/>
              <a:t> &gt; 500</a:t>
            </a:r>
            <a:endParaRPr lang="zh-TW" altLang="en-US" sz="1600" dirty="0"/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8E0D8B08-F595-E81A-8925-B1B0045AEA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817" y="4519844"/>
            <a:ext cx="832096" cy="1066064"/>
          </a:xfrm>
          <a:prstGeom prst="rect">
            <a:avLst/>
          </a:prstGeom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FB45BD4E-6046-02B1-8C5C-2F9AB00E3CCA}"/>
              </a:ext>
            </a:extLst>
          </p:cNvPr>
          <p:cNvSpPr txBox="1"/>
          <p:nvPr/>
        </p:nvSpPr>
        <p:spPr>
          <a:xfrm>
            <a:off x="2046658" y="4889736"/>
            <a:ext cx="21121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 err="1"/>
              <a:t>Min_cells</a:t>
            </a:r>
            <a:r>
              <a:rPr lang="en-US" altLang="zh-TW" sz="1600" dirty="0"/>
              <a:t>= 10</a:t>
            </a:r>
            <a:endParaRPr lang="zh-TW" altLang="en-US" sz="1600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E36A34E3-E38A-5E49-A407-139447763D04}"/>
              </a:ext>
            </a:extLst>
          </p:cNvPr>
          <p:cNvSpPr txBox="1"/>
          <p:nvPr/>
        </p:nvSpPr>
        <p:spPr>
          <a:xfrm>
            <a:off x="5406620" y="1844204"/>
            <a:ext cx="42528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/>
              <a:t>C</a:t>
            </a:r>
            <a:r>
              <a:rPr lang="zh-TW" altLang="zh-TW" sz="2000" dirty="0"/>
              <a:t>ells with high-confidence labels</a:t>
            </a:r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D911F92F-69FB-AB3F-24F3-E81D795DC6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3235" y="4515540"/>
            <a:ext cx="1233519" cy="1068130"/>
          </a:xfrm>
          <a:prstGeom prst="rect">
            <a:avLst/>
          </a:prstGeom>
        </p:spPr>
      </p:pic>
      <p:grpSp>
        <p:nvGrpSpPr>
          <p:cNvPr id="33" name="群組 32">
            <a:extLst>
              <a:ext uri="{FF2B5EF4-FFF2-40B4-BE49-F238E27FC236}">
                <a16:creationId xmlns:a16="http://schemas.microsoft.com/office/drawing/2014/main" id="{5269BB12-A7B1-C989-1244-AE99BE116C93}"/>
              </a:ext>
            </a:extLst>
          </p:cNvPr>
          <p:cNvGrpSpPr/>
          <p:nvPr/>
        </p:nvGrpSpPr>
        <p:grpSpPr>
          <a:xfrm>
            <a:off x="9659502" y="2454256"/>
            <a:ext cx="2399534" cy="2436241"/>
            <a:chOff x="9250693" y="4066345"/>
            <a:chExt cx="2399534" cy="2436241"/>
          </a:xfrm>
        </p:grpSpPr>
        <p:pic>
          <p:nvPicPr>
            <p:cNvPr id="26" name="圖片 25">
              <a:extLst>
                <a:ext uri="{FF2B5EF4-FFF2-40B4-BE49-F238E27FC236}">
                  <a16:creationId xmlns:a16="http://schemas.microsoft.com/office/drawing/2014/main" id="{C0673E75-C346-E305-F15E-0C4CBC36F20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59502" y="4066345"/>
              <a:ext cx="1581917" cy="356420"/>
            </a:xfrm>
            <a:prstGeom prst="rect">
              <a:avLst/>
            </a:prstGeom>
          </p:spPr>
        </p:pic>
        <p:pic>
          <p:nvPicPr>
            <p:cNvPr id="28" name="圖片 27">
              <a:extLst>
                <a:ext uri="{FF2B5EF4-FFF2-40B4-BE49-F238E27FC236}">
                  <a16:creationId xmlns:a16="http://schemas.microsoft.com/office/drawing/2014/main" id="{F9E7BFBD-9069-4FC4-5712-9EAE25A6C28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59502" y="4593234"/>
              <a:ext cx="1404873" cy="368721"/>
            </a:xfrm>
            <a:prstGeom prst="rect">
              <a:avLst/>
            </a:prstGeom>
          </p:spPr>
        </p:pic>
        <p:pic>
          <p:nvPicPr>
            <p:cNvPr id="30" name="圖片 29">
              <a:extLst>
                <a:ext uri="{FF2B5EF4-FFF2-40B4-BE49-F238E27FC236}">
                  <a16:creationId xmlns:a16="http://schemas.microsoft.com/office/drawing/2014/main" id="{1ABF89C6-C431-4805-BD5D-01E6A1D00EA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0693" y="5184732"/>
              <a:ext cx="2399534" cy="1317854"/>
            </a:xfrm>
            <a:prstGeom prst="rect">
              <a:avLst/>
            </a:prstGeom>
          </p:spPr>
        </p:pic>
      </p:grp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DCC581FB-25D3-819E-0FF0-BE55815F43A1}"/>
              </a:ext>
            </a:extLst>
          </p:cNvPr>
          <p:cNvSpPr txBox="1"/>
          <p:nvPr/>
        </p:nvSpPr>
        <p:spPr>
          <a:xfrm>
            <a:off x="6844701" y="2509529"/>
            <a:ext cx="21520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1600" dirty="0"/>
              <a:t>Viral_transcript</a:t>
            </a:r>
            <a:r>
              <a:rPr lang="en-US" altLang="zh-TW" sz="1600" dirty="0"/>
              <a:t> &gt; </a:t>
            </a:r>
            <a:r>
              <a:rPr lang="en-US" altLang="zh-TW" sz="1600" dirty="0" err="1"/>
              <a:t>T</a:t>
            </a:r>
            <a:r>
              <a:rPr lang="en-US" altLang="zh-TW" sz="1100" dirty="0" err="1"/>
              <a:t>inf</a:t>
            </a:r>
            <a:endParaRPr lang="zh-TW" altLang="zh-TW" sz="1100" dirty="0"/>
          </a:p>
          <a:p>
            <a:endParaRPr lang="en-US" altLang="zh-TW" sz="1600" dirty="0"/>
          </a:p>
          <a:p>
            <a:r>
              <a:rPr lang="en-US" altLang="zh-TW" sz="1600" dirty="0"/>
              <a:t>Condition != Mock</a:t>
            </a:r>
          </a:p>
          <a:p>
            <a:endParaRPr lang="en-US" altLang="zh-TW" sz="1600" dirty="0"/>
          </a:p>
          <a:p>
            <a:r>
              <a:rPr lang="en-US" altLang="zh-TW" sz="1600" dirty="0"/>
              <a:t>n</a:t>
            </a:r>
            <a:r>
              <a:rPr lang="zh-TW" altLang="zh-TW" sz="1600" dirty="0"/>
              <a:t>_genes</a:t>
            </a:r>
            <a:r>
              <a:rPr lang="en-US" altLang="zh-TW" sz="1600" dirty="0"/>
              <a:t> &gt; 1000</a:t>
            </a:r>
            <a:endParaRPr lang="zh-TW" altLang="en-US" sz="1600" dirty="0"/>
          </a:p>
        </p:txBody>
      </p:sp>
      <p:sp>
        <p:nvSpPr>
          <p:cNvPr id="34" name="箭號: 向右 33">
            <a:extLst>
              <a:ext uri="{FF2B5EF4-FFF2-40B4-BE49-F238E27FC236}">
                <a16:creationId xmlns:a16="http://schemas.microsoft.com/office/drawing/2014/main" id="{5941DAF7-7602-8E7E-74F0-6C9AB1FF2BA7}"/>
              </a:ext>
            </a:extLst>
          </p:cNvPr>
          <p:cNvSpPr/>
          <p:nvPr/>
        </p:nvSpPr>
        <p:spPr>
          <a:xfrm>
            <a:off x="3952172" y="3832968"/>
            <a:ext cx="736429" cy="33855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6" name="圖片 35">
            <a:extLst>
              <a:ext uri="{FF2B5EF4-FFF2-40B4-BE49-F238E27FC236}">
                <a16:creationId xmlns:a16="http://schemas.microsoft.com/office/drawing/2014/main" id="{13202AB5-C4F7-51A3-A8E0-EF1F2458459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962" y="2590944"/>
            <a:ext cx="1418136" cy="1066064"/>
          </a:xfrm>
          <a:prstGeom prst="rect">
            <a:avLst/>
          </a:prstGeom>
        </p:spPr>
      </p:pic>
      <p:sp>
        <p:nvSpPr>
          <p:cNvPr id="38" name="文字方塊 37">
            <a:extLst>
              <a:ext uri="{FF2B5EF4-FFF2-40B4-BE49-F238E27FC236}">
                <a16:creationId xmlns:a16="http://schemas.microsoft.com/office/drawing/2014/main" id="{688E8E9F-7996-6CE7-4A71-1ECF9FBB11EB}"/>
              </a:ext>
            </a:extLst>
          </p:cNvPr>
          <p:cNvSpPr txBox="1"/>
          <p:nvPr/>
        </p:nvSpPr>
        <p:spPr>
          <a:xfrm>
            <a:off x="6946981" y="4637377"/>
            <a:ext cx="21520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1600" dirty="0"/>
              <a:t>Viral_transcript</a:t>
            </a:r>
            <a:r>
              <a:rPr lang="en-US" altLang="zh-TW" sz="1600" dirty="0"/>
              <a:t> = 0</a:t>
            </a:r>
            <a:endParaRPr lang="zh-TW" altLang="zh-TW" sz="1100" dirty="0"/>
          </a:p>
          <a:p>
            <a:endParaRPr lang="en-US" altLang="zh-TW" sz="1600" dirty="0"/>
          </a:p>
          <a:p>
            <a:r>
              <a:rPr lang="en-US" altLang="zh-TW" sz="1600" dirty="0"/>
              <a:t>Condition = Mock</a:t>
            </a: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2566E7B7-AAD3-05DB-17F6-36723D025DA0}"/>
              </a:ext>
            </a:extLst>
          </p:cNvPr>
          <p:cNvSpPr txBox="1"/>
          <p:nvPr/>
        </p:nvSpPr>
        <p:spPr>
          <a:xfrm>
            <a:off x="4651780" y="2587602"/>
            <a:ext cx="754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600" b="1" dirty="0">
                <a:solidFill>
                  <a:srgbClr val="00B050"/>
                </a:solidFill>
              </a:rPr>
              <a:t>1713</a:t>
            </a:r>
            <a:endParaRPr lang="zh-TW" altLang="en-US" sz="1600" b="1" dirty="0">
              <a:solidFill>
                <a:srgbClr val="00B050"/>
              </a:solidFill>
            </a:endParaRP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2F6675A2-82B0-CEFF-6381-8A9260A1F5F7}"/>
              </a:ext>
            </a:extLst>
          </p:cNvPr>
          <p:cNvSpPr txBox="1"/>
          <p:nvPr/>
        </p:nvSpPr>
        <p:spPr>
          <a:xfrm>
            <a:off x="4613152" y="4442848"/>
            <a:ext cx="8320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zh-TW" sz="1600" b="1" dirty="0">
                <a:solidFill>
                  <a:srgbClr val="FF0000"/>
                </a:solidFill>
              </a:rPr>
              <a:t>22080</a:t>
            </a:r>
            <a:endParaRPr lang="zh-TW" altLang="en-US" sz="1400" b="1" dirty="0">
              <a:solidFill>
                <a:srgbClr val="FF0000"/>
              </a:solidFill>
            </a:endParaRP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B69DE469-2F16-9BA4-A052-5D04347E5284}"/>
              </a:ext>
            </a:extLst>
          </p:cNvPr>
          <p:cNvSpPr txBox="1"/>
          <p:nvPr/>
        </p:nvSpPr>
        <p:spPr>
          <a:xfrm>
            <a:off x="4651780" y="6108498"/>
            <a:ext cx="23904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* </a:t>
            </a:r>
            <a:r>
              <a:rPr lang="zh-TW" altLang="zh-TW" sz="1600" b="1" dirty="0"/>
              <a:t>50295</a:t>
            </a:r>
            <a:r>
              <a:rPr lang="en-US" altLang="zh-TW" sz="1600" b="1" dirty="0"/>
              <a:t> Unknown cell</a:t>
            </a:r>
            <a:endParaRPr lang="zh-TW" altLang="zh-TW" sz="1600" b="1" dirty="0"/>
          </a:p>
        </p:txBody>
      </p:sp>
    </p:spTree>
    <p:extLst>
      <p:ext uri="{BB962C8B-B14F-4D97-AF65-F5344CB8AC3E}">
        <p14:creationId xmlns:p14="http://schemas.microsoft.com/office/powerpoint/2010/main" val="26895876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97B9C-5262-894D-91BE-B892C888D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148E68-D7ED-C8A7-B6E3-031B1AD56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Topological relationships of cells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E54FED8-9E66-E9E2-C145-7513B641B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10</a:t>
            </a:fld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7F7B512-2C03-3EF0-5519-297DA2178946}"/>
              </a:ext>
            </a:extLst>
          </p:cNvPr>
          <p:cNvSpPr txBox="1"/>
          <p:nvPr/>
        </p:nvSpPr>
        <p:spPr>
          <a:xfrm>
            <a:off x="740847" y="2155582"/>
            <a:ext cx="4667124" cy="338554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zh-TW" sz="1600" dirty="0"/>
              <a:t>Select the top 3,000 highly variable genes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AB02996-31D5-4AB3-6D79-CC9F457AA034}"/>
              </a:ext>
            </a:extLst>
          </p:cNvPr>
          <p:cNvSpPr txBox="1"/>
          <p:nvPr/>
        </p:nvSpPr>
        <p:spPr>
          <a:xfrm>
            <a:off x="740847" y="3679582"/>
            <a:ext cx="4837987" cy="338554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zh-TW" sz="1600" dirty="0"/>
              <a:t>Performing clustering using PCA</a:t>
            </a:r>
            <a:r>
              <a:rPr lang="en-US" altLang="zh-TW" sz="1600" dirty="0"/>
              <a:t>(</a:t>
            </a:r>
            <a:r>
              <a:rPr lang="en-US" altLang="zh-TW" sz="1600" dirty="0" err="1"/>
              <a:t>n_comps</a:t>
            </a:r>
            <a:r>
              <a:rPr lang="en-US" altLang="zh-TW" sz="1600" dirty="0"/>
              <a:t> = 50)</a:t>
            </a:r>
            <a:endParaRPr lang="zh-TW" altLang="zh-TW" sz="1600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4128528B-61C1-342F-1E55-472500D662F4}"/>
              </a:ext>
            </a:extLst>
          </p:cNvPr>
          <p:cNvSpPr txBox="1"/>
          <p:nvPr/>
        </p:nvSpPr>
        <p:spPr>
          <a:xfrm>
            <a:off x="919356" y="5474071"/>
            <a:ext cx="4310104" cy="369332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zh-TW" sz="1600" dirty="0"/>
              <a:t>Construct a KNN graph</a:t>
            </a:r>
            <a:r>
              <a:rPr lang="en-US" altLang="zh-TW" sz="1600" dirty="0"/>
              <a:t>(</a:t>
            </a:r>
            <a:r>
              <a:rPr lang="zh-TW" altLang="zh-TW" dirty="0"/>
              <a:t>n_neighbors=15</a:t>
            </a:r>
            <a:r>
              <a:rPr lang="en-US" altLang="zh-TW" sz="1600" dirty="0"/>
              <a:t>)</a:t>
            </a:r>
            <a:endParaRPr lang="zh-TW" altLang="zh-TW" sz="1600" dirty="0"/>
          </a:p>
        </p:txBody>
      </p:sp>
      <p:sp>
        <p:nvSpPr>
          <p:cNvPr id="17" name="箭號: 向右 16">
            <a:extLst>
              <a:ext uri="{FF2B5EF4-FFF2-40B4-BE49-F238E27FC236}">
                <a16:creationId xmlns:a16="http://schemas.microsoft.com/office/drawing/2014/main" id="{9E2742E9-7DAA-745E-D2AB-05EEB7CF3B98}"/>
              </a:ext>
            </a:extLst>
          </p:cNvPr>
          <p:cNvSpPr/>
          <p:nvPr/>
        </p:nvSpPr>
        <p:spPr>
          <a:xfrm rot="5400000">
            <a:off x="2798737" y="3009891"/>
            <a:ext cx="551342" cy="2306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箭號: 向右 20">
            <a:extLst>
              <a:ext uri="{FF2B5EF4-FFF2-40B4-BE49-F238E27FC236}">
                <a16:creationId xmlns:a16="http://schemas.microsoft.com/office/drawing/2014/main" id="{974A855E-33F2-459F-6BC7-C054FD986DFE}"/>
              </a:ext>
            </a:extLst>
          </p:cNvPr>
          <p:cNvSpPr/>
          <p:nvPr/>
        </p:nvSpPr>
        <p:spPr>
          <a:xfrm rot="5400000">
            <a:off x="2798737" y="4610603"/>
            <a:ext cx="551342" cy="2306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12692199-66EB-4F6A-A544-BC880D37D9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4145" y="1487690"/>
            <a:ext cx="5942491" cy="1895791"/>
          </a:xfrm>
          <a:prstGeom prst="rect">
            <a:avLst/>
          </a:prstGeom>
        </p:spPr>
      </p:pic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DCD8C64A-60AA-4869-C23A-552B4892C8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4477001"/>
              </p:ext>
            </p:extLst>
          </p:nvPr>
        </p:nvGraphicFramePr>
        <p:xfrm>
          <a:off x="6068702" y="3582130"/>
          <a:ext cx="5673376" cy="2651760"/>
        </p:xfrm>
        <a:graphic>
          <a:graphicData uri="http://schemas.openxmlformats.org/drawingml/2006/table">
            <a:tbl>
              <a:tblPr/>
              <a:tblGrid>
                <a:gridCol w="1418344">
                  <a:extLst>
                    <a:ext uri="{9D8B030D-6E8A-4147-A177-3AD203B41FA5}">
                      <a16:colId xmlns:a16="http://schemas.microsoft.com/office/drawing/2014/main" val="897932352"/>
                    </a:ext>
                  </a:extLst>
                </a:gridCol>
                <a:gridCol w="1418344">
                  <a:extLst>
                    <a:ext uri="{9D8B030D-6E8A-4147-A177-3AD203B41FA5}">
                      <a16:colId xmlns:a16="http://schemas.microsoft.com/office/drawing/2014/main" val="4161012092"/>
                    </a:ext>
                  </a:extLst>
                </a:gridCol>
                <a:gridCol w="1418344">
                  <a:extLst>
                    <a:ext uri="{9D8B030D-6E8A-4147-A177-3AD203B41FA5}">
                      <a16:colId xmlns:a16="http://schemas.microsoft.com/office/drawing/2014/main" val="3336251322"/>
                    </a:ext>
                  </a:extLst>
                </a:gridCol>
                <a:gridCol w="1418344">
                  <a:extLst>
                    <a:ext uri="{9D8B030D-6E8A-4147-A177-3AD203B41FA5}">
                      <a16:colId xmlns:a16="http://schemas.microsoft.com/office/drawing/2014/main" val="1769316306"/>
                    </a:ext>
                  </a:extLst>
                </a:gridCol>
              </a:tblGrid>
              <a:tr h="234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200"/>
                        <a:t>Cell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/>
                        <a:t>Uninfected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/>
                        <a:t>Infected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/>
                        <a:t>Infection 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3290973"/>
                  </a:ext>
                </a:extLst>
              </a:tr>
              <a:tr h="234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200" dirty="0"/>
                        <a:t>BC/Club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/>
                        <a:t>1521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/>
                        <a:t>124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/>
                        <a:t>7.5%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417708"/>
                  </a:ext>
                </a:extLst>
              </a:tr>
              <a:tr h="234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200"/>
                        <a:t>Basal cells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/>
                        <a:t>9549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/>
                        <a:t>169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/>
                        <a:t>1.7%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6581397"/>
                  </a:ext>
                </a:extLst>
              </a:tr>
              <a:tr h="234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200" b="1" dirty="0">
                          <a:solidFill>
                            <a:schemeClr val="accent1"/>
                          </a:solidFill>
                        </a:rPr>
                        <a:t>Ciliated cells</a:t>
                      </a:r>
                      <a:endParaRPr lang="zh-TW" sz="12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 b="1">
                          <a:solidFill>
                            <a:schemeClr val="accent1"/>
                          </a:solidFill>
                        </a:rPr>
                        <a:t>6208</a:t>
                      </a:r>
                      <a:endParaRPr lang="zh-TW" sz="120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 b="1">
                          <a:solidFill>
                            <a:schemeClr val="accent1"/>
                          </a:solidFill>
                        </a:rPr>
                        <a:t>1222</a:t>
                      </a:r>
                      <a:endParaRPr lang="zh-TW" sz="120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 b="1" dirty="0">
                          <a:solidFill>
                            <a:schemeClr val="accent1"/>
                          </a:solidFill>
                        </a:rPr>
                        <a:t>16.4%</a:t>
                      </a:r>
                      <a:endParaRPr lang="zh-TW" sz="12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8344141"/>
                  </a:ext>
                </a:extLst>
              </a:tr>
              <a:tr h="234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200"/>
                        <a:t>Club cells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/>
                        <a:t>4493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/>
                        <a:t>194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/>
                        <a:t>4.1%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62079"/>
                  </a:ext>
                </a:extLst>
              </a:tr>
              <a:tr h="234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200"/>
                        <a:t>Goblet cells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/>
                        <a:t>43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/>
                        <a:t>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1561233"/>
                  </a:ext>
                </a:extLst>
              </a:tr>
              <a:tr h="234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200" dirty="0"/>
                        <a:t>Ionocytes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 dirty="0"/>
                        <a:t>123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/>
                        <a:t>1.6%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4610050"/>
                  </a:ext>
                </a:extLst>
              </a:tr>
              <a:tr h="3905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200"/>
                        <a:t>Neuroendocrine cells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/>
                        <a:t>74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/>
                        <a:t>2.6%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1601872"/>
                  </a:ext>
                </a:extLst>
              </a:tr>
              <a:tr h="234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200"/>
                        <a:t>Tuft cells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/>
                        <a:t>69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 dirty="0"/>
                        <a:t>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3526411"/>
                  </a:ext>
                </a:extLst>
              </a:tr>
            </a:tbl>
          </a:graphicData>
        </a:graphic>
      </p:graphicFrame>
      <p:sp>
        <p:nvSpPr>
          <p:cNvPr id="29" name="文字方塊 28">
            <a:extLst>
              <a:ext uri="{FF2B5EF4-FFF2-40B4-BE49-F238E27FC236}">
                <a16:creationId xmlns:a16="http://schemas.microsoft.com/office/drawing/2014/main" id="{13777BAF-52FD-D855-192A-5514D3387DEC}"/>
              </a:ext>
            </a:extLst>
          </p:cNvPr>
          <p:cNvSpPr txBox="1"/>
          <p:nvPr/>
        </p:nvSpPr>
        <p:spPr>
          <a:xfrm>
            <a:off x="5934145" y="6432539"/>
            <a:ext cx="19149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/>
              <a:t>* P-value &lt; 0.001 </a:t>
            </a:r>
            <a:endParaRPr lang="zh-TW" altLang="zh-TW" sz="1600" dirty="0"/>
          </a:p>
        </p:txBody>
      </p:sp>
    </p:spTree>
    <p:extLst>
      <p:ext uri="{BB962C8B-B14F-4D97-AF65-F5344CB8AC3E}">
        <p14:creationId xmlns:p14="http://schemas.microsoft.com/office/powerpoint/2010/main" val="106950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11DBE-FF14-5746-5D6F-63B543819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061744-BB47-11A9-9725-7F0749ED2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GCN model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07C1A92-0EA9-D377-A6F8-A3724F833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11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AF17326-44F9-8C17-B33F-719F7943E3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8426" y="533874"/>
            <a:ext cx="3262049" cy="4032154"/>
          </a:xfrm>
          <a:prstGeom prst="rect">
            <a:avLst/>
          </a:prstGeom>
        </p:spPr>
      </p:pic>
      <p:grpSp>
        <p:nvGrpSpPr>
          <p:cNvPr id="27" name="群組 26">
            <a:extLst>
              <a:ext uri="{FF2B5EF4-FFF2-40B4-BE49-F238E27FC236}">
                <a16:creationId xmlns:a16="http://schemas.microsoft.com/office/drawing/2014/main" id="{A3992759-24F0-1145-F984-1140E81CBEFB}"/>
              </a:ext>
            </a:extLst>
          </p:cNvPr>
          <p:cNvGrpSpPr/>
          <p:nvPr/>
        </p:nvGrpSpPr>
        <p:grpSpPr>
          <a:xfrm>
            <a:off x="8321653" y="4743773"/>
            <a:ext cx="3041315" cy="1768466"/>
            <a:chOff x="8873975" y="4406243"/>
            <a:chExt cx="3041315" cy="1768466"/>
          </a:xfrm>
        </p:grpSpPr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5B63523C-1705-8B10-42CB-C97B5933FB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76598" y="4406243"/>
              <a:ext cx="2938692" cy="1185864"/>
            </a:xfrm>
            <a:prstGeom prst="rect">
              <a:avLst/>
            </a:prstGeom>
          </p:spPr>
        </p:pic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007FCDD6-B027-F486-0F76-FFFAA27CBB76}"/>
                </a:ext>
              </a:extLst>
            </p:cNvPr>
            <p:cNvSpPr txBox="1"/>
            <p:nvPr/>
          </p:nvSpPr>
          <p:spPr>
            <a:xfrm>
              <a:off x="8873975" y="5897710"/>
              <a:ext cx="266342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TW" altLang="zh-TW" sz="1200" dirty="0"/>
                <a:t>GCN (Kipf &amp; Welling ICLR 2017)</a:t>
              </a:r>
              <a:endParaRPr lang="zh-TW" altLang="en-US" sz="1200" dirty="0"/>
            </a:p>
          </p:txBody>
        </p:sp>
        <p:pic>
          <p:nvPicPr>
            <p:cNvPr id="16" name="圖片 15">
              <a:extLst>
                <a:ext uri="{FF2B5EF4-FFF2-40B4-BE49-F238E27FC236}">
                  <a16:creationId xmlns:a16="http://schemas.microsoft.com/office/drawing/2014/main" id="{6059A20C-566D-8AEB-828D-7E724561678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76598" y="5497155"/>
              <a:ext cx="2751042" cy="539055"/>
            </a:xfrm>
            <a:prstGeom prst="rect">
              <a:avLst/>
            </a:prstGeom>
          </p:spPr>
        </p:pic>
      </p:grp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11C325B0-F485-9672-56FE-C01F8A8A1405}"/>
              </a:ext>
            </a:extLst>
          </p:cNvPr>
          <p:cNvSpPr txBox="1"/>
          <p:nvPr/>
        </p:nvSpPr>
        <p:spPr>
          <a:xfrm>
            <a:off x="4096342" y="1825959"/>
            <a:ext cx="1284334" cy="338554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/>
              <a:t>All cells</a:t>
            </a:r>
            <a:endParaRPr lang="zh-TW" altLang="zh-TW" sz="1600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6B7167AA-30C6-5778-2AC0-90F24C2B1E33}"/>
              </a:ext>
            </a:extLst>
          </p:cNvPr>
          <p:cNvSpPr txBox="1"/>
          <p:nvPr/>
        </p:nvSpPr>
        <p:spPr>
          <a:xfrm>
            <a:off x="1183690" y="2728144"/>
            <a:ext cx="3063052" cy="58477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/>
              <a:t>Labeled cells</a:t>
            </a:r>
          </a:p>
          <a:p>
            <a:pPr algn="ctr"/>
            <a:r>
              <a:rPr lang="zh-TW" altLang="zh-TW" sz="1600" dirty="0"/>
              <a:t>Stratified Split</a:t>
            </a:r>
            <a:r>
              <a:rPr lang="en-US" altLang="zh-TW" sz="1600" dirty="0"/>
              <a:t> 80% / 20%</a:t>
            </a:r>
            <a:endParaRPr lang="zh-TW" altLang="zh-TW" sz="1600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42C48805-36DF-65F6-1E6D-375292A8AACE}"/>
              </a:ext>
            </a:extLst>
          </p:cNvPr>
          <p:cNvSpPr txBox="1"/>
          <p:nvPr/>
        </p:nvSpPr>
        <p:spPr>
          <a:xfrm>
            <a:off x="1631684" y="3966786"/>
            <a:ext cx="2167063" cy="338554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/>
              <a:t>Train / validation</a:t>
            </a:r>
            <a:endParaRPr lang="zh-TW" altLang="zh-TW" sz="1600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D3799A18-748D-C375-166E-7B4979036171}"/>
              </a:ext>
            </a:extLst>
          </p:cNvPr>
          <p:cNvSpPr txBox="1"/>
          <p:nvPr/>
        </p:nvSpPr>
        <p:spPr>
          <a:xfrm>
            <a:off x="5778197" y="2851254"/>
            <a:ext cx="2167063" cy="338554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/>
              <a:t>Unknown cells</a:t>
            </a:r>
            <a:endParaRPr lang="zh-TW" altLang="zh-TW" sz="1600" dirty="0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BF61CAD4-AC74-F3F1-6852-EF7EB0949665}"/>
              </a:ext>
            </a:extLst>
          </p:cNvPr>
          <p:cNvSpPr txBox="1"/>
          <p:nvPr/>
        </p:nvSpPr>
        <p:spPr>
          <a:xfrm>
            <a:off x="4035663" y="4963372"/>
            <a:ext cx="1835276" cy="338554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zh-TW" sz="1600" dirty="0"/>
              <a:t>GCN model</a:t>
            </a: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AA93DEFF-E271-D002-8CDA-EF70CBCF4734}"/>
              </a:ext>
            </a:extLst>
          </p:cNvPr>
          <p:cNvSpPr txBox="1"/>
          <p:nvPr/>
        </p:nvSpPr>
        <p:spPr>
          <a:xfrm>
            <a:off x="3651062" y="5895336"/>
            <a:ext cx="2604478" cy="338554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zh-TW" sz="1600" dirty="0"/>
              <a:t>Predict </a:t>
            </a:r>
            <a:r>
              <a:rPr lang="en-US" altLang="zh-TW" sz="1600" dirty="0"/>
              <a:t>u</a:t>
            </a:r>
            <a:r>
              <a:rPr lang="zh-TW" altLang="zh-TW" sz="1600" dirty="0"/>
              <a:t>nknown </a:t>
            </a:r>
            <a:r>
              <a:rPr lang="en-US" altLang="zh-TW" sz="1600" dirty="0"/>
              <a:t>c</a:t>
            </a:r>
            <a:r>
              <a:rPr lang="zh-TW" altLang="zh-TW" sz="1600" dirty="0"/>
              <a:t>ells</a:t>
            </a:r>
          </a:p>
        </p:txBody>
      </p:sp>
      <p:sp>
        <p:nvSpPr>
          <p:cNvPr id="38" name="箭號: 向右 37">
            <a:extLst>
              <a:ext uri="{FF2B5EF4-FFF2-40B4-BE49-F238E27FC236}">
                <a16:creationId xmlns:a16="http://schemas.microsoft.com/office/drawing/2014/main" id="{CD2CED3F-9187-6557-10C9-14F5C2E6727A}"/>
              </a:ext>
            </a:extLst>
          </p:cNvPr>
          <p:cNvSpPr/>
          <p:nvPr/>
        </p:nvSpPr>
        <p:spPr>
          <a:xfrm rot="7582017">
            <a:off x="3477717" y="2386502"/>
            <a:ext cx="338554" cy="1276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箭號: 向右 39">
            <a:extLst>
              <a:ext uri="{FF2B5EF4-FFF2-40B4-BE49-F238E27FC236}">
                <a16:creationId xmlns:a16="http://schemas.microsoft.com/office/drawing/2014/main" id="{E9E66010-FEAE-EE66-D6F7-B70DF934A2BB}"/>
              </a:ext>
            </a:extLst>
          </p:cNvPr>
          <p:cNvSpPr/>
          <p:nvPr/>
        </p:nvSpPr>
        <p:spPr>
          <a:xfrm rot="3173199">
            <a:off x="5661286" y="2385849"/>
            <a:ext cx="338554" cy="1276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箭號: 向右 41">
            <a:extLst>
              <a:ext uri="{FF2B5EF4-FFF2-40B4-BE49-F238E27FC236}">
                <a16:creationId xmlns:a16="http://schemas.microsoft.com/office/drawing/2014/main" id="{51A8EEF6-3BC1-784E-8A8B-28033084F09C}"/>
              </a:ext>
            </a:extLst>
          </p:cNvPr>
          <p:cNvSpPr/>
          <p:nvPr/>
        </p:nvSpPr>
        <p:spPr>
          <a:xfrm rot="5400000">
            <a:off x="2545937" y="3585708"/>
            <a:ext cx="338554" cy="1276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箭號: 向右 43">
            <a:extLst>
              <a:ext uri="{FF2B5EF4-FFF2-40B4-BE49-F238E27FC236}">
                <a16:creationId xmlns:a16="http://schemas.microsoft.com/office/drawing/2014/main" id="{C79FBFEA-CB36-D8BC-117B-5A2ABCEF5701}"/>
              </a:ext>
            </a:extLst>
          </p:cNvPr>
          <p:cNvSpPr/>
          <p:nvPr/>
        </p:nvSpPr>
        <p:spPr>
          <a:xfrm rot="3173199">
            <a:off x="3498571" y="4553196"/>
            <a:ext cx="338554" cy="1276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箭號: 向右 45">
            <a:extLst>
              <a:ext uri="{FF2B5EF4-FFF2-40B4-BE49-F238E27FC236}">
                <a16:creationId xmlns:a16="http://schemas.microsoft.com/office/drawing/2014/main" id="{AE8F7700-CB11-A62C-1370-16C33F8C2D3A}"/>
              </a:ext>
            </a:extLst>
          </p:cNvPr>
          <p:cNvSpPr/>
          <p:nvPr/>
        </p:nvSpPr>
        <p:spPr>
          <a:xfrm rot="5400000">
            <a:off x="4784023" y="5542175"/>
            <a:ext cx="338554" cy="1276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箭號: 向右 47">
            <a:extLst>
              <a:ext uri="{FF2B5EF4-FFF2-40B4-BE49-F238E27FC236}">
                <a16:creationId xmlns:a16="http://schemas.microsoft.com/office/drawing/2014/main" id="{F4D48177-F788-9DE9-5188-186967B90C0A}"/>
              </a:ext>
            </a:extLst>
          </p:cNvPr>
          <p:cNvSpPr/>
          <p:nvPr/>
        </p:nvSpPr>
        <p:spPr>
          <a:xfrm rot="7582017">
            <a:off x="6088324" y="4553849"/>
            <a:ext cx="338554" cy="1276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減號 48">
            <a:extLst>
              <a:ext uri="{FF2B5EF4-FFF2-40B4-BE49-F238E27FC236}">
                <a16:creationId xmlns:a16="http://schemas.microsoft.com/office/drawing/2014/main" id="{5B422E99-CAB9-BE5A-4A69-01593E4DB9F3}"/>
              </a:ext>
            </a:extLst>
          </p:cNvPr>
          <p:cNvSpPr/>
          <p:nvPr/>
        </p:nvSpPr>
        <p:spPr>
          <a:xfrm rot="5400000">
            <a:off x="6343058" y="3369075"/>
            <a:ext cx="429584" cy="317272"/>
          </a:xfrm>
          <a:prstGeom prst="mathMin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1" name="減號 50">
            <a:extLst>
              <a:ext uri="{FF2B5EF4-FFF2-40B4-BE49-F238E27FC236}">
                <a16:creationId xmlns:a16="http://schemas.microsoft.com/office/drawing/2014/main" id="{2E683CA6-DFDB-4A8D-7A82-F3F4CFC4A023}"/>
              </a:ext>
            </a:extLst>
          </p:cNvPr>
          <p:cNvSpPr/>
          <p:nvPr/>
        </p:nvSpPr>
        <p:spPr>
          <a:xfrm rot="5400000">
            <a:off x="6343058" y="3921770"/>
            <a:ext cx="429584" cy="317272"/>
          </a:xfrm>
          <a:prstGeom prst="mathMin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37494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36B20-139C-AB97-9351-0BF83D441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5D6C28-DA74-1C84-9592-C58843576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GCN </a:t>
            </a:r>
            <a:r>
              <a:rPr lang="en-US" altLang="zh-TW" dirty="0"/>
              <a:t>results</a:t>
            </a:r>
            <a:endParaRPr lang="zh-TW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63AE31C-3AC4-D116-0B2D-A31280E3C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12</a:t>
            </a:fld>
            <a:endParaRPr lang="zh-TW" altLang="en-US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EC96E687-FFDE-E5ED-6B8E-86F2332455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4477770"/>
              </p:ext>
            </p:extLst>
          </p:nvPr>
        </p:nvGraphicFramePr>
        <p:xfrm>
          <a:off x="2208723" y="1916590"/>
          <a:ext cx="4946916" cy="1493520"/>
        </p:xfrm>
        <a:graphic>
          <a:graphicData uri="http://schemas.openxmlformats.org/drawingml/2006/table">
            <a:tbl>
              <a:tblPr/>
              <a:tblGrid>
                <a:gridCol w="1648972">
                  <a:extLst>
                    <a:ext uri="{9D8B030D-6E8A-4147-A177-3AD203B41FA5}">
                      <a16:colId xmlns:a16="http://schemas.microsoft.com/office/drawing/2014/main" val="1383026435"/>
                    </a:ext>
                  </a:extLst>
                </a:gridCol>
                <a:gridCol w="1648972">
                  <a:extLst>
                    <a:ext uri="{9D8B030D-6E8A-4147-A177-3AD203B41FA5}">
                      <a16:colId xmlns:a16="http://schemas.microsoft.com/office/drawing/2014/main" val="4204358492"/>
                    </a:ext>
                  </a:extLst>
                </a:gridCol>
                <a:gridCol w="1648972">
                  <a:extLst>
                    <a:ext uri="{9D8B030D-6E8A-4147-A177-3AD203B41FA5}">
                      <a16:colId xmlns:a16="http://schemas.microsoft.com/office/drawing/2014/main" val="4609462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b="1" dirty="0"/>
                        <a:t>Confusion matrix</a:t>
                      </a:r>
                      <a:endParaRPr lang="zh-TW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Predicted Uninfected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Predicted Infected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90468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True Uninfected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/>
                        <a:t>4411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29986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True Infected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/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 dirty="0"/>
                        <a:t>334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4762611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1DA4D436-A963-776F-D208-9BE1BD5A63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9668547"/>
              </p:ext>
            </p:extLst>
          </p:nvPr>
        </p:nvGraphicFramePr>
        <p:xfrm>
          <a:off x="2208723" y="4076171"/>
          <a:ext cx="8915400" cy="2499360"/>
        </p:xfrm>
        <a:graphic>
          <a:graphicData uri="http://schemas.openxmlformats.org/drawingml/2006/table">
            <a:tbl>
              <a:tblPr/>
              <a:tblGrid>
                <a:gridCol w="1485900">
                  <a:extLst>
                    <a:ext uri="{9D8B030D-6E8A-4147-A177-3AD203B41FA5}">
                      <a16:colId xmlns:a16="http://schemas.microsoft.com/office/drawing/2014/main" val="4090520192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394539283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533608610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3123200681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682930857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13096076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b="1" dirty="0"/>
                        <a:t>Class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Precision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Recall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F1-score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Support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28892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Uninfected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1.00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1.00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1.00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4,416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6512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Infected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0.99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0.97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0.98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343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13978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b="0"/>
                        <a:t>Overall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TW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b="1"/>
                        <a:t>1.00</a:t>
                      </a:r>
                      <a:endParaRPr lang="zh-TW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4,759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72257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b="0"/>
                        <a:t>Overall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Macro average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0.99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0.99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0.99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4,759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7138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b="0" dirty="0"/>
                        <a:t>Overall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Weighted average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1.00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1.00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1.00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4,759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3038269"/>
                  </a:ext>
                </a:extLst>
              </a:tr>
            </a:tbl>
          </a:graphicData>
        </a:graphic>
      </p:graphicFrame>
      <p:pic>
        <p:nvPicPr>
          <p:cNvPr id="8" name="圖片 7">
            <a:extLst>
              <a:ext uri="{FF2B5EF4-FFF2-40B4-BE49-F238E27FC236}">
                <a16:creationId xmlns:a16="http://schemas.microsoft.com/office/drawing/2014/main" id="{47124204-14CD-AE33-BD7B-151A472F01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1327" y="330022"/>
            <a:ext cx="3086611" cy="3149956"/>
          </a:xfrm>
          <a:prstGeom prst="rect">
            <a:avLst/>
          </a:prstGeom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4B2D89E2-DEE6-21BC-8C3B-A5A856F86C66}"/>
              </a:ext>
            </a:extLst>
          </p:cNvPr>
          <p:cNvSpPr txBox="1"/>
          <p:nvPr/>
        </p:nvSpPr>
        <p:spPr>
          <a:xfrm>
            <a:off x="9263667" y="2532545"/>
            <a:ext cx="12651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50" dirty="0"/>
              <a:t>* PR-AUC = 0.998</a:t>
            </a:r>
            <a:endParaRPr lang="zh-TW" altLang="en-US" sz="1050" dirty="0"/>
          </a:p>
        </p:txBody>
      </p:sp>
    </p:spTree>
    <p:extLst>
      <p:ext uri="{BB962C8B-B14F-4D97-AF65-F5344CB8AC3E}">
        <p14:creationId xmlns:p14="http://schemas.microsoft.com/office/powerpoint/2010/main" val="16110279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F621A-EC75-A20A-B123-A6A8E3DAE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825FB8-B5A3-20E8-37D6-307C87C4D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GCN </a:t>
            </a:r>
            <a:r>
              <a:rPr lang="en-US" altLang="zh-TW" dirty="0"/>
              <a:t>results(2)</a:t>
            </a:r>
            <a:endParaRPr lang="zh-TW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0096A1D-69BF-FE49-0E9F-BD75DF3B4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13</a:t>
            </a:fld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C8663154-F613-5421-0018-87D85C0550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812" y="1853453"/>
            <a:ext cx="5893157" cy="4401219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B5B1ADAB-F433-E29F-667F-31D8AAC1F6B5}"/>
              </a:ext>
            </a:extLst>
          </p:cNvPr>
          <p:cNvSpPr txBox="1"/>
          <p:nvPr/>
        </p:nvSpPr>
        <p:spPr>
          <a:xfrm>
            <a:off x="6646219" y="3676116"/>
            <a:ext cx="369237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dirty="0"/>
              <a:t>Unknown → Infected: 34822 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zh-TW" dirty="0"/>
              <a:t>cells Viral transcript &lt; 10: 32485 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zh-TW" dirty="0"/>
              <a:t>cells Percentage: 93.29%</a:t>
            </a:r>
            <a:endParaRPr lang="zh-TW" altLang="en-US" sz="1600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24ED5D71-D9D7-1E70-4270-6D536362562A}"/>
              </a:ext>
            </a:extLst>
          </p:cNvPr>
          <p:cNvSpPr txBox="1"/>
          <p:nvPr/>
        </p:nvSpPr>
        <p:spPr>
          <a:xfrm>
            <a:off x="10750846" y="3953115"/>
            <a:ext cx="13572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dirty="0"/>
              <a:t>0: 8349 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zh-TW" dirty="0"/>
              <a:t>1~9: 24136</a:t>
            </a:r>
            <a:endParaRPr lang="zh-TW" altLang="en-US" sz="1600" dirty="0"/>
          </a:p>
        </p:txBody>
      </p:sp>
      <p:sp>
        <p:nvSpPr>
          <p:cNvPr id="19" name="箭號: 向右 18">
            <a:extLst>
              <a:ext uri="{FF2B5EF4-FFF2-40B4-BE49-F238E27FC236}">
                <a16:creationId xmlns:a16="http://schemas.microsoft.com/office/drawing/2014/main" id="{44340894-5EF8-5514-CA9A-7A1CF864DDC5}"/>
              </a:ext>
            </a:extLst>
          </p:cNvPr>
          <p:cNvSpPr/>
          <p:nvPr/>
        </p:nvSpPr>
        <p:spPr>
          <a:xfrm rot="1570202">
            <a:off x="10349385" y="4482896"/>
            <a:ext cx="338554" cy="1276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箭號: 向右 20">
            <a:extLst>
              <a:ext uri="{FF2B5EF4-FFF2-40B4-BE49-F238E27FC236}">
                <a16:creationId xmlns:a16="http://schemas.microsoft.com/office/drawing/2014/main" id="{99BCD0C4-AA12-F72E-E9CD-EEA490F28C19}"/>
              </a:ext>
            </a:extLst>
          </p:cNvPr>
          <p:cNvSpPr/>
          <p:nvPr/>
        </p:nvSpPr>
        <p:spPr>
          <a:xfrm rot="20406949">
            <a:off x="10349387" y="4165138"/>
            <a:ext cx="338554" cy="1276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02766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9723C-0D48-3A29-5D6E-415F1099F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DF73DF-CB2F-82C3-53C3-ABCBF45A3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GCN </a:t>
            </a:r>
            <a:r>
              <a:rPr lang="en-US" altLang="zh-TW" dirty="0"/>
              <a:t>results(3)</a:t>
            </a:r>
            <a:endParaRPr lang="zh-TW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C514D94-BFFC-AF71-5EF9-416505F34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14</a:t>
            </a:fld>
            <a:endParaRPr lang="zh-TW" altLang="en-US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968F7377-E07F-18AF-886C-CEBED28D0B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13" y="1691754"/>
            <a:ext cx="5638666" cy="3655748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BB27927A-1F98-A82A-6533-EB5DF57FD9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3832" y="1691754"/>
            <a:ext cx="4961560" cy="3766949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F7869BA2-4467-2505-B989-FCFEFE33B344}"/>
              </a:ext>
            </a:extLst>
          </p:cNvPr>
          <p:cNvSpPr txBox="1"/>
          <p:nvPr/>
        </p:nvSpPr>
        <p:spPr>
          <a:xfrm>
            <a:off x="6339433" y="5886349"/>
            <a:ext cx="57871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/>
              <a:t>* </a:t>
            </a:r>
            <a:r>
              <a:rPr lang="zh-TW" altLang="zh-TW" sz="1600" dirty="0"/>
              <a:t>The model is highly confident in its classification results</a:t>
            </a:r>
            <a:r>
              <a:rPr lang="en-US" altLang="zh-TW" sz="1600" dirty="0"/>
              <a:t>.</a:t>
            </a:r>
            <a:endParaRPr lang="zh-TW" altLang="zh-TW" sz="16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0AD1B35-A0A6-261B-9F11-3B65A6B5F2BC}"/>
              </a:ext>
            </a:extLst>
          </p:cNvPr>
          <p:cNvSpPr/>
          <p:nvPr/>
        </p:nvSpPr>
        <p:spPr>
          <a:xfrm>
            <a:off x="2592925" y="1691754"/>
            <a:ext cx="1377658" cy="3434814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23F6175F-6148-98E1-4659-F6D90018A6A4}"/>
              </a:ext>
            </a:extLst>
          </p:cNvPr>
          <p:cNvSpPr txBox="1"/>
          <p:nvPr/>
        </p:nvSpPr>
        <p:spPr>
          <a:xfrm>
            <a:off x="1080146" y="5701911"/>
            <a:ext cx="45396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/>
              <a:t>* </a:t>
            </a:r>
            <a:r>
              <a:rPr lang="zh-TW" altLang="zh-TW" sz="1600" dirty="0">
                <a:solidFill>
                  <a:schemeClr val="accent1"/>
                </a:solidFill>
              </a:rPr>
              <a:t>The original literature would overlook a significant proportion of infected cells.</a:t>
            </a:r>
          </a:p>
        </p:txBody>
      </p:sp>
    </p:spTree>
    <p:extLst>
      <p:ext uri="{BB962C8B-B14F-4D97-AF65-F5344CB8AC3E}">
        <p14:creationId xmlns:p14="http://schemas.microsoft.com/office/powerpoint/2010/main" val="29297383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ACD95-519F-F8BB-BDF3-DDBEA4DF1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E7E19A-28DB-3415-3A00-CFB4073DC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Future works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A32F273-5B94-24C1-35E2-8E8EBB25F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15</a:t>
            </a:fld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DA0AD95-3125-07D1-E166-291D818363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r>
              <a:rPr lang="zh-TW" altLang="zh-TW" dirty="0"/>
              <a:t>Since cell infection status is known to be associated with cell type, it is necessary to observe whether the unknown cells exhibit the same pattern.</a:t>
            </a:r>
          </a:p>
          <a:p>
            <a:pPr marL="0" indent="0">
              <a:buNone/>
            </a:pPr>
            <a:endParaRPr lang="zh-TW" altLang="zh-TW" dirty="0"/>
          </a:p>
          <a:p>
            <a:r>
              <a:rPr lang="zh-TW" altLang="zh-TW" dirty="0"/>
              <a:t>The topological relationships of cells are constructed based on other characteristics (such as clinical indicators, etc.).</a:t>
            </a:r>
          </a:p>
          <a:p>
            <a:endParaRPr lang="en-US" altLang="zh-TW" dirty="0"/>
          </a:p>
          <a:p>
            <a:r>
              <a:rPr lang="zh-TW" altLang="zh-TW" dirty="0"/>
              <a:t>Confirm whether the gene expression profiles of the cells identified as infected align with known biological significance.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70405109"/>
      </p:ext>
    </p:extLst>
  </p:cSld>
  <p:clrMapOvr>
    <a:masterClrMapping/>
  </p:clrMapOvr>
</p:sld>
</file>

<file path=ppt/theme/theme1.xml><?xml version="1.0" encoding="utf-8"?>
<a:theme xmlns:a="http://schemas.openxmlformats.org/drawingml/2006/main" name="絲縷">
  <a:themeElements>
    <a:clrScheme name="絲縷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絲縷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絲縷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1273</TotalTime>
  <Words>813</Words>
  <Application>Microsoft Office PowerPoint</Application>
  <PresentationFormat>寬螢幕</PresentationFormat>
  <Paragraphs>252</Paragraphs>
  <Slides>15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1" baseType="lpstr">
      <vt:lpstr>Aptos</vt:lpstr>
      <vt:lpstr>Arial</vt:lpstr>
      <vt:lpstr>Century Gothic</vt:lpstr>
      <vt:lpstr>Wingdings 2</vt:lpstr>
      <vt:lpstr>Wingdings 3</vt:lpstr>
      <vt:lpstr>絲縷</vt:lpstr>
      <vt:lpstr>Research Progress and Future Work </vt:lpstr>
      <vt:lpstr>Aims</vt:lpstr>
      <vt:lpstr>Aim 1</vt:lpstr>
      <vt:lpstr>Immune gene list enrichment analysis</vt:lpstr>
      <vt:lpstr>Results of enrichment analysis(RF only)</vt:lpstr>
      <vt:lpstr>Future works</vt:lpstr>
      <vt:lpstr>Aim 2</vt:lpstr>
      <vt:lpstr>Data information</vt:lpstr>
      <vt:lpstr>Data preprocessing</vt:lpstr>
      <vt:lpstr>Topological relationships of cells</vt:lpstr>
      <vt:lpstr>GCN model</vt:lpstr>
      <vt:lpstr>GCN results</vt:lpstr>
      <vt:lpstr>GCN results(2)</vt:lpstr>
      <vt:lpstr>GCN results(3)</vt:lpstr>
      <vt:lpstr>Future works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俊延 賴</dc:creator>
  <cp:lastModifiedBy>俊延 賴</cp:lastModifiedBy>
  <cp:revision>35</cp:revision>
  <dcterms:created xsi:type="dcterms:W3CDTF">2026-07-22T01:16:54Z</dcterms:created>
  <dcterms:modified xsi:type="dcterms:W3CDTF">2026-08-10T04:51:38Z</dcterms:modified>
</cp:coreProperties>
</file>