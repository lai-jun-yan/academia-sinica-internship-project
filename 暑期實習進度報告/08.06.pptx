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6" r:id="rId2"/>
    <p:sldId id="271" r:id="rId3"/>
    <p:sldId id="277" r:id="rId4"/>
    <p:sldId id="279" r:id="rId5"/>
    <p:sldId id="280" r:id="rId6"/>
    <p:sldId id="281" r:id="rId7"/>
    <p:sldId id="278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92E4E-CC2F-B7BC-E2C3-537075075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0903697-284E-B2B5-B2CF-CADE065F6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369AB4-153B-1C4A-773D-2A3CAA200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4FBCA3-B611-8C83-0084-E5163C1461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2840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Research Progress and Future Work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08.06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Aims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After excluding non-coding genes, re-run the enrichment analysis.</a:t>
            </a:r>
          </a:p>
          <a:p>
            <a:pPr marL="400050" lvl="1" indent="0">
              <a:buNone/>
            </a:pPr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C6512-6B39-7388-2945-E867EC8CF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1846E5-086A-8754-D08B-8718A5CB1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Immune gene list enrichment analysis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03B4F4-02C9-6357-165B-D0BCCC0D5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GSEA:</a:t>
            </a:r>
          </a:p>
          <a:p>
            <a:pPr marL="400050" lvl="1" indent="0">
              <a:buNone/>
            </a:pPr>
            <a:r>
              <a:rPr lang="zh-TW" altLang="zh-TW" dirty="0"/>
              <a:t>ORA has issues related to gene</a:t>
            </a:r>
            <a:r>
              <a:rPr lang="en-US" altLang="zh-TW" dirty="0"/>
              <a:t> list</a:t>
            </a:r>
            <a:r>
              <a:rPr lang="zh-TW" altLang="zh-TW" dirty="0"/>
              <a:t> background, so GSEA is used for the analysis instead.</a:t>
            </a:r>
          </a:p>
          <a:p>
            <a:endParaRPr lang="en-US" altLang="zh-TW" dirty="0"/>
          </a:p>
          <a:p>
            <a:r>
              <a:rPr lang="en-US" altLang="zh-TW" dirty="0"/>
              <a:t>Results:</a:t>
            </a:r>
          </a:p>
          <a:p>
            <a:pPr marL="400050" lvl="1" indent="0">
              <a:buNone/>
            </a:pPr>
            <a:r>
              <a:rPr lang="zh-TW" altLang="zh-TW" dirty="0"/>
              <a:t>Enrichment analysis was performed only for the RF model; for XGBoost, the majority of SHAP values ​​were zero, resulting in a gene list too small to yield reliable enrichment analysis results.</a:t>
            </a:r>
          </a:p>
          <a:p>
            <a:pPr marL="400050" lvl="1" indent="0">
              <a:buNone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3BB889-33C5-A2E5-2920-285155FF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15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69655-6B49-6E97-865F-6F216CBA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0D26CB-FFCF-7079-7D51-0DB24B06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of enrichment analysis(RF only)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908EF-0B73-736A-8635-C1ED8B85E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D856D9-B0ED-D960-2D63-5CFC4E3349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436626"/>
              </p:ext>
            </p:extLst>
          </p:nvPr>
        </p:nvGraphicFramePr>
        <p:xfrm>
          <a:off x="2049729" y="1720893"/>
          <a:ext cx="9107181" cy="40711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190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731752">
                <a:tc>
                  <a:txBody>
                    <a:bodyPr/>
                    <a:lstStyle/>
                    <a:p>
                      <a:pPr algn="ctr"/>
                      <a:endParaRPr lang="zh-TW" altLang="en-US" sz="6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Alphaviridae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Coronaviridae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Flaviviridae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Orthoherpesviridae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Orthomyxoviridae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Picornaviridae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Reoviridae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Retroviridae</a:t>
                      </a:r>
                      <a:endParaRPr lang="zh-TW" altLang="en-US" sz="9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KEGG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Reactome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GO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MSigDB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WikiPathways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256B9C9F-0E1F-0B71-5C16-604A216B1E40}"/>
              </a:ext>
            </a:extLst>
          </p:cNvPr>
          <p:cNvSpPr txBox="1"/>
          <p:nvPr/>
        </p:nvSpPr>
        <p:spPr>
          <a:xfrm>
            <a:off x="5486401" y="6001901"/>
            <a:ext cx="578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/>
              <a:t>The significance level is set at 0.25, which is very lenient</a:t>
            </a:r>
            <a:r>
              <a:rPr lang="en-US" altLang="zh-TW" sz="1600" dirty="0"/>
              <a:t>.</a:t>
            </a:r>
            <a:endParaRPr lang="zh-TW" altLang="zh-TW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3074970-A77A-E9B1-97AC-B6B632B23A96}"/>
              </a:ext>
            </a:extLst>
          </p:cNvPr>
          <p:cNvSpPr txBox="1"/>
          <p:nvPr/>
        </p:nvSpPr>
        <p:spPr>
          <a:xfrm>
            <a:off x="8502692" y="6340455"/>
            <a:ext cx="27708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(</a:t>
            </a:r>
            <a:r>
              <a:rPr lang="zh-TW" altLang="zh-TW" sz="1600" dirty="0"/>
              <a:t>Subramanian</a:t>
            </a:r>
            <a:r>
              <a:rPr lang="en-US" altLang="zh-TW" sz="1600" dirty="0"/>
              <a:t> et al., 2005)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43355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84C4-30AF-AAE7-0328-BC9A085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B86FB6-245D-8FC9-E705-EAC379B65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A22642-3358-83AA-F065-BDDFECE0C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CC972-C540-C583-6FA5-D3C0E618B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r>
              <a:rPr lang="zh-TW" altLang="zh-TW" dirty="0"/>
              <a:t>Based on the database annotations, identify the biological pathways that achieved statistical significance and examine the potential biological significance of the features learned by the model.</a:t>
            </a:r>
            <a:endParaRPr lang="en-US" altLang="zh-TW" dirty="0"/>
          </a:p>
          <a:p>
            <a:endParaRPr lang="zh-TW" altLang="zh-TW" dirty="0"/>
          </a:p>
          <a:p>
            <a:r>
              <a:rPr lang="zh-TW" altLang="zh-TW" dirty="0"/>
              <a:t>Analyze gene topological relationships using raw RNA data and WGCNA.</a:t>
            </a:r>
            <a:r>
              <a:rPr lang="en-US" altLang="zh-TW" dirty="0"/>
              <a:t> </a:t>
            </a:r>
          </a:p>
          <a:p>
            <a:endParaRPr lang="en-US" altLang="zh-TW" dirty="0"/>
          </a:p>
          <a:p>
            <a:r>
              <a:rPr lang="zh-TW" altLang="zh-TW" dirty="0"/>
              <a:t>It is not yet clear how to resolve the issue with XGBoost.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5544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053B7-7E3F-DE48-9226-048BD2DF4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895BE6-1705-23BD-F2CD-285B05B7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</a:t>
            </a:r>
            <a:r>
              <a:rPr lang="en-US" altLang="zh-TW" dirty="0"/>
              <a:t>information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C22DD0-0D3D-E450-447D-4CB626371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Ravindra2021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en-US" altLang="zh-TW" dirty="0"/>
              <a:t>RNA raw count data comprising 77,668 cells and 33,539 genes</a:t>
            </a:r>
            <a:r>
              <a:rPr lang="zh-TW" altLang="zh-TW" dirty="0"/>
              <a:t>.</a:t>
            </a:r>
          </a:p>
          <a:p>
            <a:endParaRPr lang="en-US" altLang="zh-TW" dirty="0"/>
          </a:p>
          <a:p>
            <a:r>
              <a:rPr lang="zh-TW" altLang="zh-TW" dirty="0"/>
              <a:t>Key fields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en-US" altLang="zh-TW" dirty="0"/>
              <a:t>‘</a:t>
            </a:r>
            <a:r>
              <a:rPr lang="zh-TW" altLang="zh-TW" dirty="0"/>
              <a:t>pmito</a:t>
            </a:r>
            <a:r>
              <a:rPr lang="en-US" altLang="zh-TW" dirty="0"/>
              <a:t>’</a:t>
            </a:r>
            <a:r>
              <a:rPr lang="zh-TW" altLang="zh-TW" dirty="0"/>
              <a:t>,</a:t>
            </a:r>
            <a:r>
              <a:rPr lang="en-US" altLang="zh-TW" dirty="0"/>
              <a:t> ‘</a:t>
            </a:r>
            <a:r>
              <a:rPr lang="zh-TW" altLang="zh-TW" dirty="0"/>
              <a:t>n_genes</a:t>
            </a:r>
            <a:r>
              <a:rPr lang="en-US" altLang="zh-TW" dirty="0"/>
              <a:t>’, ‘</a:t>
            </a:r>
            <a:r>
              <a:rPr lang="zh-TW" altLang="zh-TW" dirty="0"/>
              <a:t>Viral_transcript</a:t>
            </a:r>
            <a:r>
              <a:rPr lang="en-US" altLang="zh-TW" dirty="0"/>
              <a:t>’, ‘</a:t>
            </a:r>
            <a:r>
              <a:rPr lang="zh-TW" altLang="zh-TW" dirty="0"/>
              <a:t>Condition</a:t>
            </a:r>
            <a:r>
              <a:rPr lang="en-US" altLang="zh-TW" dirty="0"/>
              <a:t>’,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5F3D97-7EA9-E711-B2F2-F5102244B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2206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46658" y="2841380"/>
            <a:ext cx="21121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500</a:t>
            </a:r>
            <a:endParaRPr lang="zh-TW" altLang="en-US" sz="16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6620" y="2637183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844701" y="2509529"/>
            <a:ext cx="21520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r>
              <a:rPr lang="en-US" altLang="zh-TW" sz="1600" dirty="0"/>
              <a:t>Condition != Mock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52172" y="3832968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35" y="4519844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  <a:endParaRPr lang="zh-TW" altLang="zh-TW" sz="1100" dirty="0"/>
          </a:p>
          <a:p>
            <a:endParaRPr lang="en-US" altLang="zh-TW" sz="1600" dirty="0"/>
          </a:p>
          <a:p>
            <a:r>
              <a:rPr lang="en-US" altLang="zh-TW" sz="1600" dirty="0"/>
              <a:t>Condition = Mock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587602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1713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600" b="1" dirty="0">
                <a:solidFill>
                  <a:srgbClr val="FF0000"/>
                </a:solidFill>
              </a:rPr>
              <a:t>22080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zh-TW" altLang="zh-TW" sz="1600" b="1" dirty="0"/>
              <a:t>50295</a:t>
            </a:r>
            <a:r>
              <a:rPr lang="en-US" altLang="zh-TW" sz="1600" b="1" dirty="0"/>
              <a:t> Unknown cell</a:t>
            </a:r>
            <a:endParaRPr lang="zh-TW" altLang="zh-TW" sz="1600" b="1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12692199-66EB-4F6A-A544-BC880D37D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145" y="1487690"/>
            <a:ext cx="5942491" cy="1895791"/>
          </a:xfrm>
          <a:prstGeom prst="rect">
            <a:avLst/>
          </a:prstGeom>
        </p:spPr>
      </p:pic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DCD8C64A-60AA-4869-C23A-552B4892C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477001"/>
              </p:ext>
            </p:extLst>
          </p:nvPr>
        </p:nvGraphicFramePr>
        <p:xfrm>
          <a:off x="6068702" y="3582130"/>
          <a:ext cx="5673376" cy="2651760"/>
        </p:xfrm>
        <a:graphic>
          <a:graphicData uri="http://schemas.openxmlformats.org/drawingml/2006/table">
            <a:tbl>
              <a:tblPr/>
              <a:tblGrid>
                <a:gridCol w="1418344">
                  <a:extLst>
                    <a:ext uri="{9D8B030D-6E8A-4147-A177-3AD203B41FA5}">
                      <a16:colId xmlns:a16="http://schemas.microsoft.com/office/drawing/2014/main" val="89793235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416101209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333625132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1769316306"/>
                    </a:ext>
                  </a:extLst>
                </a:gridCol>
              </a:tblGrid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Cell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Infection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3290973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dirty="0"/>
                        <a:t>BC/Club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1521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7.5%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17708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Basal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9549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1.7%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581397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b="1" dirty="0">
                          <a:solidFill>
                            <a:schemeClr val="accent1"/>
                          </a:solidFill>
                        </a:rPr>
                        <a:t>Ciliated cells</a:t>
                      </a:r>
                      <a:endParaRPr lang="zh-TW" sz="120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>
                          <a:solidFill>
                            <a:schemeClr val="accent1"/>
                          </a:solidFill>
                        </a:rPr>
                        <a:t>6208</a:t>
                      </a:r>
                      <a:endParaRPr lang="zh-TW" sz="120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>
                          <a:solidFill>
                            <a:schemeClr val="accent1"/>
                          </a:solidFill>
                        </a:rPr>
                        <a:t>1222</a:t>
                      </a:r>
                      <a:endParaRPr lang="zh-TW" sz="120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 dirty="0">
                          <a:solidFill>
                            <a:schemeClr val="accent1"/>
                          </a:solidFill>
                        </a:rPr>
                        <a:t>16.4%</a:t>
                      </a:r>
                      <a:endParaRPr lang="zh-TW" sz="120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344141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Club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4493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194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4.1%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662079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Goblet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1561233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dirty="0"/>
                        <a:t>Ionocytes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dirty="0"/>
                        <a:t>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1.6%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610050"/>
                  </a:ext>
                </a:extLst>
              </a:tr>
              <a:tr h="390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Neuroendocrine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2.6%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601872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Tuft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dirty="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3526411"/>
                  </a:ext>
                </a:extLst>
              </a:tr>
            </a:tbl>
          </a:graphicData>
        </a:graphic>
      </p:graphicFrame>
      <p:sp>
        <p:nvSpPr>
          <p:cNvPr id="29" name="文字方塊 28">
            <a:extLst>
              <a:ext uri="{FF2B5EF4-FFF2-40B4-BE49-F238E27FC236}">
                <a16:creationId xmlns:a16="http://schemas.microsoft.com/office/drawing/2014/main" id="{13777BAF-52FD-D855-192A-5514D3387DEC}"/>
              </a:ext>
            </a:extLst>
          </p:cNvPr>
          <p:cNvSpPr txBox="1"/>
          <p:nvPr/>
        </p:nvSpPr>
        <p:spPr>
          <a:xfrm>
            <a:off x="5934145" y="6432539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426" y="533874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8321653" y="4743773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096342" y="1825959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183690" y="2728144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631684" y="3966786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778197" y="2851254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035663" y="4963372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651062" y="5895336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477717" y="2386502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661286" y="2385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545937" y="358570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498571" y="45531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784023" y="5542175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088324" y="4553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343058" y="336907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343058" y="392177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477770"/>
              </p:ext>
            </p:extLst>
          </p:nvPr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4411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9668547"/>
              </p:ext>
            </p:extLst>
          </p:nvPr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4,416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343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/>
                        <a:t>1.00</a:t>
                      </a:r>
                      <a:endParaRPr lang="zh-TW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47124204-14CD-AE33-BD7B-151A472F0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327" y="330022"/>
            <a:ext cx="3086611" cy="3149956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B2D89E2-DEE6-21BC-8C3B-A5A856F86C66}"/>
              </a:ext>
            </a:extLst>
          </p:cNvPr>
          <p:cNvSpPr txBox="1"/>
          <p:nvPr/>
        </p:nvSpPr>
        <p:spPr>
          <a:xfrm>
            <a:off x="9263667" y="2532545"/>
            <a:ext cx="12651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0.998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663154-F613-5421-0018-87D85C055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853453"/>
            <a:ext cx="5893157" cy="440121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46219" y="3676116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34822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32485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93.29%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50846" y="3953115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8349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24136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9385" y="44828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9387" y="416513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9723C-0D48-3A29-5D6E-415F1099F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DF73DF-CB2F-82C3-53C3-ABCBF45A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514D94-BFFC-AF71-5EF9-416505F3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68F7377-E07F-18AF-886C-CEBED28D0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13" y="1691754"/>
            <a:ext cx="5638666" cy="365574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B27927A-1F98-A82A-6533-EB5DF57FD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832" y="1691754"/>
            <a:ext cx="4961560" cy="376694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7869BA2-4467-2505-B989-FCFEFE33B344}"/>
              </a:ext>
            </a:extLst>
          </p:cNvPr>
          <p:cNvSpPr txBox="1"/>
          <p:nvPr/>
        </p:nvSpPr>
        <p:spPr>
          <a:xfrm>
            <a:off x="6339433" y="5886349"/>
            <a:ext cx="578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/>
              <a:t>The model is highly confident in its classification results</a:t>
            </a:r>
            <a:r>
              <a:rPr lang="en-US" altLang="zh-TW" sz="1600" dirty="0"/>
              <a:t>.</a:t>
            </a:r>
            <a:endParaRPr lang="zh-TW" altLang="zh-TW" sz="16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AD1B35-A0A6-261B-9F11-3B65A6B5F2BC}"/>
              </a:ext>
            </a:extLst>
          </p:cNvPr>
          <p:cNvSpPr/>
          <p:nvPr/>
        </p:nvSpPr>
        <p:spPr>
          <a:xfrm>
            <a:off x="2592925" y="1691754"/>
            <a:ext cx="1377658" cy="343481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F6175F-6148-98E1-4659-F6D90018A6A4}"/>
              </a:ext>
            </a:extLst>
          </p:cNvPr>
          <p:cNvSpPr txBox="1"/>
          <p:nvPr/>
        </p:nvSpPr>
        <p:spPr>
          <a:xfrm>
            <a:off x="1080146" y="5701911"/>
            <a:ext cx="45396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>
                <a:solidFill>
                  <a:schemeClr val="accent1"/>
                </a:solidFill>
              </a:rPr>
              <a:t>The original literature would overlook a significant proportion of infected cells.</a:t>
            </a:r>
          </a:p>
        </p:txBody>
      </p:sp>
    </p:spTree>
    <p:extLst>
      <p:ext uri="{BB962C8B-B14F-4D97-AF65-F5344CB8AC3E}">
        <p14:creationId xmlns:p14="http://schemas.microsoft.com/office/powerpoint/2010/main" val="2929738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ACD95-519F-F8BB-BDF3-DDBEA4DF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E7E19A-28DB-3415-3A00-CFB4073DC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32F273-5B94-24C1-35E2-8E8EBB25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DA0AD95-3125-07D1-E166-291D81836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r>
              <a:rPr lang="zh-TW" altLang="zh-TW" dirty="0"/>
              <a:t>Since cell infection status is known to be associated with cell type, it is necessary to observe whether the unknown cells exhibit the same pattern.</a:t>
            </a:r>
          </a:p>
          <a:p>
            <a:pPr marL="0" indent="0">
              <a:buNone/>
            </a:pPr>
            <a:endParaRPr lang="zh-TW" altLang="zh-TW" dirty="0"/>
          </a:p>
          <a:p>
            <a:r>
              <a:rPr lang="zh-TW" altLang="zh-TW" dirty="0"/>
              <a:t>The topological relationships of cells are constructed based on other characteristics (such as clinical indicators, etc.).</a:t>
            </a:r>
          </a:p>
          <a:p>
            <a:endParaRPr lang="en-US" altLang="zh-TW" dirty="0"/>
          </a:p>
          <a:p>
            <a:r>
              <a:rPr lang="zh-TW" altLang="zh-TW" dirty="0"/>
              <a:t>Confirm whether the gene expression profiles of the cells identified as infected align with known biological significance.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70405109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1102</TotalTime>
  <Words>754</Words>
  <Application>Microsoft Office PowerPoint</Application>
  <PresentationFormat>寬螢幕</PresentationFormat>
  <Paragraphs>242</Paragraphs>
  <Slides>15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Aptos</vt:lpstr>
      <vt:lpstr>Arial</vt:lpstr>
      <vt:lpstr>Century Gothic</vt:lpstr>
      <vt:lpstr>Wingdings 2</vt:lpstr>
      <vt:lpstr>Wingdings 3</vt:lpstr>
      <vt:lpstr>絲縷</vt:lpstr>
      <vt:lpstr>Research Progress and Future Work </vt:lpstr>
      <vt:lpstr>Aims</vt:lpstr>
      <vt:lpstr>Aim 1</vt:lpstr>
      <vt:lpstr>Immune gene list enrichment analysis</vt:lpstr>
      <vt:lpstr>Results of enrichment analysis(RF only)</vt:lpstr>
      <vt:lpstr>Future works</vt:lpstr>
      <vt:lpstr>Aim 2</vt:lpstr>
      <vt:lpstr>Data information</vt:lpstr>
      <vt:lpstr>Data preprocessing</vt:lpstr>
      <vt:lpstr>Topological relationships of cells</vt:lpstr>
      <vt:lpstr>GCN model</vt:lpstr>
      <vt:lpstr>GCN results</vt:lpstr>
      <vt:lpstr>GCN results(2)</vt:lpstr>
      <vt:lpstr>GCN results(3)</vt:lpstr>
      <vt:lpstr>Future works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29</cp:revision>
  <dcterms:created xsi:type="dcterms:W3CDTF">2026-07-22T01:16:54Z</dcterms:created>
  <dcterms:modified xsi:type="dcterms:W3CDTF">2026-08-06T01:45:52Z</dcterms:modified>
</cp:coreProperties>
</file>