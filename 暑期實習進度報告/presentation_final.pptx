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sldIdLst>
    <p:sldId id="256" r:id="rId2"/>
    <p:sldId id="271" r:id="rId3"/>
    <p:sldId id="277" r:id="rId4"/>
    <p:sldId id="272" r:id="rId5"/>
    <p:sldId id="284" r:id="rId6"/>
    <p:sldId id="285" r:id="rId7"/>
    <p:sldId id="292" r:id="rId8"/>
    <p:sldId id="286" r:id="rId9"/>
    <p:sldId id="291" r:id="rId10"/>
    <p:sldId id="258" r:id="rId11"/>
    <p:sldId id="287" r:id="rId12"/>
    <p:sldId id="288" r:id="rId13"/>
    <p:sldId id="289" r:id="rId14"/>
    <p:sldId id="278" r:id="rId15"/>
    <p:sldId id="290" r:id="rId16"/>
    <p:sldId id="293" r:id="rId17"/>
    <p:sldId id="274" r:id="rId18"/>
    <p:sldId id="283" r:id="rId19"/>
    <p:sldId id="294" r:id="rId20"/>
    <p:sldId id="295" r:id="rId21"/>
    <p:sldId id="296" r:id="rId22"/>
    <p:sldId id="297" r:id="rId23"/>
    <p:sldId id="298" r:id="rId24"/>
    <p:sldId id="304" r:id="rId25"/>
    <p:sldId id="306" r:id="rId26"/>
    <p:sldId id="307" r:id="rId27"/>
    <p:sldId id="310" r:id="rId28"/>
    <p:sldId id="311" r:id="rId29"/>
    <p:sldId id="270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6" autoAdjust="0"/>
  </p:normalViewPr>
  <p:slideViewPr>
    <p:cSldViewPr snapToGrid="0">
      <p:cViewPr varScale="1">
        <p:scale>
          <a:sx n="96" d="100"/>
          <a:sy n="96" d="100"/>
        </p:scale>
        <p:origin x="5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圖片來源</a:t>
            </a:r>
            <a:r>
              <a:rPr lang="en-US" altLang="zh-TW" sz="1200" dirty="0"/>
              <a:t>:</a:t>
            </a:r>
            <a:r>
              <a:rPr lang="en-US" altLang="zh-TW" sz="1200" dirty="0" err="1"/>
              <a:t>pngtree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7B120-7646-393C-DA46-FAE473783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335F8A-2D02-46EF-081D-66D909E1FC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15F0E2-EEEE-703C-BC2F-FDE2164FE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9E36F-734E-A38B-4D37-0AAFA774B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04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920A-EC10-E180-1C99-2FAB3B98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6FA62A-E79C-A83A-5CA5-F59328A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A1C41A-5016-8205-055F-3736E72BF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5EE7B-2155-E8CC-15D7-461F13AF8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521-6F38-2770-A364-89E2CE0C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168EFC6-5DB1-9EF0-2760-1510CB754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E66491-D741-969D-17B7-087F01D04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 err="1"/>
              <a:t>Orthoherpesviridae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水痘、帶狀皰疹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/>
              <a:t>Reactome</a:t>
            </a:r>
            <a:r>
              <a:rPr lang="zh-TW" altLang="en-US" b="1" dirty="0"/>
              <a:t> 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zh-TW" altLang="zh-TW" b="0" dirty="0"/>
              <a:t>是一個開放原始碼（open-source）、開放存取（open access）、人工策展（manually curated）並經過同儕審查（peer-reviewed）的生物學 pathway 資料庫。</a:t>
            </a:r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C4BBEC-3F68-7DBD-EB14-A591A6B37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8776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Alphaviridae</a:t>
            </a:r>
            <a:r>
              <a:rPr lang="en-US" altLang="zh-TW" sz="1200" b="1" dirty="0"/>
              <a:t>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傳染性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關節炎、腦炎、皮疹和發燒，透過病媒傳播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Coronaviridae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en-US" altLang="zh-TW" sz="1200" b="0" dirty="0"/>
              <a:t>Sars</a:t>
            </a:r>
            <a:r>
              <a:rPr lang="zh-TW" altLang="en-US" sz="1200" b="0" dirty="0"/>
              <a:t>、</a:t>
            </a:r>
            <a:r>
              <a:rPr lang="en-US" altLang="zh-TW" sz="1200" b="0" dirty="0"/>
              <a:t>Covid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Orthomyxoviridae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zh-TW" altLang="en-US" sz="1200" b="0" dirty="0"/>
              <a:t>流感</a:t>
            </a: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KEGG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日本於1995年制定的人類基因組計劃，此為關於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基因、基因組、蛋白質、酶促反應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以及生物化學物質的網絡資料庫。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 : </a:t>
            </a:r>
            <a:r>
              <a:rPr lang="zh-TW" altLang="zh-TW" b="0" dirty="0"/>
              <a:t>是目前全球最大的基因功能資訊來源。這些資訊同時具有**人類可讀（human-readable）與機器可讀（machine-readable）的形式，因此能作為生物醫學研究中，大規模分子生物學與遺傳學實驗進行計算分析（computational analysis）**的重要基礎。</a:t>
            </a:r>
            <a:endParaRPr lang="zh-TW" altLang="en-US" sz="1200" b="0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1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5288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0BD8-2727-989E-5ECF-A724A387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B13C154-FB65-9369-3DD6-6C1A9F024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1A45DA-78BE-E095-2495-1BBCB91AC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A935FF-C7C3-867F-73CF-0BD941A2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600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A6A0-E083-02EB-3F07-CA9D5BD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7108FFD-9284-4ACE-AB66-2EEE8DCE0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8DC10-F4BD-AC29-C62C-63CFAB16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11275F-81F8-E68A-1A16-22393793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521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F074-F05D-9A38-FACA-B10B1D13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C06A2-5B42-D22E-4321-8C778BC90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CF8DF2-B6DD-7AAD-2AA8-B2898322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915BD5-77FD-AADC-DC92-F2333110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224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9C6B-EED7-79E8-4913-A419DDA1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287A33-E6A4-BD94-1003-CE93D481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B216BD5-9A1A-35F8-7774-DDBAAB622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76E80B-908F-59B3-80C2-6857C7E2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994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en-US" altLang="zh-TW" dirty="0"/>
              <a:t>What I learned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66185" y="2462630"/>
            <a:ext cx="11377711" cy="277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903075" y="190500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447144" y="245905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324344" y="315605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9447144" y="3767658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7782302" y="4538634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15" y="5107707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8699189" y="654166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18AE3B-491F-5EB9-E5EF-5C5E02554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3469" y="2854331"/>
            <a:ext cx="1666558" cy="1219002"/>
          </a:xfrm>
          <a:prstGeom prst="rect">
            <a:avLst/>
          </a:prstGeom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84E4EFD2-DF50-CCB7-6486-61A9E91B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605133"/>
              </p:ext>
            </p:extLst>
          </p:nvPr>
        </p:nvGraphicFramePr>
        <p:xfrm>
          <a:off x="1433774" y="4212774"/>
          <a:ext cx="5285949" cy="202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983">
                  <a:extLst>
                    <a:ext uri="{9D8B030D-6E8A-4147-A177-3AD203B41FA5}">
                      <a16:colId xmlns:a16="http://schemas.microsoft.com/office/drawing/2014/main" val="3342412999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957457956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698655606"/>
                    </a:ext>
                  </a:extLst>
                </a:gridCol>
              </a:tblGrid>
              <a:tr h="1010558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6704084"/>
                  </a:ext>
                </a:extLst>
              </a:tr>
              <a:tr h="101055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583757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F249FE37-15F1-467A-33AA-A3D4FB82F3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561" y="4425950"/>
            <a:ext cx="459825" cy="576328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EA676B8B-08D9-BFAA-D9F9-3912FC15BF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54" y="4425950"/>
            <a:ext cx="447239" cy="57632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42D990D-6BDB-66FB-A717-B43045B919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976" y="4435526"/>
            <a:ext cx="414073" cy="593803"/>
          </a:xfrm>
          <a:prstGeom prst="rect">
            <a:avLst/>
          </a:prstGeom>
        </p:spPr>
      </p:pic>
      <p:sp>
        <p:nvSpPr>
          <p:cNvPr id="29" name="乘號 28">
            <a:extLst>
              <a:ext uri="{FF2B5EF4-FFF2-40B4-BE49-F238E27FC236}">
                <a16:creationId xmlns:a16="http://schemas.microsoft.com/office/drawing/2014/main" id="{DBFCE17B-9105-84E6-F97C-D7B787DE9BC8}"/>
              </a:ext>
            </a:extLst>
          </p:cNvPr>
          <p:cNvSpPr/>
          <p:nvPr/>
        </p:nvSpPr>
        <p:spPr>
          <a:xfrm>
            <a:off x="5400874" y="4476550"/>
            <a:ext cx="836275" cy="1536828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7FA49397-BBA3-EABC-4247-F750B1B2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510" y="1626131"/>
            <a:ext cx="6542566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pPr marL="0" indent="0">
              <a:buNone/>
            </a:pP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9775902" y="6178657"/>
            <a:ext cx="2310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E3C5-B46F-5557-A29F-CFD15CE4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61221-4444-6660-0C6F-BD4342133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GSEA ?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A8662B-EE5A-3D08-D5AB-D5642A38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E2E0CFD-6E38-B24F-2185-E226CDAE84F4}"/>
              </a:ext>
            </a:extLst>
          </p:cNvPr>
          <p:cNvSpPr txBox="1">
            <a:spLocks/>
          </p:cNvSpPr>
          <p:nvPr/>
        </p:nvSpPr>
        <p:spPr>
          <a:xfrm>
            <a:off x="1936376" y="2389094"/>
            <a:ext cx="9890311" cy="3272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zh-TW" b="1" dirty="0"/>
              <a:t>No significant genes</a:t>
            </a:r>
            <a:r>
              <a:rPr lang="zh-TW" altLang="zh-TW" dirty="0"/>
              <a:t> — Multiple testing + small biological effects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b="1" dirty="0"/>
              <a:t>Too many significant genes</a:t>
            </a:r>
            <a:r>
              <a:rPr lang="zh-TW" altLang="zh-TW" dirty="0"/>
              <a:t> — Difficult to identify a biological theme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Miss pathway-level effects</a:t>
            </a:r>
            <a:r>
              <a:rPr lang="zh-TW" altLang="zh-TW" dirty="0"/>
              <a:t> — Genes often act together as a functional unit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Low reproducibility</a:t>
            </a:r>
            <a:r>
              <a:rPr lang="zh-TW" altLang="zh-TW" dirty="0"/>
              <a:t> — Significant gene lists may show little overlap across studies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E6213E-B4AA-AF88-0C80-39EBA49A3F0C}"/>
              </a:ext>
            </a:extLst>
          </p:cNvPr>
          <p:cNvSpPr txBox="1"/>
          <p:nvPr/>
        </p:nvSpPr>
        <p:spPr>
          <a:xfrm>
            <a:off x="9179842" y="5661212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2131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4664-2C5D-6400-B816-D6C4208C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B40607-BC6A-0D36-02C6-76822EE6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F55B71-837B-2165-9090-04143090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F0CD456-FF53-2708-607D-F8467D7B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18" y="1667173"/>
            <a:ext cx="6496774" cy="483398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8A8ADA-288D-E4DA-66F2-C960C7830B26}"/>
              </a:ext>
            </a:extLst>
          </p:cNvPr>
          <p:cNvSpPr txBox="1"/>
          <p:nvPr/>
        </p:nvSpPr>
        <p:spPr>
          <a:xfrm>
            <a:off x="7549997" y="6233890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4802846-9349-54B8-B1CD-2E1882A1C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392" y="1667173"/>
            <a:ext cx="4472894" cy="1418063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98A949B-42F9-A550-8081-2AC80BA06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5392" y="3621307"/>
            <a:ext cx="4559251" cy="216705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25488921-9597-E6AE-31E7-D539258B80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8284" y="3241254"/>
            <a:ext cx="4356231" cy="22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44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6A2-5703-BF30-3F99-CB2F977D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C181D2-5FF0-111B-BF49-945ED34D2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4691741" cy="1280890"/>
          </a:xfrm>
        </p:spPr>
        <p:txBody>
          <a:bodyPr/>
          <a:lstStyle/>
          <a:p>
            <a:r>
              <a:rPr lang="zh-TW" altLang="zh-TW" dirty="0"/>
              <a:t>Enrichment result</a:t>
            </a:r>
            <a:r>
              <a:rPr lang="en-US" altLang="zh-TW" dirty="0"/>
              <a:t>s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32C95-A7B6-0155-C878-2647E5C9E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1D5FDF7-3712-26EB-A9A8-292C696D6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85" y="1366456"/>
            <a:ext cx="4696315" cy="53222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E7BBE62-ED9B-4D6C-E694-736D095B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855" y="492399"/>
            <a:ext cx="3530781" cy="130181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BF324D-2961-1E80-BCB7-7D9520D5D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64" y="2809830"/>
            <a:ext cx="3149762" cy="175904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4F0A882F-1DD2-0482-C9CD-AB9D7AC6EBD5}"/>
              </a:ext>
            </a:extLst>
          </p:cNvPr>
          <p:cNvGrpSpPr/>
          <p:nvPr/>
        </p:nvGrpSpPr>
        <p:grpSpPr>
          <a:xfrm>
            <a:off x="9287525" y="2108107"/>
            <a:ext cx="45720" cy="416747"/>
            <a:chOff x="8957468" y="2036711"/>
            <a:chExt cx="45720" cy="416747"/>
          </a:xfrm>
        </p:grpSpPr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387590DE-A6F5-18D9-F1F8-07B39D8FAC0F}"/>
                </a:ext>
              </a:extLst>
            </p:cNvPr>
            <p:cNvSpPr/>
            <p:nvPr/>
          </p:nvSpPr>
          <p:spPr>
            <a:xfrm>
              <a:off x="8957469" y="203671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流程圖: 接點 16">
              <a:extLst>
                <a:ext uri="{FF2B5EF4-FFF2-40B4-BE49-F238E27FC236}">
                  <a16:creationId xmlns:a16="http://schemas.microsoft.com/office/drawing/2014/main" id="{5ECC0C51-3033-DA47-2AD4-E567EE9F977E}"/>
                </a:ext>
              </a:extLst>
            </p:cNvPr>
            <p:cNvSpPr/>
            <p:nvPr/>
          </p:nvSpPr>
          <p:spPr>
            <a:xfrm>
              <a:off x="8957468" y="2220809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流程圖: 接點 18">
              <a:extLst>
                <a:ext uri="{FF2B5EF4-FFF2-40B4-BE49-F238E27FC236}">
                  <a16:creationId xmlns:a16="http://schemas.microsoft.com/office/drawing/2014/main" id="{CDECF934-99DB-70EB-E1AF-17F36E39AFDD}"/>
                </a:ext>
              </a:extLst>
            </p:cNvPr>
            <p:cNvSpPr/>
            <p:nvPr/>
          </p:nvSpPr>
          <p:spPr>
            <a:xfrm>
              <a:off x="8957468" y="240107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BAD15067-BEEE-36DE-CFE7-ABF984F12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66" y="5218206"/>
            <a:ext cx="4681325" cy="934234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F4E24344-35F9-2335-D961-1593514DB45B}"/>
              </a:ext>
            </a:extLst>
          </p:cNvPr>
          <p:cNvSpPr txBox="1"/>
          <p:nvPr/>
        </p:nvSpPr>
        <p:spPr>
          <a:xfrm>
            <a:off x="9908544" y="6342939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8EA01C81-D5B1-6586-77E8-0C0EBEDC0266}"/>
              </a:ext>
            </a:extLst>
          </p:cNvPr>
          <p:cNvCxnSpPr>
            <a:cxnSpLocks/>
          </p:cNvCxnSpPr>
          <p:nvPr/>
        </p:nvCxnSpPr>
        <p:spPr>
          <a:xfrm>
            <a:off x="10598150" y="5424487"/>
            <a:ext cx="12827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6431F503-F766-8B9A-01EA-A70E6B2EEE17}"/>
              </a:ext>
            </a:extLst>
          </p:cNvPr>
          <p:cNvCxnSpPr>
            <a:cxnSpLocks/>
          </p:cNvCxnSpPr>
          <p:nvPr/>
        </p:nvCxnSpPr>
        <p:spPr>
          <a:xfrm>
            <a:off x="7368117" y="5602287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3E79084F-52D2-2928-2F53-932CFE127BF2}"/>
              </a:ext>
            </a:extLst>
          </p:cNvPr>
          <p:cNvCxnSpPr>
            <a:cxnSpLocks/>
          </p:cNvCxnSpPr>
          <p:nvPr/>
        </p:nvCxnSpPr>
        <p:spPr>
          <a:xfrm>
            <a:off x="7368117" y="57843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759CC4C-D906-252A-4FA2-DC1E3F15FBDE}"/>
              </a:ext>
            </a:extLst>
          </p:cNvPr>
          <p:cNvCxnSpPr>
            <a:cxnSpLocks/>
          </p:cNvCxnSpPr>
          <p:nvPr/>
        </p:nvCxnSpPr>
        <p:spPr>
          <a:xfrm>
            <a:off x="7338484" y="59748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072B04E-888F-EE7C-9F2B-F137E839F5FE}"/>
              </a:ext>
            </a:extLst>
          </p:cNvPr>
          <p:cNvCxnSpPr>
            <a:cxnSpLocks/>
          </p:cNvCxnSpPr>
          <p:nvPr/>
        </p:nvCxnSpPr>
        <p:spPr>
          <a:xfrm>
            <a:off x="7284666" y="6179427"/>
            <a:ext cx="398870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073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F87A706-1FC3-C536-FC19-65C596104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18473"/>
              </p:ext>
            </p:extLst>
          </p:nvPr>
        </p:nvGraphicFramePr>
        <p:xfrm>
          <a:off x="996176" y="1734012"/>
          <a:ext cx="10712601" cy="459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28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825444">
                <a:tc>
                  <a:txBody>
                    <a:bodyPr/>
                    <a:lstStyle/>
                    <a:p>
                      <a:pPr algn="ctr"/>
                      <a:endParaRPr lang="zh-TW" altLang="en-US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Alphaviridae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Coronaviridae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Flaviviridae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Orthoherpesviridae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Orthomyxoviridae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Picornaviridae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Reoviridae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Retroviridae</a:t>
                      </a:r>
                      <a:endParaRPr lang="zh-TW" altLang="en-US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KEGG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Reactome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GO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MSigDB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WikiPathways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66" y="1152907"/>
            <a:ext cx="5573713" cy="538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585939" y="1904999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752" y="1946038"/>
            <a:ext cx="6972217" cy="3692507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538047" y="2680214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534401" y="31501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7923743" y="3793581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534401" y="40930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398482" y="346126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6836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8C871-95C4-1F17-C1D6-0198E1200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70BC3F-03CD-D021-E758-9A5AF87C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5C2203-E17B-5BC7-0930-3533FE7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C8F3010-D3B0-FD09-6D5B-A0858A661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925" y="1983581"/>
            <a:ext cx="7967776" cy="369321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1824682-FD7C-E6B5-4618-83AA704E1F62}"/>
              </a:ext>
            </a:extLst>
          </p:cNvPr>
          <p:cNvSpPr txBox="1"/>
          <p:nvPr/>
        </p:nvSpPr>
        <p:spPr>
          <a:xfrm>
            <a:off x="5047813" y="5956891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6607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5D37-13E0-8293-701A-A02A029D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0E476D-8A0D-5C36-DA19-F74BDC2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DECA3-C196-103A-C848-75F5CB9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21549C0-C1D3-EDFB-E267-3C83A6F06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494" y="2242384"/>
            <a:ext cx="7244566" cy="253123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1734A34-28E0-1942-0760-953FE805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4" y="1682070"/>
            <a:ext cx="2029285" cy="301425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AAF1D0F-3335-2B6D-F5B0-4D2B5CE829E2}"/>
              </a:ext>
            </a:extLst>
          </p:cNvPr>
          <p:cNvSpPr txBox="1"/>
          <p:nvPr/>
        </p:nvSpPr>
        <p:spPr>
          <a:xfrm>
            <a:off x="5666378" y="5754289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88F49F0-1884-550B-3213-3DF063677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311" y="5175930"/>
            <a:ext cx="5791498" cy="22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678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882" y="2661896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6651325" y="6233890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56218" y="2545471"/>
            <a:ext cx="21121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  <a:p>
            <a:endParaRPr lang="en-US" altLang="zh-TW" sz="16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!= Mock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946684" y="2853501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endParaRPr lang="en-US" altLang="zh-TW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15351" y="4017936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932" y="2518565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</a:p>
          <a:p>
            <a:endParaRPr lang="en-US" altLang="zh-TW" sz="1600" dirty="0"/>
          </a:p>
          <a:p>
            <a:endParaRPr lang="en-US" altLang="zh-TW" sz="11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= 1dpi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813969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</a:t>
            </a:r>
            <a:r>
              <a:rPr lang="en-US" altLang="zh-TW" sz="1600" b="1" dirty="0">
                <a:solidFill>
                  <a:srgbClr val="00B050"/>
                </a:solidFill>
              </a:rPr>
              <a:t>07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7505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en-US" altLang="zh-TW" sz="1600" b="1" dirty="0"/>
              <a:t>42769 Unknown cell</a:t>
            </a:r>
            <a:endParaRPr lang="zh-TW" altLang="zh-TW" sz="1600" b="1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17B0911-595A-6E8E-C068-0ED99F5E0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658"/>
          <a:stretch>
            <a:fillRect/>
          </a:stretch>
        </p:blipFill>
        <p:spPr>
          <a:xfrm>
            <a:off x="8907094" y="3176302"/>
            <a:ext cx="2863161" cy="192941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F65ECF-624C-A254-A7B6-477978D6B5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695"/>
          <a:stretch>
            <a:fillRect/>
          </a:stretch>
        </p:blipFill>
        <p:spPr>
          <a:xfrm>
            <a:off x="6096000" y="3193113"/>
            <a:ext cx="2811094" cy="1895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AF17326-44F9-8C17-B33F-719F7943E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426" y="533874"/>
            <a:ext cx="3262049" cy="4032154"/>
          </a:xfrm>
          <a:prstGeom prst="rect">
            <a:avLst/>
          </a:prstGeom>
        </p:spPr>
      </p:pic>
      <p:grpSp>
        <p:nvGrpSpPr>
          <p:cNvPr id="27" name="群組 26">
            <a:extLst>
              <a:ext uri="{FF2B5EF4-FFF2-40B4-BE49-F238E27FC236}">
                <a16:creationId xmlns:a16="http://schemas.microsoft.com/office/drawing/2014/main" id="{A3992759-24F0-1145-F984-1140E81CBEFB}"/>
              </a:ext>
            </a:extLst>
          </p:cNvPr>
          <p:cNvGrpSpPr/>
          <p:nvPr/>
        </p:nvGrpSpPr>
        <p:grpSpPr>
          <a:xfrm>
            <a:off x="8321653" y="4743773"/>
            <a:ext cx="3041315" cy="1768466"/>
            <a:chOff x="8873975" y="4406243"/>
            <a:chExt cx="3041315" cy="176846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5B63523C-1705-8B10-42CB-C97B5933F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4406243"/>
              <a:ext cx="2938692" cy="1185864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007FCDD6-B027-F486-0F76-FFFAA27CBB76}"/>
                </a:ext>
              </a:extLst>
            </p:cNvPr>
            <p:cNvSpPr txBox="1"/>
            <p:nvPr/>
          </p:nvSpPr>
          <p:spPr>
            <a:xfrm>
              <a:off x="8873975" y="5897710"/>
              <a:ext cx="26634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TW" altLang="zh-TW" sz="1200" dirty="0"/>
                <a:t>GCN (Kipf &amp; Welling ICLR 2017)</a:t>
              </a:r>
              <a:endParaRPr lang="zh-TW" altLang="en-US" sz="1200" dirty="0"/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6059A20C-566D-8AEB-828D-7E724561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5497155"/>
              <a:ext cx="2751042" cy="539055"/>
            </a:xfrm>
            <a:prstGeom prst="rect">
              <a:avLst/>
            </a:prstGeom>
          </p:spPr>
        </p:pic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096342" y="1825959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183690" y="2728144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1631684" y="3966786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validation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5778197" y="2851254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035663" y="4963372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3651062" y="5895336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477717" y="2386502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5661286" y="2385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545937" y="358570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498571" y="45531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4784023" y="5542175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088324" y="4553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343058" y="3369075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343058" y="3921770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1492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310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7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4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5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6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E3FD64E5-2796-8420-7757-D18974B72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7" y="683985"/>
            <a:ext cx="3117026" cy="318099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8CA9844-37BA-EE82-AEB0-C26830AA9055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0.9882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37325" y="3126151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</a:t>
            </a:r>
            <a:r>
              <a:rPr lang="en-US" altLang="zh-TW" dirty="0"/>
              <a:t>19823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</a:t>
            </a:r>
            <a:r>
              <a:rPr lang="en-US" altLang="zh-TW" dirty="0"/>
              <a:t>18001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</a:t>
            </a:r>
            <a:r>
              <a:rPr lang="en-US" altLang="zh-TW" dirty="0"/>
              <a:t>90.81</a:t>
            </a:r>
            <a:r>
              <a:rPr lang="zh-TW" altLang="zh-TW" dirty="0"/>
              <a:t>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41952" y="3403150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</a:t>
            </a:r>
            <a:r>
              <a:rPr lang="en-US" altLang="zh-TW" dirty="0"/>
              <a:t>2289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</a:t>
            </a:r>
            <a:r>
              <a:rPr lang="en-US" altLang="zh-TW" dirty="0"/>
              <a:t>15712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0491" y="3932931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0493" y="361517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34EBB8-71F5-8983-3B67-1CDA09859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0" y="1905000"/>
            <a:ext cx="5918210" cy="441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23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46441"/>
              </p:ext>
            </p:extLst>
          </p:nvPr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876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1160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56.9</a:t>
                      </a: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7823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10137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56.4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6190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5764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48.2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7151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27.4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26.5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225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0.8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/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28.3%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chemeClr val="tx1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3212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1219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  <a:endParaRPr lang="zh-TW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C5AA-FE4C-0617-11C1-329BBFDE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2F1176-A6D9-030E-CEE6-C29F1596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Logistics regression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3A912B-B905-0B71-1BEE-B07A4B21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24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0A83CA9-1E9F-88F0-52DF-0ABD95B20728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</a:t>
                      </a:r>
                      <a:r>
                        <a:rPr lang="en-US" altLang="zh-TW" sz="1600" dirty="0"/>
                        <a:t>40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5DCF4FD-8157-28B5-4D2B-8D14DB47CBCB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9D024871-1AF2-C831-9D1C-BCC75C3BF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41" y="421105"/>
            <a:ext cx="3417382" cy="348751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125ED8-C94E-865A-72E6-CFBA6B8B8DB3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0.9992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012825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571B-7573-28A1-F002-1C6BB70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3E4A7C-FCD7-20CF-1BB1-DF8BAEA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regression(1)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5521BF-68AC-379E-FB3B-4D481BCE0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25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EEA055C-5EDC-AB31-4E1F-A4A8AA234D4F}"/>
              </a:ext>
            </a:extLst>
          </p:cNvPr>
          <p:cNvGraphicFramePr>
            <a:graphicFrameLocks noGrp="1"/>
          </p:cNvGraphicFramePr>
          <p:nvPr/>
        </p:nvGraphicFramePr>
        <p:xfrm>
          <a:off x="2411660" y="2732620"/>
          <a:ext cx="8259300" cy="2292140"/>
        </p:xfrm>
        <a:graphic>
          <a:graphicData uri="http://schemas.openxmlformats.org/drawingml/2006/table">
            <a:tbl>
              <a:tblPr/>
              <a:tblGrid>
                <a:gridCol w="2064825">
                  <a:extLst>
                    <a:ext uri="{9D8B030D-6E8A-4147-A177-3AD203B41FA5}">
                      <a16:colId xmlns:a16="http://schemas.microsoft.com/office/drawing/2014/main" val="3953364741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502616432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656777964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2921711030"/>
                    </a:ext>
                  </a:extLst>
                </a:gridCol>
              </a:tblGrid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GCN \ Logistic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368731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 dirty="0"/>
                        <a:t>GCN = 0</a:t>
                      </a:r>
                      <a:endParaRPr lang="zh-TW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16,523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6,423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22,946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06729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GCN = 1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1,963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17,860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19,823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202364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Total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18,486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24,283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42,769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77820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425E9347-5C77-2F8A-7BC4-7D095D71B960}"/>
              </a:ext>
            </a:extLst>
          </p:cNvPr>
          <p:cNvSpPr txBox="1"/>
          <p:nvPr/>
        </p:nvSpPr>
        <p:spPr>
          <a:xfrm>
            <a:off x="7631186" y="5367107"/>
            <a:ext cx="340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Disa</a:t>
            </a:r>
            <a:r>
              <a:rPr lang="zh-TW" altLang="zh-TW" dirty="0">
                <a:solidFill>
                  <a:srgbClr val="FF0000"/>
                </a:solidFill>
              </a:rPr>
              <a:t>greement rate</a:t>
            </a:r>
            <a:r>
              <a:rPr lang="en-US" altLang="zh-TW" dirty="0">
                <a:solidFill>
                  <a:srgbClr val="FF0000"/>
                </a:solidFill>
              </a:rPr>
              <a:t> = 19.6</a:t>
            </a:r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1172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9377-5161-B7C8-076E-2C1C68062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4FFAF-49D6-CA3F-E9A7-BA5C029D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1A0A71-1ECD-BFB1-027B-36481294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26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E6119B-BE9D-5747-5AB8-3EA1341CC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47" y="1602650"/>
            <a:ext cx="6189867" cy="470049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03DF013-3657-E35B-4370-BD8F01548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885" y="2445807"/>
            <a:ext cx="5102355" cy="165826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6829D003-A6A9-50C9-DB78-C7F1CF84BEB2}"/>
              </a:ext>
            </a:extLst>
          </p:cNvPr>
          <p:cNvSpPr/>
          <p:nvPr/>
        </p:nvSpPr>
        <p:spPr>
          <a:xfrm>
            <a:off x="6841884" y="3869933"/>
            <a:ext cx="5102355" cy="234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6B1A73-A3EF-0AFD-E51F-D96453A4B5A3}"/>
              </a:ext>
            </a:extLst>
          </p:cNvPr>
          <p:cNvSpPr txBox="1"/>
          <p:nvPr/>
        </p:nvSpPr>
        <p:spPr>
          <a:xfrm>
            <a:off x="6702539" y="4665771"/>
            <a:ext cx="54894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</a:t>
            </a:r>
            <a:r>
              <a:rPr lang="zh-TW" altLang="zh-TW" dirty="0">
                <a:solidFill>
                  <a:srgbClr val="FF0000"/>
                </a:solidFill>
              </a:rPr>
              <a:t>The criterion used by GCN to determine whether a cell is infected—based on the abundance of viral transcripts—is quite peculiar.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491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7B-2556-F895-A468-8A9744CD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88FB-0907-D75B-AB16-61E66359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A13299-D5CB-A8EA-F3C8-B78B9543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273B78-DE5A-CEB9-D87E-34F7FD345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909062"/>
            <a:ext cx="5790871" cy="43248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2042ECA-9AED-A523-FDDA-6261DC197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914" y="2606994"/>
            <a:ext cx="5088361" cy="88035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53F9E536-7B0F-7D6A-C61A-FCD2085555C6}"/>
              </a:ext>
            </a:extLst>
          </p:cNvPr>
          <p:cNvSpPr txBox="1"/>
          <p:nvPr/>
        </p:nvSpPr>
        <p:spPr>
          <a:xfrm>
            <a:off x="6748914" y="4352836"/>
            <a:ext cx="51252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As the duration of infection increases, the number of viral transcripts in the cells rises, making them more likely to be classified as infected; both models exhibit the same trend.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2429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7CA6-8C83-2D11-A95B-64889D31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46D4CA-A1D2-9FF3-63D9-04DE362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6989390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What I Learned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794D20-F8CD-73C8-FCC1-B94C00E6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3916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</a:t>
            </a:r>
            <a:r>
              <a:rPr lang="zh-TW" altLang="zh-TW" dirty="0"/>
              <a:t>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CCC91DD-30A3-B788-CD25-C7C174E81D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751" y="1063984"/>
            <a:ext cx="3870905" cy="1927479"/>
          </a:xfrm>
          <a:prstGeom prst="rect">
            <a:avLst/>
          </a:prstGeom>
        </p:spPr>
      </p:pic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A6D2A39-0C54-816F-2E5E-E43545F5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85" y="2077279"/>
            <a:ext cx="5753031" cy="4217504"/>
          </a:xfrm>
        </p:spPr>
        <p:txBody>
          <a:bodyPr/>
          <a:lstStyle/>
          <a:p>
            <a:r>
              <a:rPr lang="zh-TW" altLang="zh-TW" dirty="0"/>
              <a:t>Before conducting research, you need to clearly define your motivation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Making plans for the subsequent results of the experiment</a:t>
            </a:r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zh-TW" altLang="zh-TW" dirty="0"/>
              <a:t>Learn to use Git for version control</a:t>
            </a:r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B264245-BA41-4597-9730-58EAB5041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103" y="5218971"/>
            <a:ext cx="3896141" cy="146641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964078C-CE18-1899-1356-0390BDDFC9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333" y="3025522"/>
            <a:ext cx="2699384" cy="192747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915C09C-5D11-7383-49CA-8F32B3E19495}"/>
              </a:ext>
            </a:extLst>
          </p:cNvPr>
          <p:cNvSpPr txBox="1"/>
          <p:nvPr/>
        </p:nvSpPr>
        <p:spPr>
          <a:xfrm>
            <a:off x="7130125" y="3297405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Logistic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B48280B-95B7-46B9-7856-5972135C43B3}"/>
              </a:ext>
            </a:extLst>
          </p:cNvPr>
          <p:cNvSpPr txBox="1"/>
          <p:nvPr/>
        </p:nvSpPr>
        <p:spPr>
          <a:xfrm>
            <a:off x="10224508" y="3301911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GCN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1813</TotalTime>
  <Words>1408</Words>
  <Application>Microsoft Office PowerPoint</Application>
  <PresentationFormat>寬螢幕</PresentationFormat>
  <Paragraphs>436</Paragraphs>
  <Slides>29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6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Outline</vt:lpstr>
      <vt:lpstr>Aim 1</vt:lpstr>
      <vt:lpstr>Previous work    </vt:lpstr>
      <vt:lpstr>Enrichment Analysis</vt:lpstr>
      <vt:lpstr>Gene Set Enrichment Analysis</vt:lpstr>
      <vt:lpstr>Why GSEA ?</vt:lpstr>
      <vt:lpstr>Gene Set Enrichment Analysis</vt:lpstr>
      <vt:lpstr>Enrichment results</vt:lpstr>
      <vt:lpstr>Current results(RF) </vt:lpstr>
      <vt:lpstr>Alphaviridae(GO)</vt:lpstr>
      <vt:lpstr>Coronaviridae(KEGG)</vt:lpstr>
      <vt:lpstr>Orthoherpesviridae(Reactome)</vt:lpstr>
      <vt:lpstr>Aim 2</vt:lpstr>
      <vt:lpstr>Previous work    </vt:lpstr>
      <vt:lpstr>Previous work    </vt:lpstr>
      <vt:lpstr>Literature Review   </vt:lpstr>
      <vt:lpstr>Data preprocessing</vt:lpstr>
      <vt:lpstr>Topological relationships of cells</vt:lpstr>
      <vt:lpstr>GCN model</vt:lpstr>
      <vt:lpstr>GCN results</vt:lpstr>
      <vt:lpstr>GCN results(2)</vt:lpstr>
      <vt:lpstr>Infection and Cell Type</vt:lpstr>
      <vt:lpstr>Logistics regression</vt:lpstr>
      <vt:lpstr>GCN vs Logistics regression(1)</vt:lpstr>
      <vt:lpstr>GCN vs Logistics regression(2)</vt:lpstr>
      <vt:lpstr>GCN vs Logistics regression(3)</vt:lpstr>
      <vt:lpstr>What I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48</cp:revision>
  <dcterms:created xsi:type="dcterms:W3CDTF">2026-07-22T01:16:54Z</dcterms:created>
  <dcterms:modified xsi:type="dcterms:W3CDTF">2026-08-25T04:33:14Z</dcterms:modified>
</cp:coreProperties>
</file>