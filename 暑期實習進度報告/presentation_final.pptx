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71" r:id="rId3"/>
    <p:sldId id="277" r:id="rId4"/>
    <p:sldId id="272" r:id="rId5"/>
    <p:sldId id="284" r:id="rId6"/>
    <p:sldId id="285" r:id="rId7"/>
    <p:sldId id="292" r:id="rId8"/>
    <p:sldId id="286" r:id="rId9"/>
    <p:sldId id="291" r:id="rId10"/>
    <p:sldId id="258" r:id="rId11"/>
    <p:sldId id="287" r:id="rId12"/>
    <p:sldId id="288" r:id="rId13"/>
    <p:sldId id="289" r:id="rId14"/>
    <p:sldId id="278" r:id="rId15"/>
    <p:sldId id="290" r:id="rId16"/>
    <p:sldId id="293" r:id="rId17"/>
    <p:sldId id="274" r:id="rId18"/>
    <p:sldId id="283" r:id="rId19"/>
    <p:sldId id="294" r:id="rId20"/>
    <p:sldId id="295" r:id="rId21"/>
    <p:sldId id="296" r:id="rId22"/>
    <p:sldId id="297" r:id="rId23"/>
    <p:sldId id="298" r:id="rId24"/>
    <p:sldId id="304" r:id="rId25"/>
    <p:sldId id="306" r:id="rId26"/>
    <p:sldId id="307" r:id="rId27"/>
    <p:sldId id="310" r:id="rId28"/>
    <p:sldId id="311" r:id="rId29"/>
    <p:sldId id="27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16" autoAdjust="0"/>
  </p:normalViewPr>
  <p:slideViewPr>
    <p:cSldViewPr snapToGrid="0">
      <p:cViewPr varScale="1">
        <p:scale>
          <a:sx n="96" d="100"/>
          <a:sy n="96" d="100"/>
        </p:scale>
        <p:origin x="5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33D7-A86A-08ED-3E8B-904FFBE7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9E56DE-1901-6A93-76B9-78C071FFE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C121C4-2ABA-483E-DD77-ED7C0E48B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/>
              <a:t>圖片來源</a:t>
            </a:r>
            <a:r>
              <a:rPr lang="en-US" altLang="zh-TW" sz="1200" dirty="0"/>
              <a:t>:</a:t>
            </a:r>
            <a:r>
              <a:rPr lang="en-US" altLang="zh-TW" sz="1200" dirty="0" err="1"/>
              <a:t>pngtree</a:t>
            </a:r>
            <a:endParaRPr lang="en-US" alt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79D021-5551-4FDD-DE44-F9FD47869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772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989D-2D7C-7E8D-944D-AF370B54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BAB1A09-2A2E-227F-3C45-4AB219266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C1C6A7-D684-2D4B-8946-EE86A959F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/>
              <a:t>做</a:t>
            </a:r>
            <a:r>
              <a:rPr lang="en-US" altLang="zh-TW" sz="1200" dirty="0" err="1"/>
              <a:t>gsea</a:t>
            </a:r>
            <a:r>
              <a:rPr lang="zh-TW" altLang="en-US" sz="1200" dirty="0"/>
              <a:t>的原因</a:t>
            </a:r>
            <a:endParaRPr lang="en-US" alt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971179-6E5A-5515-30FE-C7BA341B9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641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B120-7646-393C-DA46-FAE47378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B335F8A-2D02-46EF-081D-66D909E1F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15F0E2-EEEE-703C-BC2F-FDE2164FE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/>
              <a:t>做</a:t>
            </a:r>
            <a:r>
              <a:rPr lang="en-US" altLang="zh-TW" sz="1200" dirty="0" err="1"/>
              <a:t>gsea</a:t>
            </a:r>
            <a:r>
              <a:rPr lang="zh-TW" altLang="en-US" sz="1200" dirty="0"/>
              <a:t>的原因</a:t>
            </a:r>
            <a:endParaRPr lang="en-US" alt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99E36F-734E-A38B-4D37-0AAFA774B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447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920A-EC10-E180-1C99-2FAB3B98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6FA62A-E79C-A83A-5CA5-F59328A92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A1C41A-5016-8205-055F-3736E72BF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5EE7B-2155-E8CC-15D7-461F13AF8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807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67521-6F38-2770-A364-89E2CE0C0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168EFC6-5DB1-9EF0-2760-1510CB754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E66491-D741-969D-17B7-087F01D04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 err="1"/>
              <a:t>Orthoherpesviridae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水痘、帶狀皰疹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b="1" dirty="0" err="1"/>
              <a:t>Reactome</a:t>
            </a:r>
            <a:r>
              <a:rPr lang="zh-TW" altLang="en-US" b="1" dirty="0"/>
              <a:t> 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zh-TW" altLang="zh-TW" b="0" dirty="0"/>
              <a:t>是一個開放原始碼（open-source）、開放存取（open access）、人工策展（manually curated）並經過同儕審查（peer-reviewed）的生物學 pathway 資料庫。</a:t>
            </a:r>
            <a:endParaRPr lang="zh-TW" altLang="en-US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C4BBEC-3F68-7DBD-EB14-A591A6B37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8776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 err="1"/>
              <a:t>Alphaviridae</a:t>
            </a:r>
            <a:r>
              <a:rPr lang="en-US" altLang="zh-TW" sz="1200" b="1" dirty="0"/>
              <a:t> : 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傳染性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關節炎、腦炎、皮疹和發燒，透過病媒傳播</a:t>
            </a:r>
            <a:endParaRPr lang="en-US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 err="1"/>
              <a:t>Coronaviridae</a:t>
            </a:r>
            <a:r>
              <a:rPr lang="zh-TW" altLang="en-US" sz="1200" b="1" dirty="0"/>
              <a:t> </a:t>
            </a:r>
            <a:r>
              <a:rPr lang="en-US" altLang="zh-TW" sz="1200" b="1" dirty="0"/>
              <a:t>:</a:t>
            </a:r>
            <a:r>
              <a:rPr lang="zh-TW" altLang="en-US" sz="1200" b="1" dirty="0"/>
              <a:t> </a:t>
            </a:r>
            <a:r>
              <a:rPr lang="en-US" altLang="zh-TW" sz="1200" b="0" dirty="0"/>
              <a:t>Sars</a:t>
            </a:r>
            <a:r>
              <a:rPr lang="zh-TW" altLang="en-US" sz="1200" b="0" dirty="0"/>
              <a:t>、</a:t>
            </a:r>
            <a:r>
              <a:rPr lang="en-US" altLang="zh-TW" sz="1200" b="0" dirty="0"/>
              <a:t>Covid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/>
              <a:t>Orthomyxoviridae</a:t>
            </a:r>
            <a:r>
              <a:rPr lang="zh-TW" altLang="en-US" sz="1200" b="1" dirty="0"/>
              <a:t> </a:t>
            </a:r>
            <a:r>
              <a:rPr lang="en-US" altLang="zh-TW" sz="1200" b="1" dirty="0"/>
              <a:t>:</a:t>
            </a:r>
            <a:r>
              <a:rPr lang="zh-TW" altLang="en-US" sz="1200" b="1" dirty="0"/>
              <a:t> </a:t>
            </a:r>
            <a:r>
              <a:rPr lang="zh-TW" altLang="en-US" sz="1200" b="0" dirty="0"/>
              <a:t>流感</a:t>
            </a:r>
            <a:endParaRPr lang="en-US" altLang="zh-TW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/>
              <a:t>KEGG : 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日本於1995年制定的人類基因組計劃，此為關於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基因、基因組、蛋白質、酶促反應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以及生物化學物質的網絡資料庫。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: </a:t>
            </a:r>
            <a:r>
              <a:rPr lang="zh-TW" altLang="zh-TW" b="0" dirty="0"/>
              <a:t>是目前全球最大的基因功能資訊來源。這些資訊同時具有**人類可讀（human-readable）與機器可讀（machine-readable）的形式，因此能作為生物醫學研究中，大規模分子生物學與遺傳學實驗進行計算分析（computational analysis）**的重要基礎。</a:t>
            </a:r>
            <a:endParaRPr lang="zh-TW" altLang="en-US" sz="1200" b="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1" dirty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528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6BCE-DD3E-DC5D-D1CA-882509BA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BA4D44-7FBC-24FA-F4FB-1C8F64FA9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BD83D8-DDEB-FE63-3FB0-FA2FF0BB8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圖片來源</a:t>
            </a:r>
            <a:r>
              <a:rPr lang="en-US" altLang="zh-TW" dirty="0"/>
              <a:t>:https://www.ebi.ac.uk/QuickGO/GTerm?id=GO:0046596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C84462-E42D-8E23-82AD-5D85BB4AE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418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33D7-A86A-08ED-3E8B-904FFBE7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9E56DE-1901-6A93-76B9-78C071FFE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C121C4-2ABA-483E-DD77-ED7C0E48B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圖片來源</a:t>
            </a:r>
            <a:r>
              <a:rPr lang="en-US" altLang="zh-TW" dirty="0"/>
              <a:t>:https://www.kegg.jp/pathway/map05143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79D021-5551-4FDD-DE44-F9FD47869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772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E2ED-16A6-6D2B-AA9E-5FC6FCA7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7AEC756-9103-E652-F2CF-C55DF12BF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194A30-45DB-4307-45E1-51F742F00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資料來源</a:t>
            </a:r>
            <a:r>
              <a:rPr lang="en-US" altLang="zh-TW" dirty="0"/>
              <a:t>:NCBI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74E1A6-55CE-D291-C193-490525D95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709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588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8EEF1-7FF7-CAD0-BCA0-6E9B79BC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5188187-7DDB-9D11-6316-C309A32AE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6B72CA-F1E0-DB97-6F17-323DFA37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4F19F-8B41-7593-BA6F-9A88D5ED7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747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9406-37CA-6E7B-D581-57CC5FB3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93AB5CA-0137-45F1-81CF-85F00280D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7A9DDC-D6B0-5095-0B8D-49085CC67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5A1DEA-664C-6A37-6388-41DE57A5D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689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9094-BCD1-F2C8-FA17-337C76FB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2C5334-BFC3-E298-70CD-C7F66BCA3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CBDD09-E185-9502-1A95-25912008B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FC605E-38F3-0E44-C121-8BECD5091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961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6ECE-5C6A-6721-E9D5-CB7DBE36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DAB81D8-A9BC-4E6D-D54F-36B7ECD3C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40BFA59-72D0-CE91-D0BF-6A7A99F5B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513709-FD3E-B98B-0F38-EA03ED8C5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384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78BCF-A969-8E73-D287-0274B537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928AD2-8DEF-7D55-337F-DCBC80310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413B7A-6E9C-D2B0-001A-78E2B323D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3CA354-90FB-D357-F995-D803ECFEF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932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0BD8-2727-989E-5ECF-A724A387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B13C154-FB65-9369-3DD6-6C1A9F024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71A45DA-78BE-E095-2495-1BBCB91AC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A935FF-C7C3-867F-73CF-0BD941A2F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600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A6A0-E083-02EB-3F07-CA9D5BDB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108FFD-9284-4ACE-AB66-2EEE8DCE0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28DC10-F4BD-AC29-C62C-63CFAB167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11275F-81F8-E68A-1A16-22393793C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521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F074-F05D-9A38-FACA-B10B1D13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00C06A2-5B42-D22E-4321-8C778BC90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CF8DF2-B6DD-7AAD-2AA8-B2898322D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915BD5-77FD-AADC-DC92-F23331102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4322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9C6B-EED7-79E8-4913-A419DDA1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B287A33-E6A4-BD94-1003-CE93D4813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B216BD5-9A1A-35F8-7774-DDBAAB622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76E80B-908F-59B3-80C2-6857C7E20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99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C305-5696-4A7F-86AE-9C076744B4EA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50FA-4614-4BF5-8794-75F97A0B2544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36E6-5EE0-4A71-81C3-454B5C7B8BFB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ED53-FC9D-48CB-AA63-3CC0B044F3C0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8557-2EF5-4AB0-8FDE-59BF801865CC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EE1F-4E42-4556-91FB-8362A0311142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E288-AC8B-4B62-B049-7671F3A2DFF0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2A0F-D946-4FC0-8D63-AF5246A679AE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BE9F-1777-4CD2-896A-5CE0FA3014FF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32D5-B03D-4717-A904-795F862C1E5D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C8B2-1CA8-4214-9C14-3CAA749726CE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667E-6D94-4A33-B267-6660FFC03615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C43B-7B97-41B4-A0D9-48858736EFA4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F5B8-0A25-46D3-80D8-0863E07A873E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9F2-24E4-479E-A18C-BF8EB1ED4286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6E13-70FA-486A-9C9C-12B2AF2AEAF1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7AFE-6A4C-47D2-A958-3F76A70AFF87}" type="datetime1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704014"/>
            <a:ext cx="8915399" cy="1825526"/>
          </a:xfrm>
        </p:spPr>
        <p:txBody>
          <a:bodyPr>
            <a:normAutofit/>
          </a:bodyPr>
          <a:lstStyle/>
          <a:p>
            <a:r>
              <a:rPr lang="zh-TW" altLang="zh-TW" dirty="0"/>
              <a:t>Summer Program Completion Report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2026.08.26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50D6A-9F9B-15A5-0DDF-16CE3A30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8D8B10-28F2-1223-9B31-546963343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Aim 1:</a:t>
            </a:r>
          </a:p>
          <a:p>
            <a:pPr marL="400050" lvl="1" indent="0">
              <a:buNone/>
            </a:pPr>
            <a:r>
              <a:rPr lang="zh-TW" altLang="zh-TW" dirty="0"/>
              <a:t>Conducting downstream analysis—such as enrichment analysis—on gene sets identified by </a:t>
            </a:r>
            <a:r>
              <a:rPr lang="en-US" altLang="zh-TW" dirty="0"/>
              <a:t>machine</a:t>
            </a:r>
            <a:r>
              <a:rPr lang="zh-TW" altLang="zh-TW" dirty="0"/>
              <a:t> learning models.</a:t>
            </a:r>
          </a:p>
          <a:p>
            <a:endParaRPr lang="en-US" altLang="zh-TW" dirty="0"/>
          </a:p>
          <a:p>
            <a:r>
              <a:rPr lang="en-US" altLang="zh-TW" dirty="0"/>
              <a:t>Aim 2:</a:t>
            </a:r>
          </a:p>
          <a:p>
            <a:pPr marL="400050" lvl="1" indent="0">
              <a:buNone/>
            </a:pPr>
            <a:r>
              <a:rPr lang="zh-TW" altLang="zh-TW" dirty="0"/>
              <a:t>Predict unknown cell</a:t>
            </a:r>
            <a:r>
              <a:rPr lang="en-US" altLang="zh-TW" dirty="0"/>
              <a:t>s</a:t>
            </a:r>
            <a:r>
              <a:rPr lang="zh-TW" altLang="zh-TW" dirty="0"/>
              <a:t> using existing gene expression data and some known cell labels.</a:t>
            </a:r>
            <a:endParaRPr lang="en-US" altLang="zh-TW" dirty="0"/>
          </a:p>
          <a:p>
            <a:pPr marL="400050" lvl="1" indent="0">
              <a:buNone/>
            </a:pPr>
            <a:endParaRPr lang="zh-TW" altLang="zh-TW" dirty="0"/>
          </a:p>
          <a:p>
            <a:r>
              <a:rPr lang="en-US" altLang="zh-TW" dirty="0"/>
              <a:t>What I learned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FDA7D-6860-0C75-D811-F1A62E7E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9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9DB2-3C9B-17AA-939E-B22AF460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70039-7B31-EC98-5F09-FF9681AE7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1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B051F4-8DF7-9898-A05F-CA2C15D8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59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F5ACD-5FCF-2BEC-5632-292EEB33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Previous work</a:t>
            </a:r>
            <a:br>
              <a:rPr lang="zh-TW" altLang="zh-TW" dirty="0"/>
            </a:br>
            <a:br>
              <a:rPr lang="zh-TW" altLang="zh-TW" dirty="0"/>
            </a:br>
            <a:br>
              <a:rPr lang="zh-TW" altLang="zh-TW" dirty="0"/>
            </a:br>
            <a:br>
              <a:rPr lang="zh-TW" altLang="zh-TW" dirty="0"/>
            </a:b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A503C2-EF1D-8E9B-F725-CA9AED1E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EE5791E9-DD31-4C06-3A96-2BDAA66882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680"/>
          <a:stretch>
            <a:fillRect/>
          </a:stretch>
        </p:blipFill>
        <p:spPr>
          <a:xfrm>
            <a:off x="666185" y="2462630"/>
            <a:ext cx="11377711" cy="277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3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C629-8EFE-F779-BF58-246D703B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9F34F-889A-F640-0FD6-6EF04083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Enrichment Analysis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6EA719-BF09-C83B-0B26-AB2AF0BD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5A1E4A6-20B0-1C92-92F4-E1CCD88465BB}"/>
              </a:ext>
            </a:extLst>
          </p:cNvPr>
          <p:cNvSpPr txBox="1"/>
          <p:nvPr/>
        </p:nvSpPr>
        <p:spPr>
          <a:xfrm>
            <a:off x="7903075" y="1905000"/>
            <a:ext cx="3318128" cy="3077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dirty="0"/>
              <a:t>Remove genes with a value of 0</a:t>
            </a:r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52943079-64AE-B258-A206-C2D378AA132B}"/>
              </a:ext>
            </a:extLst>
          </p:cNvPr>
          <p:cNvSpPr/>
          <p:nvPr/>
        </p:nvSpPr>
        <p:spPr>
          <a:xfrm>
            <a:off x="9447144" y="2459059"/>
            <a:ext cx="229989" cy="414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7BF690F-3767-D89B-2902-DCB36F80CBC7}"/>
              </a:ext>
            </a:extLst>
          </p:cNvPr>
          <p:cNvSpPr txBox="1"/>
          <p:nvPr/>
        </p:nvSpPr>
        <p:spPr>
          <a:xfrm>
            <a:off x="7324344" y="3156055"/>
            <a:ext cx="4666095" cy="3077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dirty="0"/>
              <a:t>Rank the genes according to Shapley values</a:t>
            </a:r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81D540B2-6D0F-07F6-61DF-3E694792472B}"/>
              </a:ext>
            </a:extLst>
          </p:cNvPr>
          <p:cNvSpPr/>
          <p:nvPr/>
        </p:nvSpPr>
        <p:spPr>
          <a:xfrm>
            <a:off x="9447144" y="3767658"/>
            <a:ext cx="249951" cy="484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0E291B8-3A7B-0B1E-0962-16D864199746}"/>
              </a:ext>
            </a:extLst>
          </p:cNvPr>
          <p:cNvSpPr txBox="1"/>
          <p:nvPr/>
        </p:nvSpPr>
        <p:spPr>
          <a:xfrm>
            <a:off x="7782302" y="4538634"/>
            <a:ext cx="3750177" cy="3077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dirty="0"/>
              <a:t>Gene Set Enrichment Analysis</a:t>
            </a:r>
            <a:r>
              <a:rPr lang="en-US" altLang="zh-TW" sz="1400" dirty="0"/>
              <a:t>(GSEA)</a:t>
            </a:r>
            <a:endParaRPr lang="zh-TW" altLang="zh-TW" sz="14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AD3FACB6-1098-D23B-54E6-F99B98D61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115" y="5107707"/>
            <a:ext cx="1860800" cy="1433960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2B499A5F-CDDB-CBF6-AD50-5DFBE86C68FA}"/>
              </a:ext>
            </a:extLst>
          </p:cNvPr>
          <p:cNvSpPr txBox="1"/>
          <p:nvPr/>
        </p:nvSpPr>
        <p:spPr>
          <a:xfrm>
            <a:off x="8699189" y="6541667"/>
            <a:ext cx="186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dirty="0"/>
              <a:t>(</a:t>
            </a:r>
            <a:r>
              <a:rPr lang="zh-TW" altLang="zh-TW" sz="1050" dirty="0"/>
              <a:t>Subramanian</a:t>
            </a:r>
            <a:r>
              <a:rPr lang="en-US" altLang="zh-TW" sz="1050" dirty="0"/>
              <a:t> et al., 2005)</a:t>
            </a:r>
            <a:endParaRPr lang="zh-TW" altLang="en-US" sz="105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18AE3B-491F-5EB9-E5EF-5C5E02554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469" y="2854331"/>
            <a:ext cx="1666558" cy="1219002"/>
          </a:xfrm>
          <a:prstGeom prst="rect">
            <a:avLst/>
          </a:prstGeom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84E4EFD2-DF50-CCB7-6486-61A9E91B7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05133"/>
              </p:ext>
            </p:extLst>
          </p:nvPr>
        </p:nvGraphicFramePr>
        <p:xfrm>
          <a:off x="1433774" y="4212774"/>
          <a:ext cx="5285949" cy="202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983">
                  <a:extLst>
                    <a:ext uri="{9D8B030D-6E8A-4147-A177-3AD203B41FA5}">
                      <a16:colId xmlns:a16="http://schemas.microsoft.com/office/drawing/2014/main" val="3342412999"/>
                    </a:ext>
                  </a:extLst>
                </a:gridCol>
                <a:gridCol w="1761983">
                  <a:extLst>
                    <a:ext uri="{9D8B030D-6E8A-4147-A177-3AD203B41FA5}">
                      <a16:colId xmlns:a16="http://schemas.microsoft.com/office/drawing/2014/main" val="3957457956"/>
                    </a:ext>
                  </a:extLst>
                </a:gridCol>
                <a:gridCol w="1761983">
                  <a:extLst>
                    <a:ext uri="{9D8B030D-6E8A-4147-A177-3AD203B41FA5}">
                      <a16:colId xmlns:a16="http://schemas.microsoft.com/office/drawing/2014/main" val="3698655606"/>
                    </a:ext>
                  </a:extLst>
                </a:gridCol>
              </a:tblGrid>
              <a:tr h="101055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704084"/>
                  </a:ext>
                </a:extLst>
              </a:tr>
              <a:tr h="1010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583757"/>
                  </a:ext>
                </a:extLst>
              </a:tr>
            </a:tbl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F249FE37-15F1-467A-33AA-A3D4FB82F3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561" y="4425950"/>
            <a:ext cx="459825" cy="576328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EA676B8B-08D9-BFAA-D9F9-3912FC15BF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554" y="4425950"/>
            <a:ext cx="447239" cy="576328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E42D990D-6BDB-66FB-A717-B43045B919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976" y="4435526"/>
            <a:ext cx="414073" cy="593803"/>
          </a:xfrm>
          <a:prstGeom prst="rect">
            <a:avLst/>
          </a:prstGeom>
        </p:spPr>
      </p:pic>
      <p:sp>
        <p:nvSpPr>
          <p:cNvPr id="29" name="乘號 28">
            <a:extLst>
              <a:ext uri="{FF2B5EF4-FFF2-40B4-BE49-F238E27FC236}">
                <a16:creationId xmlns:a16="http://schemas.microsoft.com/office/drawing/2014/main" id="{DBFCE17B-9105-84E6-F97C-D7B787DE9BC8}"/>
              </a:ext>
            </a:extLst>
          </p:cNvPr>
          <p:cNvSpPr/>
          <p:nvPr/>
        </p:nvSpPr>
        <p:spPr>
          <a:xfrm>
            <a:off x="5400874" y="4476550"/>
            <a:ext cx="836275" cy="153682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7FA49397-BBA3-EABC-4247-F750B1B27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510" y="1626131"/>
            <a:ext cx="6542566" cy="3777622"/>
          </a:xfrm>
        </p:spPr>
        <p:txBody>
          <a:bodyPr/>
          <a:lstStyle/>
          <a:p>
            <a:r>
              <a:rPr lang="zh-TW" altLang="zh-TW" dirty="0"/>
              <a:t>Conducting downstream analysis—such as enrichment analysis—on gene sets identified by </a:t>
            </a:r>
            <a:r>
              <a:rPr lang="en-US" altLang="zh-TW" dirty="0"/>
              <a:t>machine</a:t>
            </a:r>
            <a:r>
              <a:rPr lang="zh-TW" altLang="zh-TW" dirty="0"/>
              <a:t> learning models.</a:t>
            </a:r>
          </a:p>
          <a:p>
            <a:pPr marL="0" indent="0">
              <a:buNone/>
            </a:pP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83225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C02B-00AE-D861-AC11-BC34735F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BFC16B-334B-849A-C862-281B7F76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Gene Set Enrichment Analysis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F127F1-D6C5-FC35-02B6-C2AE3E0C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A2ECBF1-A18C-3ECD-A0B8-F25D24E940AD}"/>
              </a:ext>
            </a:extLst>
          </p:cNvPr>
          <p:cNvSpPr txBox="1"/>
          <p:nvPr/>
        </p:nvSpPr>
        <p:spPr>
          <a:xfrm>
            <a:off x="9775902" y="6178657"/>
            <a:ext cx="231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(</a:t>
            </a:r>
            <a:r>
              <a:rPr lang="zh-TW" altLang="zh-TW" sz="1200" dirty="0"/>
              <a:t>Subramanian</a:t>
            </a:r>
            <a:r>
              <a:rPr lang="en-US" altLang="zh-TW" sz="1200" dirty="0"/>
              <a:t> et al., 2005)</a:t>
            </a:r>
            <a:endParaRPr lang="zh-TW" altLang="en-US" sz="12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F7BB6FF-3A50-EC40-D402-41089AD44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75" y="1626034"/>
            <a:ext cx="10827306" cy="425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0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E3C5-B46F-5557-A29F-CFD15CE4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E61221-4444-6660-0C6F-BD434213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GSEA ?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A8662B-EE5A-3D08-D5AB-D5642A38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E2E0CFD-6E38-B24F-2185-E226CDAE84F4}"/>
              </a:ext>
            </a:extLst>
          </p:cNvPr>
          <p:cNvSpPr txBox="1">
            <a:spLocks/>
          </p:cNvSpPr>
          <p:nvPr/>
        </p:nvSpPr>
        <p:spPr>
          <a:xfrm>
            <a:off x="1936376" y="2389094"/>
            <a:ext cx="9890311" cy="3272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b="1" dirty="0"/>
              <a:t>No significant genes</a:t>
            </a:r>
            <a:r>
              <a:rPr lang="zh-TW" altLang="zh-TW" dirty="0"/>
              <a:t> — Multiple testing + small biological effects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b="1" dirty="0"/>
              <a:t>Too many significant genes</a:t>
            </a:r>
            <a:r>
              <a:rPr lang="zh-TW" altLang="zh-TW" dirty="0"/>
              <a:t> — Difficult to identify a biological theme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zh-TW" b="1" dirty="0"/>
              <a:t>Miss pathway-level effects</a:t>
            </a:r>
            <a:r>
              <a:rPr lang="zh-TW" altLang="zh-TW" dirty="0"/>
              <a:t> — Genes often act together as a functional unit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zh-TW" b="1" dirty="0"/>
              <a:t>Low reproducibility</a:t>
            </a:r>
            <a:r>
              <a:rPr lang="zh-TW" altLang="zh-TW" dirty="0"/>
              <a:t> — Significant gene lists may show little overlap across studies</a:t>
            </a:r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E6213E-B4AA-AF88-0C80-39EBA49A3F0C}"/>
              </a:ext>
            </a:extLst>
          </p:cNvPr>
          <p:cNvSpPr txBox="1"/>
          <p:nvPr/>
        </p:nvSpPr>
        <p:spPr>
          <a:xfrm>
            <a:off x="9179842" y="5661212"/>
            <a:ext cx="2151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(</a:t>
            </a:r>
            <a:r>
              <a:rPr lang="zh-TW" altLang="zh-TW" sz="1200" dirty="0"/>
              <a:t>Subramanian</a:t>
            </a:r>
            <a:r>
              <a:rPr lang="en-US" altLang="zh-TW" sz="1200" dirty="0"/>
              <a:t> et al., 2005)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2131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24664-2C5D-6400-B816-D6C4208C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B40607-BC6A-0D36-02C6-76822EE6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Gene Set Enrichment Analysis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F55B71-837B-2165-9090-04143090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F0CD456-FF53-2708-607D-F8467D7BA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18" y="1667173"/>
            <a:ext cx="6496774" cy="483398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18A8ADA-288D-E4DA-66F2-C960C7830B26}"/>
              </a:ext>
            </a:extLst>
          </p:cNvPr>
          <p:cNvSpPr txBox="1"/>
          <p:nvPr/>
        </p:nvSpPr>
        <p:spPr>
          <a:xfrm>
            <a:off x="7549997" y="6233890"/>
            <a:ext cx="2151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(</a:t>
            </a:r>
            <a:r>
              <a:rPr lang="zh-TW" altLang="zh-TW" sz="1200" dirty="0"/>
              <a:t>Subramanian</a:t>
            </a:r>
            <a:r>
              <a:rPr lang="en-US" altLang="zh-TW" sz="1200" dirty="0"/>
              <a:t> et al., 2005)</a:t>
            </a:r>
            <a:endParaRPr lang="zh-TW" altLang="en-US" sz="12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4802846-9349-54B8-B1CD-2E1882A1C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392" y="1667173"/>
            <a:ext cx="4472894" cy="141806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98A949B-42F9-A550-8081-2AC80BA06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392" y="3621307"/>
            <a:ext cx="4559251" cy="216705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5488921-9597-E6AE-31E7-D539258B80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284" y="3241254"/>
            <a:ext cx="4356231" cy="22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44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C6A2-5703-BF30-3F99-CB2F977DA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C181D2-5FF0-111B-BF49-945ED34D2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4691741" cy="1280890"/>
          </a:xfrm>
        </p:spPr>
        <p:txBody>
          <a:bodyPr/>
          <a:lstStyle/>
          <a:p>
            <a:r>
              <a:rPr lang="zh-TW" altLang="zh-TW" dirty="0"/>
              <a:t>Enrichment result</a:t>
            </a:r>
            <a:r>
              <a:rPr lang="en-US" altLang="zh-TW" dirty="0"/>
              <a:t>s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F32C95-A7B6-0155-C878-2647E5C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1D5FDF7-3712-26EB-A9A8-292C696D6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85" y="1366456"/>
            <a:ext cx="4696315" cy="532222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E7BBE62-ED9B-4D6C-E694-736D095B7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855" y="492399"/>
            <a:ext cx="3530781" cy="130181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7BF324D-2961-1E80-BCB7-7D9520D5D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564" y="2809830"/>
            <a:ext cx="3149762" cy="1759040"/>
          </a:xfrm>
          <a:prstGeom prst="rect">
            <a:avLst/>
          </a:prstGeom>
        </p:spPr>
      </p:pic>
      <p:grpSp>
        <p:nvGrpSpPr>
          <p:cNvPr id="20" name="群組 19">
            <a:extLst>
              <a:ext uri="{FF2B5EF4-FFF2-40B4-BE49-F238E27FC236}">
                <a16:creationId xmlns:a16="http://schemas.microsoft.com/office/drawing/2014/main" id="{4F0A882F-1DD2-0482-C9CD-AB9D7AC6EBD5}"/>
              </a:ext>
            </a:extLst>
          </p:cNvPr>
          <p:cNvGrpSpPr/>
          <p:nvPr/>
        </p:nvGrpSpPr>
        <p:grpSpPr>
          <a:xfrm>
            <a:off x="9287525" y="2108107"/>
            <a:ext cx="45720" cy="416747"/>
            <a:chOff x="8957468" y="2036711"/>
            <a:chExt cx="45720" cy="416747"/>
          </a:xfrm>
        </p:grpSpPr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387590DE-A6F5-18D9-F1F8-07B39D8FAC0F}"/>
                </a:ext>
              </a:extLst>
            </p:cNvPr>
            <p:cNvSpPr/>
            <p:nvPr/>
          </p:nvSpPr>
          <p:spPr>
            <a:xfrm>
              <a:off x="8957469" y="2036711"/>
              <a:ext cx="45719" cy="52387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流程圖: 接點 16">
              <a:extLst>
                <a:ext uri="{FF2B5EF4-FFF2-40B4-BE49-F238E27FC236}">
                  <a16:creationId xmlns:a16="http://schemas.microsoft.com/office/drawing/2014/main" id="{5ECC0C51-3033-DA47-2AD4-E567EE9F977E}"/>
                </a:ext>
              </a:extLst>
            </p:cNvPr>
            <p:cNvSpPr/>
            <p:nvPr/>
          </p:nvSpPr>
          <p:spPr>
            <a:xfrm>
              <a:off x="8957468" y="2220809"/>
              <a:ext cx="45719" cy="52387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CDECF934-99DB-70EB-E1AF-17F36E39AFDD}"/>
                </a:ext>
              </a:extLst>
            </p:cNvPr>
            <p:cNvSpPr/>
            <p:nvPr/>
          </p:nvSpPr>
          <p:spPr>
            <a:xfrm>
              <a:off x="8957468" y="2401071"/>
              <a:ext cx="45719" cy="52387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2" name="圖片 21">
            <a:extLst>
              <a:ext uri="{FF2B5EF4-FFF2-40B4-BE49-F238E27FC236}">
                <a16:creationId xmlns:a16="http://schemas.microsoft.com/office/drawing/2014/main" id="{BAD15067-BEEE-36DE-CFE7-ABF984F12E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4666" y="5218206"/>
            <a:ext cx="4681325" cy="934234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F4E24344-35F9-2335-D961-1593514DB45B}"/>
              </a:ext>
            </a:extLst>
          </p:cNvPr>
          <p:cNvSpPr txBox="1"/>
          <p:nvPr/>
        </p:nvSpPr>
        <p:spPr>
          <a:xfrm>
            <a:off x="9908544" y="6342939"/>
            <a:ext cx="2151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(</a:t>
            </a:r>
            <a:r>
              <a:rPr lang="zh-TW" altLang="zh-TW" sz="1200" dirty="0"/>
              <a:t>Subramanian</a:t>
            </a:r>
            <a:r>
              <a:rPr lang="en-US" altLang="zh-TW" sz="1200" dirty="0"/>
              <a:t> et al., 2005)</a:t>
            </a:r>
            <a:endParaRPr lang="zh-TW" altLang="en-US" sz="1200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8EA01C81-D5B1-6586-77E8-0C0EBEDC0266}"/>
              </a:ext>
            </a:extLst>
          </p:cNvPr>
          <p:cNvCxnSpPr>
            <a:cxnSpLocks/>
          </p:cNvCxnSpPr>
          <p:nvPr/>
        </p:nvCxnSpPr>
        <p:spPr>
          <a:xfrm>
            <a:off x="10598150" y="5424487"/>
            <a:ext cx="12827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6431F503-F766-8B9A-01EA-A70E6B2EEE17}"/>
              </a:ext>
            </a:extLst>
          </p:cNvPr>
          <p:cNvCxnSpPr>
            <a:cxnSpLocks/>
          </p:cNvCxnSpPr>
          <p:nvPr/>
        </p:nvCxnSpPr>
        <p:spPr>
          <a:xfrm>
            <a:off x="7368117" y="5602287"/>
            <a:ext cx="451273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3E79084F-52D2-2928-2F53-932CFE127BF2}"/>
              </a:ext>
            </a:extLst>
          </p:cNvPr>
          <p:cNvCxnSpPr>
            <a:cxnSpLocks/>
          </p:cNvCxnSpPr>
          <p:nvPr/>
        </p:nvCxnSpPr>
        <p:spPr>
          <a:xfrm>
            <a:off x="7368117" y="5784320"/>
            <a:ext cx="451273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E759CC4C-D906-252A-4FA2-DC1E3F15FBDE}"/>
              </a:ext>
            </a:extLst>
          </p:cNvPr>
          <p:cNvCxnSpPr>
            <a:cxnSpLocks/>
          </p:cNvCxnSpPr>
          <p:nvPr/>
        </p:nvCxnSpPr>
        <p:spPr>
          <a:xfrm>
            <a:off x="7338484" y="5974820"/>
            <a:ext cx="451273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B072B04E-888F-EE7C-9F2B-F137E839F5FE}"/>
              </a:ext>
            </a:extLst>
          </p:cNvPr>
          <p:cNvCxnSpPr>
            <a:cxnSpLocks/>
          </p:cNvCxnSpPr>
          <p:nvPr/>
        </p:nvCxnSpPr>
        <p:spPr>
          <a:xfrm>
            <a:off x="7284666" y="6179427"/>
            <a:ext cx="398870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73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4F6F0-EB32-62CF-C02F-D452CA71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Current results</a:t>
            </a:r>
            <a:r>
              <a:rPr lang="en-US" altLang="zh-TW" dirty="0"/>
              <a:t>(RF)</a:t>
            </a:r>
            <a:r>
              <a:rPr lang="zh-TW" altLang="zh-TW" dirty="0"/>
              <a:t> 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EF82B2-09B4-873C-7663-98E3EC83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F87A706-1FC3-C536-FC19-65C596104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518473"/>
              </p:ext>
            </p:extLst>
          </p:nvPr>
        </p:nvGraphicFramePr>
        <p:xfrm>
          <a:off x="996176" y="1734012"/>
          <a:ext cx="10712601" cy="459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289">
                  <a:extLst>
                    <a:ext uri="{9D8B030D-6E8A-4147-A177-3AD203B41FA5}">
                      <a16:colId xmlns:a16="http://schemas.microsoft.com/office/drawing/2014/main" val="2341172823"/>
                    </a:ext>
                  </a:extLst>
                </a:gridCol>
                <a:gridCol w="1190289">
                  <a:extLst>
                    <a:ext uri="{9D8B030D-6E8A-4147-A177-3AD203B41FA5}">
                      <a16:colId xmlns:a16="http://schemas.microsoft.com/office/drawing/2014/main" val="3583683660"/>
                    </a:ext>
                  </a:extLst>
                </a:gridCol>
                <a:gridCol w="1190289">
                  <a:extLst>
                    <a:ext uri="{9D8B030D-6E8A-4147-A177-3AD203B41FA5}">
                      <a16:colId xmlns:a16="http://schemas.microsoft.com/office/drawing/2014/main" val="3426586895"/>
                    </a:ext>
                  </a:extLst>
                </a:gridCol>
                <a:gridCol w="1190289">
                  <a:extLst>
                    <a:ext uri="{9D8B030D-6E8A-4147-A177-3AD203B41FA5}">
                      <a16:colId xmlns:a16="http://schemas.microsoft.com/office/drawing/2014/main" val="881877480"/>
                    </a:ext>
                  </a:extLst>
                </a:gridCol>
                <a:gridCol w="1190289">
                  <a:extLst>
                    <a:ext uri="{9D8B030D-6E8A-4147-A177-3AD203B41FA5}">
                      <a16:colId xmlns:a16="http://schemas.microsoft.com/office/drawing/2014/main" val="3102894976"/>
                    </a:ext>
                  </a:extLst>
                </a:gridCol>
                <a:gridCol w="1190289">
                  <a:extLst>
                    <a:ext uri="{9D8B030D-6E8A-4147-A177-3AD203B41FA5}">
                      <a16:colId xmlns:a16="http://schemas.microsoft.com/office/drawing/2014/main" val="871233268"/>
                    </a:ext>
                  </a:extLst>
                </a:gridCol>
                <a:gridCol w="1190289">
                  <a:extLst>
                    <a:ext uri="{9D8B030D-6E8A-4147-A177-3AD203B41FA5}">
                      <a16:colId xmlns:a16="http://schemas.microsoft.com/office/drawing/2014/main" val="3836922239"/>
                    </a:ext>
                  </a:extLst>
                </a:gridCol>
                <a:gridCol w="1190289">
                  <a:extLst>
                    <a:ext uri="{9D8B030D-6E8A-4147-A177-3AD203B41FA5}">
                      <a16:colId xmlns:a16="http://schemas.microsoft.com/office/drawing/2014/main" val="635051631"/>
                    </a:ext>
                  </a:extLst>
                </a:gridCol>
                <a:gridCol w="1190289">
                  <a:extLst>
                    <a:ext uri="{9D8B030D-6E8A-4147-A177-3AD203B41FA5}">
                      <a16:colId xmlns:a16="http://schemas.microsoft.com/office/drawing/2014/main" val="582826549"/>
                    </a:ext>
                  </a:extLst>
                </a:gridCol>
              </a:tblGrid>
              <a:tr h="825444">
                <a:tc>
                  <a:txBody>
                    <a:bodyPr/>
                    <a:lstStyle/>
                    <a:p>
                      <a:pPr algn="ctr"/>
                      <a:endParaRPr lang="zh-TW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err="1"/>
                        <a:t>Alphaviridae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err="1"/>
                        <a:t>Coronaviridae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/>
                        <a:t>Flaviviridae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err="1"/>
                        <a:t>Orthoherpesviridae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/>
                        <a:t>Orthomyxoviridae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err="1"/>
                        <a:t>Picornaviridae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/>
                        <a:t>Reoviridae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err="1"/>
                        <a:t>Retroviridae</a:t>
                      </a:r>
                      <a:endParaRPr lang="zh-TW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11088"/>
                  </a:ext>
                </a:extLst>
              </a:tr>
              <a:tr h="753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/>
                        <a:t>KEGG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23638"/>
                  </a:ext>
                </a:extLst>
              </a:tr>
              <a:tr h="753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err="1"/>
                        <a:t>Reactome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97473"/>
                  </a:ext>
                </a:extLst>
              </a:tr>
              <a:tr h="753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/>
                        <a:t>GO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833258"/>
                  </a:ext>
                </a:extLst>
              </a:tr>
              <a:tr h="753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err="1"/>
                        <a:t>MSigDB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509392"/>
                  </a:ext>
                </a:extLst>
              </a:tr>
              <a:tr h="753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err="1"/>
                        <a:t>WikiPathways</a:t>
                      </a:r>
                      <a:endParaRPr lang="zh-TW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49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473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3053-58E0-A5E0-D716-45C3340C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C5440C-1EF9-1FE9-48BD-E3DDFEAE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Alphaviridae</a:t>
            </a:r>
            <a:r>
              <a:rPr lang="en-US" altLang="zh-TW" dirty="0"/>
              <a:t>(GO)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8837C4B-5D82-0A90-91C2-AE6D89A5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640369-9385-5D00-7B15-43DFB601740E}"/>
              </a:ext>
            </a:extLst>
          </p:cNvPr>
          <p:cNvSpPr txBox="1">
            <a:spLocks/>
          </p:cNvSpPr>
          <p:nvPr/>
        </p:nvSpPr>
        <p:spPr>
          <a:xfrm>
            <a:off x="921695" y="1905000"/>
            <a:ext cx="4698212" cy="2574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Pathway:</a:t>
            </a:r>
          </a:p>
          <a:p>
            <a:pPr marL="400050" lvl="1" indent="0">
              <a:buFont typeface="Wingdings 3" charset="2"/>
              <a:buNone/>
            </a:pPr>
            <a:r>
              <a:rPr lang="en-US" altLang="zh-TW" dirty="0"/>
              <a:t>Regulation of viral entry into host cell</a:t>
            </a:r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r>
              <a:rPr lang="en-US" altLang="zh-TW" dirty="0"/>
              <a:t>Definition:</a:t>
            </a:r>
          </a:p>
          <a:p>
            <a:pPr marL="400050" lvl="1" indent="0">
              <a:buNone/>
            </a:pPr>
            <a:r>
              <a:rPr lang="zh-TW" altLang="zh-TW" dirty="0"/>
              <a:t>Any process that modulates the frequency, rate or extent of the </a:t>
            </a:r>
            <a:r>
              <a:rPr lang="zh-TW" altLang="zh-TW" dirty="0">
                <a:solidFill>
                  <a:srgbClr val="FF0000"/>
                </a:solidFill>
              </a:rPr>
              <a:t>viral</a:t>
            </a:r>
            <a:r>
              <a:rPr lang="zh-TW" altLang="zh-TW" dirty="0"/>
              <a:t> entry into the host cell</a:t>
            </a: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zh-TW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742C001-A729-6B0F-4EDE-F091FFF26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066" y="1152907"/>
            <a:ext cx="5573713" cy="538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69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C629-8EFE-F779-BF58-246D703B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9F34F-889A-F640-0FD6-6EF04083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Coronaviridae</a:t>
            </a:r>
            <a:r>
              <a:rPr lang="en-US" altLang="zh-TW" dirty="0"/>
              <a:t>(KEGG)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6EA719-BF09-C83B-0B26-AB2AF0BD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4A687EA3-55FD-02C3-E948-0EE2F2526F17}"/>
              </a:ext>
            </a:extLst>
          </p:cNvPr>
          <p:cNvSpPr txBox="1">
            <a:spLocks/>
          </p:cNvSpPr>
          <p:nvPr/>
        </p:nvSpPr>
        <p:spPr>
          <a:xfrm>
            <a:off x="585939" y="1904999"/>
            <a:ext cx="4464813" cy="3596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Pathway:</a:t>
            </a:r>
          </a:p>
          <a:p>
            <a:pPr marL="400050" lvl="1" indent="0">
              <a:buNone/>
            </a:pPr>
            <a:r>
              <a:rPr lang="zh-TW" altLang="zh-TW" dirty="0"/>
              <a:t>African trypanosomiasis</a:t>
            </a: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r>
              <a:rPr lang="en-US" altLang="zh-TW" dirty="0"/>
              <a:t>Description:</a:t>
            </a:r>
          </a:p>
          <a:p>
            <a:pPr marL="400050" lvl="1" indent="0">
              <a:buNone/>
            </a:pPr>
            <a:r>
              <a:rPr lang="zh-TW" altLang="zh-TW" dirty="0"/>
              <a:t>Trypanosoma brucei causes African trypanosomiasis (</a:t>
            </a:r>
            <a:r>
              <a:rPr lang="zh-TW" altLang="zh-TW" dirty="0">
                <a:solidFill>
                  <a:srgbClr val="FF0000"/>
                </a:solidFill>
              </a:rPr>
              <a:t>sleeping sickness</a:t>
            </a:r>
            <a:r>
              <a:rPr lang="zh-TW" altLang="zh-TW" dirty="0"/>
              <a:t>) and is transmitted by tsetse flies. It can cross the blood-brain barrier and induce inflammatory cytokines such as </a:t>
            </a:r>
            <a:r>
              <a:rPr lang="zh-TW" altLang="zh-TW" dirty="0">
                <a:solidFill>
                  <a:schemeClr val="tx1"/>
                </a:solidFill>
              </a:rPr>
              <a:t>TNF-α, IFN-γ, and IL-1, </a:t>
            </a:r>
            <a:r>
              <a:rPr lang="zh-TW" altLang="zh-TW" dirty="0">
                <a:solidFill>
                  <a:srgbClr val="FF0000"/>
                </a:solidFill>
              </a:rPr>
              <a:t>leading to neurological damage and disrupted sleep and circadian rhythms</a:t>
            </a:r>
            <a:r>
              <a:rPr lang="zh-TW" altLang="zh-TW" dirty="0"/>
              <a:t>.</a:t>
            </a: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zh-TW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C1038567-D29F-0637-94F6-E100E2DD8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752" y="1946038"/>
            <a:ext cx="6972217" cy="3692507"/>
          </a:xfrm>
          <a:prstGeom prst="rect">
            <a:avLst/>
          </a:prstGeom>
        </p:spPr>
      </p:pic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24C12F7-0B92-42A1-6D5E-A3F52EC67319}"/>
              </a:ext>
            </a:extLst>
          </p:cNvPr>
          <p:cNvCxnSpPr>
            <a:cxnSpLocks/>
          </p:cNvCxnSpPr>
          <p:nvPr/>
        </p:nvCxnSpPr>
        <p:spPr>
          <a:xfrm>
            <a:off x="7538047" y="2680214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2C2FBF80-C3CC-4DDC-4560-B06838E479F8}"/>
              </a:ext>
            </a:extLst>
          </p:cNvPr>
          <p:cNvCxnSpPr>
            <a:cxnSpLocks/>
          </p:cNvCxnSpPr>
          <p:nvPr/>
        </p:nvCxnSpPr>
        <p:spPr>
          <a:xfrm>
            <a:off x="8534401" y="3150115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43383763-5253-7356-2657-D586D68D3E08}"/>
              </a:ext>
            </a:extLst>
          </p:cNvPr>
          <p:cNvCxnSpPr>
            <a:cxnSpLocks/>
          </p:cNvCxnSpPr>
          <p:nvPr/>
        </p:nvCxnSpPr>
        <p:spPr>
          <a:xfrm>
            <a:off x="7923743" y="3793581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4FB4ADD3-608F-2766-FF0A-FB98803EC14B}"/>
              </a:ext>
            </a:extLst>
          </p:cNvPr>
          <p:cNvCxnSpPr>
            <a:cxnSpLocks/>
          </p:cNvCxnSpPr>
          <p:nvPr/>
        </p:nvCxnSpPr>
        <p:spPr>
          <a:xfrm>
            <a:off x="8534401" y="4093090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37AE0C30-8A34-20FF-66FC-34B8D3397B93}"/>
              </a:ext>
            </a:extLst>
          </p:cNvPr>
          <p:cNvCxnSpPr>
            <a:cxnSpLocks/>
          </p:cNvCxnSpPr>
          <p:nvPr/>
        </p:nvCxnSpPr>
        <p:spPr>
          <a:xfrm>
            <a:off x="7398482" y="3461265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836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9AE7-CAB8-AFFB-FE44-1A7E1D076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C1842-044D-56B5-3AA2-DC842A28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Orthoherpesviridae</a:t>
            </a:r>
            <a:r>
              <a:rPr lang="en-US" altLang="zh-TW" dirty="0"/>
              <a:t>(</a:t>
            </a:r>
            <a:r>
              <a:rPr lang="en-US" altLang="zh-TW" dirty="0" err="1"/>
              <a:t>Reactome</a:t>
            </a:r>
            <a:r>
              <a:rPr lang="en-US" altLang="zh-TW" dirty="0"/>
              <a:t>)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39D2A5-E348-3B89-61BB-E0CA9A38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782B5390-C5FF-D008-4599-4CF84375B8D2}"/>
              </a:ext>
            </a:extLst>
          </p:cNvPr>
          <p:cNvSpPr txBox="1">
            <a:spLocks/>
          </p:cNvSpPr>
          <p:nvPr/>
        </p:nvSpPr>
        <p:spPr>
          <a:xfrm>
            <a:off x="921695" y="1905000"/>
            <a:ext cx="4464813" cy="464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Pathway:</a:t>
            </a:r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Common </a:t>
            </a:r>
            <a:r>
              <a:rPr lang="en-US" altLang="zh-TW" dirty="0" err="1"/>
              <a:t>leading_edge</a:t>
            </a:r>
            <a:r>
              <a:rPr lang="en-US" altLang="zh-TW" dirty="0"/>
              <a:t> genes: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sz="1600" dirty="0">
                <a:solidFill>
                  <a:srgbClr val="FF0000"/>
                </a:solidFill>
              </a:rPr>
              <a:t>RPL10L</a:t>
            </a:r>
            <a:r>
              <a:rPr lang="en-US" altLang="zh-TW" sz="1600" dirty="0"/>
              <a:t> and </a:t>
            </a:r>
            <a:r>
              <a:rPr lang="en-US" altLang="zh-TW" sz="1600" dirty="0">
                <a:solidFill>
                  <a:srgbClr val="FF0000"/>
                </a:solidFill>
              </a:rPr>
              <a:t>RPL39L</a:t>
            </a:r>
            <a:r>
              <a:rPr lang="en-US" altLang="zh-TW" sz="1600" dirty="0"/>
              <a:t> are ribosomal protein paralogs whose specific biological functions remain unclear.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zh-TW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E3F2108-2492-FC98-375B-29F9D3F81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381" y="1455697"/>
            <a:ext cx="4319074" cy="519266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C2E7AAA-9881-787F-0BF1-42731BBF2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998" y="2547350"/>
            <a:ext cx="5748026" cy="176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24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0FC2-61F5-8D5F-B088-51759F9A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B38E9-1FF3-C6BE-7125-F9C7D57E7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2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22C5C0-3664-341D-00B6-2A00A78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71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8C871-95C4-1F17-C1D6-0198E1200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0BC3F-03CD-D021-E758-9A5AF87C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Previous work</a:t>
            </a:r>
            <a:br>
              <a:rPr lang="zh-TW" altLang="zh-TW" dirty="0"/>
            </a:br>
            <a:br>
              <a:rPr lang="zh-TW" altLang="zh-TW" dirty="0"/>
            </a:br>
            <a:br>
              <a:rPr lang="zh-TW" altLang="zh-TW" dirty="0"/>
            </a:br>
            <a:br>
              <a:rPr lang="zh-TW" altLang="zh-TW" dirty="0"/>
            </a:b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C2203-E17B-5BC7-0930-3533FE7E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8F3010-D3B0-FD09-6D5B-A0858A661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983581"/>
            <a:ext cx="7967776" cy="369321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1824682-FD7C-E6B5-4618-83AA704E1F62}"/>
              </a:ext>
            </a:extLst>
          </p:cNvPr>
          <p:cNvSpPr txBox="1"/>
          <p:nvPr/>
        </p:nvSpPr>
        <p:spPr>
          <a:xfrm>
            <a:off x="5047813" y="5956891"/>
            <a:ext cx="56798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SARS-CoV-2 airway scRNA-seq analysis (Ravindra et al. PLoS Biology 2021)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6607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5D37-13E0-8293-701A-A02A029D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0E476D-8A0D-5C36-DA19-F74BDC24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Previous work</a:t>
            </a:r>
            <a:br>
              <a:rPr lang="zh-TW" altLang="zh-TW" dirty="0"/>
            </a:br>
            <a:br>
              <a:rPr lang="zh-TW" altLang="zh-TW" dirty="0"/>
            </a:br>
            <a:br>
              <a:rPr lang="zh-TW" altLang="zh-TW" dirty="0"/>
            </a:br>
            <a:br>
              <a:rPr lang="zh-TW" altLang="zh-TW" dirty="0"/>
            </a:b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BDECA3-C196-103A-C848-75F5CB96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21549C0-C1D3-EDFB-E267-3C83A6F06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494" y="2242384"/>
            <a:ext cx="7244566" cy="253123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1734A34-28E0-1942-0760-953FE8056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24" y="1682070"/>
            <a:ext cx="2029285" cy="301425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AAF1D0F-3335-2B6D-F5B0-4D2B5CE829E2}"/>
              </a:ext>
            </a:extLst>
          </p:cNvPr>
          <p:cNvSpPr txBox="1"/>
          <p:nvPr/>
        </p:nvSpPr>
        <p:spPr>
          <a:xfrm>
            <a:off x="5666378" y="5754289"/>
            <a:ext cx="56798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SARS-CoV-2 airway scRNA-seq analysis (Ravindra et al. PLoS Biology 2021)</a:t>
            </a:r>
            <a:endParaRPr lang="zh-TW" altLang="en-US" sz="120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88F49F0-1884-550B-3213-3DF063677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311" y="5175930"/>
            <a:ext cx="5791498" cy="22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78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57FE0-4DB7-E394-C8E5-5AD95399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C1A81-5563-4480-B65E-A588790F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Literature Review </a:t>
            </a:r>
            <a:br>
              <a:rPr lang="zh-TW" altLang="zh-TW" dirty="0"/>
            </a:b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E81CF-C2CE-0E93-C122-A64A1E629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813" y="1667194"/>
            <a:ext cx="8915400" cy="3777622"/>
          </a:xfrm>
        </p:spPr>
        <p:txBody>
          <a:bodyPr/>
          <a:lstStyle/>
          <a:p>
            <a:r>
              <a:rPr lang="zh-TW" altLang="zh-TW" dirty="0"/>
              <a:t>Predict unknown cell</a:t>
            </a:r>
            <a:r>
              <a:rPr lang="en-US" altLang="zh-TW" dirty="0"/>
              <a:t>s</a:t>
            </a:r>
            <a:r>
              <a:rPr lang="zh-TW" altLang="zh-TW" dirty="0"/>
              <a:t> using existing gene expression data and some known cell labels.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9ADB3-ED76-AE00-996D-6A31A7C2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785212-7985-D93C-2B26-4FAF89941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82" y="2661896"/>
            <a:ext cx="6936887" cy="342746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EB8C0D6-C870-4AAD-6D58-BC93901040AA}"/>
              </a:ext>
            </a:extLst>
          </p:cNvPr>
          <p:cNvSpPr txBox="1"/>
          <p:nvPr/>
        </p:nvSpPr>
        <p:spPr>
          <a:xfrm>
            <a:off x="6651325" y="6233890"/>
            <a:ext cx="3626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scSHARP (Lewinsohn et al. Bioinformatics 2023)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78111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468A-9A64-820D-0765-1CFA5818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DEF14-D837-A4F2-F78D-F043CE02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Data preprocessing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85AC6-D696-82BF-4B16-C2D7C540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756FC7-73AD-C505-F7A8-0C97D6F4DFD0}"/>
              </a:ext>
            </a:extLst>
          </p:cNvPr>
          <p:cNvSpPr txBox="1"/>
          <p:nvPr/>
        </p:nvSpPr>
        <p:spPr>
          <a:xfrm>
            <a:off x="1022817" y="1855819"/>
            <a:ext cx="3135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dirty="0"/>
              <a:t>Quality Control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17516A9-5288-9026-0A74-DC85F7DCE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80" y="2756879"/>
            <a:ext cx="1138653" cy="99999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B0CD0B-83AB-A23E-86C3-4D38259BA7BC}"/>
              </a:ext>
            </a:extLst>
          </p:cNvPr>
          <p:cNvSpPr txBox="1"/>
          <p:nvPr/>
        </p:nvSpPr>
        <p:spPr>
          <a:xfrm>
            <a:off x="2056218" y="2545471"/>
            <a:ext cx="21121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P</a:t>
            </a:r>
            <a:r>
              <a:rPr lang="zh-TW" altLang="zh-TW" sz="1600" dirty="0"/>
              <a:t>mito</a:t>
            </a:r>
            <a:r>
              <a:rPr lang="zh-TW" altLang="en-US" sz="1600" dirty="0"/>
              <a:t> </a:t>
            </a:r>
            <a:r>
              <a:rPr lang="en-US" altLang="zh-TW" sz="1600" dirty="0"/>
              <a:t>&lt;</a:t>
            </a:r>
            <a:r>
              <a:rPr lang="zh-TW" altLang="en-US" sz="1600" dirty="0"/>
              <a:t> </a:t>
            </a:r>
            <a:r>
              <a:rPr lang="en-US" altLang="zh-TW" sz="1600" dirty="0"/>
              <a:t>0.2</a:t>
            </a:r>
          </a:p>
          <a:p>
            <a:endParaRPr lang="en-US" altLang="zh-TW" sz="1600" dirty="0"/>
          </a:p>
          <a:p>
            <a:r>
              <a:rPr lang="en-US" altLang="zh-TW" sz="1600" dirty="0"/>
              <a:t>n</a:t>
            </a:r>
            <a:r>
              <a:rPr lang="zh-TW" altLang="zh-TW" sz="1600" dirty="0"/>
              <a:t>_genes</a:t>
            </a:r>
            <a:r>
              <a:rPr lang="en-US" altLang="zh-TW" sz="1600" dirty="0"/>
              <a:t> &gt; 1000</a:t>
            </a:r>
            <a:endParaRPr lang="zh-TW" altLang="en-US" sz="1600" dirty="0"/>
          </a:p>
          <a:p>
            <a:endParaRPr lang="en-US" altLang="zh-TW" sz="1600" dirty="0"/>
          </a:p>
          <a:p>
            <a:r>
              <a:rPr lang="en-US" altLang="zh-TW" sz="1600" dirty="0">
                <a:solidFill>
                  <a:srgbClr val="FF0000"/>
                </a:solidFill>
              </a:rPr>
              <a:t>Condition != Mock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E0D8B08-F595-E81A-8925-B1B0045AE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17" y="4519844"/>
            <a:ext cx="832096" cy="1066064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B45BD4E-6046-02B1-8C5C-2F9AB00E3CCA}"/>
              </a:ext>
            </a:extLst>
          </p:cNvPr>
          <p:cNvSpPr txBox="1"/>
          <p:nvPr/>
        </p:nvSpPr>
        <p:spPr>
          <a:xfrm>
            <a:off x="2046658" y="4889736"/>
            <a:ext cx="2112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err="1"/>
              <a:t>Min_cells</a:t>
            </a:r>
            <a:r>
              <a:rPr lang="en-US" altLang="zh-TW" sz="1600" dirty="0"/>
              <a:t>= 10</a:t>
            </a:r>
            <a:endParaRPr lang="zh-TW" altLang="en-US" sz="16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6A34E3-E38A-5E49-A407-139447763D04}"/>
              </a:ext>
            </a:extLst>
          </p:cNvPr>
          <p:cNvSpPr txBox="1"/>
          <p:nvPr/>
        </p:nvSpPr>
        <p:spPr>
          <a:xfrm>
            <a:off x="5406620" y="1844204"/>
            <a:ext cx="4252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C</a:t>
            </a:r>
            <a:r>
              <a:rPr lang="zh-TW" altLang="zh-TW" sz="2000" dirty="0"/>
              <a:t>ells with high-confidence labels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911F92F-69FB-AB3F-24F3-E81D795DC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235" y="4515540"/>
            <a:ext cx="1233519" cy="106813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5269BB12-A7B1-C989-1244-AE99BE116C93}"/>
              </a:ext>
            </a:extLst>
          </p:cNvPr>
          <p:cNvGrpSpPr/>
          <p:nvPr/>
        </p:nvGrpSpPr>
        <p:grpSpPr>
          <a:xfrm>
            <a:off x="9659502" y="2454256"/>
            <a:ext cx="2399534" cy="2436241"/>
            <a:chOff x="9250693" y="4066345"/>
            <a:chExt cx="2399534" cy="2436241"/>
          </a:xfrm>
        </p:grpSpPr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0673E75-C346-E305-F15E-0C4CBC36F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502" y="4066345"/>
              <a:ext cx="1581917" cy="356420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F9E7BFBD-9069-4FC4-5712-9EAE25A6C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502" y="4593234"/>
              <a:ext cx="1404873" cy="36872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1ABF89C6-C431-4805-BD5D-01E6A1D00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693" y="5184732"/>
              <a:ext cx="2399534" cy="1317854"/>
            </a:xfrm>
            <a:prstGeom prst="rect">
              <a:avLst/>
            </a:prstGeom>
          </p:spPr>
        </p:pic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C581FB-25D3-819E-0FF0-BE55815F43A1}"/>
              </a:ext>
            </a:extLst>
          </p:cNvPr>
          <p:cNvSpPr txBox="1"/>
          <p:nvPr/>
        </p:nvSpPr>
        <p:spPr>
          <a:xfrm>
            <a:off x="6946684" y="2853501"/>
            <a:ext cx="2152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Viral_transcript</a:t>
            </a:r>
            <a:r>
              <a:rPr lang="en-US" altLang="zh-TW" sz="1600" dirty="0"/>
              <a:t> &gt; </a:t>
            </a:r>
            <a:r>
              <a:rPr lang="en-US" altLang="zh-TW" sz="1600" dirty="0" err="1"/>
              <a:t>T</a:t>
            </a:r>
            <a:r>
              <a:rPr lang="en-US" altLang="zh-TW" sz="1100" dirty="0" err="1"/>
              <a:t>inf</a:t>
            </a:r>
            <a:endParaRPr lang="zh-TW" altLang="zh-TW" sz="1100" dirty="0"/>
          </a:p>
          <a:p>
            <a:endParaRPr lang="en-US" altLang="zh-TW" sz="1600" dirty="0"/>
          </a:p>
          <a:p>
            <a:endParaRPr lang="en-US" altLang="zh-TW" sz="16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5941DAF7-7602-8E7E-74F0-6C9AB1FF2BA7}"/>
              </a:ext>
            </a:extLst>
          </p:cNvPr>
          <p:cNvSpPr/>
          <p:nvPr/>
        </p:nvSpPr>
        <p:spPr>
          <a:xfrm>
            <a:off x="3915351" y="4017936"/>
            <a:ext cx="736429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13202AB5-C4F7-51A3-A8E0-EF1F245845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932" y="2518565"/>
            <a:ext cx="1418136" cy="1066064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688E8E9F-7996-6CE7-4A71-1ECF9FBB11EB}"/>
              </a:ext>
            </a:extLst>
          </p:cNvPr>
          <p:cNvSpPr txBox="1"/>
          <p:nvPr/>
        </p:nvSpPr>
        <p:spPr>
          <a:xfrm>
            <a:off x="6946981" y="4637377"/>
            <a:ext cx="215201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Viral_transcript</a:t>
            </a:r>
            <a:r>
              <a:rPr lang="en-US" altLang="zh-TW" sz="1600" dirty="0"/>
              <a:t> = 0</a:t>
            </a:r>
          </a:p>
          <a:p>
            <a:endParaRPr lang="en-US" altLang="zh-TW" sz="1600" dirty="0"/>
          </a:p>
          <a:p>
            <a:endParaRPr lang="en-US" altLang="zh-TW" sz="1100" dirty="0"/>
          </a:p>
          <a:p>
            <a:r>
              <a:rPr lang="en-US" altLang="zh-TW" sz="1600" dirty="0">
                <a:solidFill>
                  <a:srgbClr val="FF0000"/>
                </a:solidFill>
              </a:rPr>
              <a:t>Condition = 1dpi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566E7B7-AAD3-05DB-17F6-36723D025DA0}"/>
              </a:ext>
            </a:extLst>
          </p:cNvPr>
          <p:cNvSpPr txBox="1"/>
          <p:nvPr/>
        </p:nvSpPr>
        <p:spPr>
          <a:xfrm>
            <a:off x="4651780" y="2813969"/>
            <a:ext cx="75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rgbClr val="00B050"/>
                </a:solidFill>
              </a:rPr>
              <a:t>17</a:t>
            </a:r>
            <a:r>
              <a:rPr lang="en-US" altLang="zh-TW" sz="1600" b="1" dirty="0">
                <a:solidFill>
                  <a:srgbClr val="00B050"/>
                </a:solidFill>
              </a:rPr>
              <a:t>07</a:t>
            </a:r>
            <a:endParaRPr lang="zh-TW" altLang="en-US" sz="1600" b="1" dirty="0">
              <a:solidFill>
                <a:srgbClr val="00B050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F6675A2-82B0-CEFF-6381-8A9260A1F5F7}"/>
              </a:ext>
            </a:extLst>
          </p:cNvPr>
          <p:cNvSpPr txBox="1"/>
          <p:nvPr/>
        </p:nvSpPr>
        <p:spPr>
          <a:xfrm>
            <a:off x="4613152" y="4442848"/>
            <a:ext cx="832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</a:rPr>
              <a:t>7505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69DE469-2F16-9BA4-A052-5D04347E5284}"/>
              </a:ext>
            </a:extLst>
          </p:cNvPr>
          <p:cNvSpPr txBox="1"/>
          <p:nvPr/>
        </p:nvSpPr>
        <p:spPr>
          <a:xfrm>
            <a:off x="4651780" y="6108498"/>
            <a:ext cx="2390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* </a:t>
            </a:r>
            <a:r>
              <a:rPr lang="en-US" altLang="zh-TW" sz="1600" b="1" dirty="0"/>
              <a:t>42769 Unknown cell</a:t>
            </a:r>
            <a:endParaRPr lang="zh-TW" altLang="zh-TW" sz="1600" b="1" dirty="0"/>
          </a:p>
        </p:txBody>
      </p:sp>
    </p:spTree>
    <p:extLst>
      <p:ext uri="{BB962C8B-B14F-4D97-AF65-F5344CB8AC3E}">
        <p14:creationId xmlns:p14="http://schemas.microsoft.com/office/powerpoint/2010/main" val="2689587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97B9C-5262-894D-91BE-B892C888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48E68-D7ED-C8A7-B6E3-031B1AD5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Topological relationships of cells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54FED8-9E66-E9E2-C145-7513B641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F7B512-2C03-3EF0-5519-297DA2178946}"/>
              </a:ext>
            </a:extLst>
          </p:cNvPr>
          <p:cNvSpPr txBox="1"/>
          <p:nvPr/>
        </p:nvSpPr>
        <p:spPr>
          <a:xfrm>
            <a:off x="740847" y="2155582"/>
            <a:ext cx="466712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Select the top 3,000 highly variable genes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AB02996-31D5-4AB3-6D79-CC9F457AA034}"/>
              </a:ext>
            </a:extLst>
          </p:cNvPr>
          <p:cNvSpPr txBox="1"/>
          <p:nvPr/>
        </p:nvSpPr>
        <p:spPr>
          <a:xfrm>
            <a:off x="740847" y="3679582"/>
            <a:ext cx="4837987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Performing clustering using PCA</a:t>
            </a:r>
            <a:r>
              <a:rPr lang="en-US" altLang="zh-TW" sz="1600" dirty="0"/>
              <a:t>(</a:t>
            </a:r>
            <a:r>
              <a:rPr lang="en-US" altLang="zh-TW" sz="1600" dirty="0" err="1"/>
              <a:t>n_comps</a:t>
            </a:r>
            <a:r>
              <a:rPr lang="en-US" altLang="zh-TW" sz="1600" dirty="0"/>
              <a:t> = 50)</a:t>
            </a:r>
            <a:endParaRPr lang="zh-TW" altLang="zh-TW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28528B-61C1-342F-1E55-472500D662F4}"/>
              </a:ext>
            </a:extLst>
          </p:cNvPr>
          <p:cNvSpPr txBox="1"/>
          <p:nvPr/>
        </p:nvSpPr>
        <p:spPr>
          <a:xfrm>
            <a:off x="919356" y="5474071"/>
            <a:ext cx="4310104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Construct a KNN graph</a:t>
            </a:r>
            <a:r>
              <a:rPr lang="en-US" altLang="zh-TW" sz="1600" dirty="0"/>
              <a:t>(</a:t>
            </a:r>
            <a:r>
              <a:rPr lang="zh-TW" altLang="zh-TW" dirty="0"/>
              <a:t>n_neighbors=15</a:t>
            </a:r>
            <a:r>
              <a:rPr lang="en-US" altLang="zh-TW" sz="1600" dirty="0"/>
              <a:t>)</a:t>
            </a:r>
            <a:endParaRPr lang="zh-TW" altLang="zh-TW" sz="1600" dirty="0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9E2742E9-7DAA-745E-D2AB-05EEB7CF3B98}"/>
              </a:ext>
            </a:extLst>
          </p:cNvPr>
          <p:cNvSpPr/>
          <p:nvPr/>
        </p:nvSpPr>
        <p:spPr>
          <a:xfrm rot="5400000">
            <a:off x="2798737" y="3009891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974A855E-33F2-459F-6BC7-C054FD986DFE}"/>
              </a:ext>
            </a:extLst>
          </p:cNvPr>
          <p:cNvSpPr/>
          <p:nvPr/>
        </p:nvSpPr>
        <p:spPr>
          <a:xfrm rot="5400000">
            <a:off x="2798737" y="4610603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17B0911-595A-6E8E-C068-0ED99F5E0E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658"/>
          <a:stretch>
            <a:fillRect/>
          </a:stretch>
        </p:blipFill>
        <p:spPr>
          <a:xfrm>
            <a:off x="8907094" y="3176302"/>
            <a:ext cx="2863161" cy="192941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F65ECF-624C-A254-A7B6-477978D6B5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695"/>
          <a:stretch>
            <a:fillRect/>
          </a:stretch>
        </p:blipFill>
        <p:spPr>
          <a:xfrm>
            <a:off x="6096000" y="3193113"/>
            <a:ext cx="2811094" cy="189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0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1DBE-FF14-5746-5D6F-63B54381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61744-BB47-11A9-9725-7F0749ED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model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7C1A92-0EA9-D377-A6F8-A3724F83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AF17326-44F9-8C17-B33F-719F7943E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426" y="533874"/>
            <a:ext cx="3262049" cy="4032154"/>
          </a:xfrm>
          <a:prstGeom prst="rect">
            <a:avLst/>
          </a:prstGeom>
        </p:spPr>
      </p:pic>
      <p:grpSp>
        <p:nvGrpSpPr>
          <p:cNvPr id="27" name="群組 26">
            <a:extLst>
              <a:ext uri="{FF2B5EF4-FFF2-40B4-BE49-F238E27FC236}">
                <a16:creationId xmlns:a16="http://schemas.microsoft.com/office/drawing/2014/main" id="{A3992759-24F0-1145-F984-1140E81CBEFB}"/>
              </a:ext>
            </a:extLst>
          </p:cNvPr>
          <p:cNvGrpSpPr/>
          <p:nvPr/>
        </p:nvGrpSpPr>
        <p:grpSpPr>
          <a:xfrm>
            <a:off x="8321653" y="4743773"/>
            <a:ext cx="3041315" cy="1768466"/>
            <a:chOff x="8873975" y="4406243"/>
            <a:chExt cx="3041315" cy="1768466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5B63523C-1705-8B10-42CB-C97B5933F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6598" y="4406243"/>
              <a:ext cx="2938692" cy="1185864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007FCDD6-B027-F486-0F76-FFFAA27CBB76}"/>
                </a:ext>
              </a:extLst>
            </p:cNvPr>
            <p:cNvSpPr txBox="1"/>
            <p:nvPr/>
          </p:nvSpPr>
          <p:spPr>
            <a:xfrm>
              <a:off x="8873975" y="5897710"/>
              <a:ext cx="26634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zh-TW" sz="1200" dirty="0"/>
                <a:t>GCN (Kipf &amp; Welling ICLR 2017)</a:t>
              </a:r>
              <a:endParaRPr lang="zh-TW" altLang="en-US" sz="1200" dirty="0"/>
            </a:p>
          </p:txBody>
        </p: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6059A20C-566D-8AEB-828D-7E7245616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6598" y="5497155"/>
              <a:ext cx="2751042" cy="539055"/>
            </a:xfrm>
            <a:prstGeom prst="rect">
              <a:avLst/>
            </a:prstGeom>
          </p:spPr>
        </p:pic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1C325B0-F485-9672-56FE-C01F8A8A1405}"/>
              </a:ext>
            </a:extLst>
          </p:cNvPr>
          <p:cNvSpPr txBox="1"/>
          <p:nvPr/>
        </p:nvSpPr>
        <p:spPr>
          <a:xfrm>
            <a:off x="4096342" y="1825959"/>
            <a:ext cx="128433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All cells</a:t>
            </a:r>
            <a:endParaRPr lang="zh-TW" altLang="zh-TW" sz="16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B7167AA-30C6-5778-2AC0-90F24C2B1E33}"/>
              </a:ext>
            </a:extLst>
          </p:cNvPr>
          <p:cNvSpPr txBox="1"/>
          <p:nvPr/>
        </p:nvSpPr>
        <p:spPr>
          <a:xfrm>
            <a:off x="1183690" y="2728144"/>
            <a:ext cx="3063052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Labeled cells</a:t>
            </a:r>
          </a:p>
          <a:p>
            <a:pPr algn="ctr"/>
            <a:r>
              <a:rPr lang="zh-TW" altLang="zh-TW" sz="1600" dirty="0"/>
              <a:t>Stratified Split</a:t>
            </a:r>
            <a:r>
              <a:rPr lang="en-US" altLang="zh-TW" sz="1600" dirty="0"/>
              <a:t> 80% / 20%</a:t>
            </a:r>
            <a:endParaRPr lang="zh-TW" altLang="zh-TW" sz="16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2C48805-36DF-65F6-1E6D-375292A8AACE}"/>
              </a:ext>
            </a:extLst>
          </p:cNvPr>
          <p:cNvSpPr txBox="1"/>
          <p:nvPr/>
        </p:nvSpPr>
        <p:spPr>
          <a:xfrm>
            <a:off x="1631684" y="3966786"/>
            <a:ext cx="2167063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Train / validation</a:t>
            </a:r>
            <a:endParaRPr lang="zh-TW" altLang="zh-TW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3799A18-748D-C375-166E-7B4979036171}"/>
              </a:ext>
            </a:extLst>
          </p:cNvPr>
          <p:cNvSpPr txBox="1"/>
          <p:nvPr/>
        </p:nvSpPr>
        <p:spPr>
          <a:xfrm>
            <a:off x="5778197" y="2851254"/>
            <a:ext cx="2167063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Unknown cells</a:t>
            </a:r>
            <a:endParaRPr lang="zh-TW" altLang="zh-TW" sz="16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F61CAD4-AC74-F3F1-6852-EF7EB0949665}"/>
              </a:ext>
            </a:extLst>
          </p:cNvPr>
          <p:cNvSpPr txBox="1"/>
          <p:nvPr/>
        </p:nvSpPr>
        <p:spPr>
          <a:xfrm>
            <a:off x="4035663" y="4963372"/>
            <a:ext cx="1835276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GCN model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A93DEFF-E271-D002-8CDA-EF70CBCF4734}"/>
              </a:ext>
            </a:extLst>
          </p:cNvPr>
          <p:cNvSpPr txBox="1"/>
          <p:nvPr/>
        </p:nvSpPr>
        <p:spPr>
          <a:xfrm>
            <a:off x="3651062" y="5895336"/>
            <a:ext cx="2604478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Predict </a:t>
            </a:r>
            <a:r>
              <a:rPr lang="en-US" altLang="zh-TW" sz="1600" dirty="0"/>
              <a:t>u</a:t>
            </a:r>
            <a:r>
              <a:rPr lang="zh-TW" altLang="zh-TW" sz="1600" dirty="0"/>
              <a:t>nknown </a:t>
            </a:r>
            <a:r>
              <a:rPr lang="en-US" altLang="zh-TW" sz="1600" dirty="0"/>
              <a:t>c</a:t>
            </a:r>
            <a:r>
              <a:rPr lang="zh-TW" altLang="zh-TW" sz="1600" dirty="0"/>
              <a:t>ells</a:t>
            </a:r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CD2CED3F-9187-6557-10C9-14F5C2E6727A}"/>
              </a:ext>
            </a:extLst>
          </p:cNvPr>
          <p:cNvSpPr/>
          <p:nvPr/>
        </p:nvSpPr>
        <p:spPr>
          <a:xfrm rot="7582017">
            <a:off x="3477717" y="2386502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E9E66010-FEAE-EE66-D6F7-B70DF934A2BB}"/>
              </a:ext>
            </a:extLst>
          </p:cNvPr>
          <p:cNvSpPr/>
          <p:nvPr/>
        </p:nvSpPr>
        <p:spPr>
          <a:xfrm rot="3173199">
            <a:off x="5661286" y="2385849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箭號: 向右 41">
            <a:extLst>
              <a:ext uri="{FF2B5EF4-FFF2-40B4-BE49-F238E27FC236}">
                <a16:creationId xmlns:a16="http://schemas.microsoft.com/office/drawing/2014/main" id="{51A8EEF6-3BC1-784E-8A8B-28033084F09C}"/>
              </a:ext>
            </a:extLst>
          </p:cNvPr>
          <p:cNvSpPr/>
          <p:nvPr/>
        </p:nvSpPr>
        <p:spPr>
          <a:xfrm rot="5400000">
            <a:off x="2545937" y="358570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箭號: 向右 43">
            <a:extLst>
              <a:ext uri="{FF2B5EF4-FFF2-40B4-BE49-F238E27FC236}">
                <a16:creationId xmlns:a16="http://schemas.microsoft.com/office/drawing/2014/main" id="{C79FBFEA-CB36-D8BC-117B-5A2ABCEF5701}"/>
              </a:ext>
            </a:extLst>
          </p:cNvPr>
          <p:cNvSpPr/>
          <p:nvPr/>
        </p:nvSpPr>
        <p:spPr>
          <a:xfrm rot="3173199">
            <a:off x="3498571" y="45531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AE8F7700-CB11-A62C-1370-16C33F8C2D3A}"/>
              </a:ext>
            </a:extLst>
          </p:cNvPr>
          <p:cNvSpPr/>
          <p:nvPr/>
        </p:nvSpPr>
        <p:spPr>
          <a:xfrm rot="5400000">
            <a:off x="4784023" y="5542175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箭號: 向右 47">
            <a:extLst>
              <a:ext uri="{FF2B5EF4-FFF2-40B4-BE49-F238E27FC236}">
                <a16:creationId xmlns:a16="http://schemas.microsoft.com/office/drawing/2014/main" id="{F4D48177-F788-9DE9-5188-186967B90C0A}"/>
              </a:ext>
            </a:extLst>
          </p:cNvPr>
          <p:cNvSpPr/>
          <p:nvPr/>
        </p:nvSpPr>
        <p:spPr>
          <a:xfrm rot="7582017">
            <a:off x="6088324" y="4553849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減號 48">
            <a:extLst>
              <a:ext uri="{FF2B5EF4-FFF2-40B4-BE49-F238E27FC236}">
                <a16:creationId xmlns:a16="http://schemas.microsoft.com/office/drawing/2014/main" id="{5B422E99-CAB9-BE5A-4A69-01593E4DB9F3}"/>
              </a:ext>
            </a:extLst>
          </p:cNvPr>
          <p:cNvSpPr/>
          <p:nvPr/>
        </p:nvSpPr>
        <p:spPr>
          <a:xfrm rot="5400000">
            <a:off x="6343058" y="3369075"/>
            <a:ext cx="429584" cy="31727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減號 50">
            <a:extLst>
              <a:ext uri="{FF2B5EF4-FFF2-40B4-BE49-F238E27FC236}">
                <a16:creationId xmlns:a16="http://schemas.microsoft.com/office/drawing/2014/main" id="{2E683CA6-DFDB-4A8D-7A82-F3F4CFC4A023}"/>
              </a:ext>
            </a:extLst>
          </p:cNvPr>
          <p:cNvSpPr/>
          <p:nvPr/>
        </p:nvSpPr>
        <p:spPr>
          <a:xfrm rot="5400000">
            <a:off x="6343058" y="3921770"/>
            <a:ext cx="429584" cy="31727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749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6B20-139C-AB97-9351-0BF83D44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5D6C28-DA74-1C84-9592-C5884357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3AE31C-3AC4-D116-0B2D-A31280E3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C96E687-FFDE-E5ED-6B8E-86F23324556C}"/>
              </a:ext>
            </a:extLst>
          </p:cNvPr>
          <p:cNvGraphicFramePr>
            <a:graphicFrameLocks noGrp="1"/>
          </p:cNvGraphicFramePr>
          <p:nvPr/>
        </p:nvGraphicFramePr>
        <p:xfrm>
          <a:off x="2208723" y="1916590"/>
          <a:ext cx="4946916" cy="1493520"/>
        </p:xfrm>
        <a:graphic>
          <a:graphicData uri="http://schemas.openxmlformats.org/drawingml/2006/table">
            <a:tbl>
              <a:tblPr/>
              <a:tblGrid>
                <a:gridCol w="1648972">
                  <a:extLst>
                    <a:ext uri="{9D8B030D-6E8A-4147-A177-3AD203B41FA5}">
                      <a16:colId xmlns:a16="http://schemas.microsoft.com/office/drawing/2014/main" val="1383026435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204358492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60946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Confusion matrix</a:t>
                      </a:r>
                      <a:endParaRPr lang="zh-TW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4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1492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9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99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32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310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76261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DA4D436-A963-776F-D208-9BE1BD5A6366}"/>
              </a:ext>
            </a:extLst>
          </p:cNvPr>
          <p:cNvGraphicFramePr>
            <a:graphicFrameLocks noGrp="1"/>
          </p:cNvGraphicFramePr>
          <p:nvPr/>
        </p:nvGraphicFramePr>
        <p:xfrm>
          <a:off x="2208723" y="4076171"/>
          <a:ext cx="8915400" cy="249936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409052019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3945392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53360861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2320068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8293085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30960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8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0.99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0.99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1501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7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1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4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34</a:t>
                      </a: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9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2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Macro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5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6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3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Weighted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038269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E3FD64E5-2796-8420-7757-D18974B72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097" y="683985"/>
            <a:ext cx="3117026" cy="318099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8CA9844-37BA-EE82-AEB0-C26830AA9055}"/>
              </a:ext>
            </a:extLst>
          </p:cNvPr>
          <p:cNvSpPr txBox="1"/>
          <p:nvPr/>
        </p:nvSpPr>
        <p:spPr>
          <a:xfrm>
            <a:off x="9350689" y="2532545"/>
            <a:ext cx="1412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* PR-AUC = 0.9882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11027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621A-EC75-A20A-B123-A6A8E3DA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25FB8-B5A3-20E8-37D6-307C87C4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results(2)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096A1D-69BF-FE49-0E9F-BD75DF3B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B1ADAB-F433-E29F-667F-31D8AAC1F6B5}"/>
              </a:ext>
            </a:extLst>
          </p:cNvPr>
          <p:cNvSpPr txBox="1"/>
          <p:nvPr/>
        </p:nvSpPr>
        <p:spPr>
          <a:xfrm>
            <a:off x="6646219" y="3676116"/>
            <a:ext cx="3692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Unknown → Infected: </a:t>
            </a:r>
            <a:r>
              <a:rPr lang="en-US" altLang="zh-TW" dirty="0"/>
              <a:t>19823</a:t>
            </a:r>
            <a:r>
              <a:rPr lang="zh-TW" altLang="zh-TW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Viral transcript &lt; 10: </a:t>
            </a:r>
            <a:r>
              <a:rPr lang="en-US" altLang="zh-TW" dirty="0"/>
              <a:t>18001</a:t>
            </a:r>
            <a:r>
              <a:rPr lang="zh-TW" altLang="zh-TW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Percentage: </a:t>
            </a:r>
            <a:r>
              <a:rPr lang="en-US" altLang="zh-TW" dirty="0"/>
              <a:t>90.81</a:t>
            </a:r>
            <a:r>
              <a:rPr lang="zh-TW" altLang="zh-TW" dirty="0"/>
              <a:t>%</a:t>
            </a:r>
            <a:endParaRPr lang="zh-TW" altLang="en-US" sz="16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4ED5D71-D9D7-1E70-4270-6D536362562A}"/>
              </a:ext>
            </a:extLst>
          </p:cNvPr>
          <p:cNvSpPr txBox="1"/>
          <p:nvPr/>
        </p:nvSpPr>
        <p:spPr>
          <a:xfrm>
            <a:off x="10750846" y="3953115"/>
            <a:ext cx="1357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0: </a:t>
            </a:r>
            <a:r>
              <a:rPr lang="en-US" altLang="zh-TW" dirty="0"/>
              <a:t>2289</a:t>
            </a:r>
            <a:r>
              <a:rPr lang="zh-TW" altLang="zh-TW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1~9: </a:t>
            </a:r>
            <a:r>
              <a:rPr lang="en-US" altLang="zh-TW" dirty="0"/>
              <a:t>15712</a:t>
            </a:r>
            <a:endParaRPr lang="zh-TW" altLang="en-US" sz="1600" dirty="0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44340894-5EF8-5514-CA9A-7A1CF864DDC5}"/>
              </a:ext>
            </a:extLst>
          </p:cNvPr>
          <p:cNvSpPr/>
          <p:nvPr/>
        </p:nvSpPr>
        <p:spPr>
          <a:xfrm rot="1570202">
            <a:off x="10349385" y="44828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99BCD0C4-AA12-F72E-E9CD-EEA490F28C19}"/>
              </a:ext>
            </a:extLst>
          </p:cNvPr>
          <p:cNvSpPr/>
          <p:nvPr/>
        </p:nvSpPr>
        <p:spPr>
          <a:xfrm rot="20406949">
            <a:off x="10349387" y="416513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1E62FE6-F755-B2AA-A1C3-1B4E670F0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99" y="2018453"/>
            <a:ext cx="5802081" cy="432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76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2ED2-DF7B-51DF-84BD-E05C90AD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99A17-366C-A1F5-7571-666EE414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Infection and Cell Type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E969F6-FB89-EC5F-BD6A-B2B3DC80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23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F70A0A9-317B-C0EA-FC15-702A12F3B65B}"/>
              </a:ext>
            </a:extLst>
          </p:cNvPr>
          <p:cNvGraphicFramePr>
            <a:graphicFrameLocks noGrp="1"/>
          </p:cNvGraphicFramePr>
          <p:nvPr/>
        </p:nvGraphicFramePr>
        <p:xfrm>
          <a:off x="6352802" y="2266573"/>
          <a:ext cx="5493331" cy="376753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876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1160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56.9</a:t>
                      </a:r>
                      <a:r>
                        <a:rPr lang="zh-TW" sz="1600" b="1" dirty="0">
                          <a:solidFill>
                            <a:srgbClr val="FF0000"/>
                          </a:solidFill>
                        </a:rPr>
                        <a:t>%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7823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10137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56.4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6190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5764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48.2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7151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2707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27.4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47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26.5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427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5.9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225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4.1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207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9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0.8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BC43500-5622-A728-97EE-63A67EE28802}"/>
              </a:ext>
            </a:extLst>
          </p:cNvPr>
          <p:cNvGraphicFramePr>
            <a:graphicFrameLocks noGrp="1"/>
          </p:cNvGraphicFramePr>
          <p:nvPr/>
        </p:nvGraphicFramePr>
        <p:xfrm>
          <a:off x="524128" y="2266573"/>
          <a:ext cx="5493331" cy="37709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28.3%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chemeClr val="tx1"/>
                          </a:solidFill>
                        </a:rPr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3212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1219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27.5%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7C56F66A-EE64-C2B5-4C2C-EDBAB5AFDC83}"/>
              </a:ext>
            </a:extLst>
          </p:cNvPr>
          <p:cNvSpPr txBox="1"/>
          <p:nvPr/>
        </p:nvSpPr>
        <p:spPr>
          <a:xfrm>
            <a:off x="9938851" y="6233890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10FD9F8-F0A5-80F6-5149-35A93222285A}"/>
              </a:ext>
            </a:extLst>
          </p:cNvPr>
          <p:cNvSpPr txBox="1"/>
          <p:nvPr/>
        </p:nvSpPr>
        <p:spPr>
          <a:xfrm>
            <a:off x="468726" y="1693435"/>
            <a:ext cx="610112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high-confidence labels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B314135-5729-6021-6587-BC30933BF3A6}"/>
              </a:ext>
            </a:extLst>
          </p:cNvPr>
          <p:cNvSpPr txBox="1"/>
          <p:nvPr/>
        </p:nvSpPr>
        <p:spPr>
          <a:xfrm>
            <a:off x="6239435" y="1693434"/>
            <a:ext cx="610112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unknown labels</a:t>
            </a:r>
          </a:p>
        </p:txBody>
      </p:sp>
    </p:spTree>
    <p:extLst>
      <p:ext uri="{BB962C8B-B14F-4D97-AF65-F5344CB8AC3E}">
        <p14:creationId xmlns:p14="http://schemas.microsoft.com/office/powerpoint/2010/main" val="1459305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C5AA-FE4C-0617-11C1-329BBFDE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2F1176-A6D9-030E-CEE6-C29F1596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Logistics regression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3A912B-B905-0B71-1BEE-B07A4B21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24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0A83CA9-1E9F-88F0-52DF-0ABD95B20728}"/>
              </a:ext>
            </a:extLst>
          </p:cNvPr>
          <p:cNvGraphicFramePr>
            <a:graphicFrameLocks noGrp="1"/>
          </p:cNvGraphicFramePr>
          <p:nvPr/>
        </p:nvGraphicFramePr>
        <p:xfrm>
          <a:off x="2208723" y="1916590"/>
          <a:ext cx="4946916" cy="1493520"/>
        </p:xfrm>
        <a:graphic>
          <a:graphicData uri="http://schemas.openxmlformats.org/drawingml/2006/table">
            <a:tbl>
              <a:tblPr/>
              <a:tblGrid>
                <a:gridCol w="1648972">
                  <a:extLst>
                    <a:ext uri="{9D8B030D-6E8A-4147-A177-3AD203B41FA5}">
                      <a16:colId xmlns:a16="http://schemas.microsoft.com/office/drawing/2014/main" val="1383026435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204358492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60946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Confusion matrix</a:t>
                      </a:r>
                      <a:endParaRPr lang="zh-TW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4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1501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99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3</a:t>
                      </a:r>
                      <a:r>
                        <a:rPr lang="en-US" altLang="zh-TW" sz="1600" dirty="0"/>
                        <a:t>40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762611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5DCF4FD-8157-28B5-4D2B-8D14DB47CBCB}"/>
              </a:ext>
            </a:extLst>
          </p:cNvPr>
          <p:cNvGraphicFramePr>
            <a:graphicFrameLocks noGrp="1"/>
          </p:cNvGraphicFramePr>
          <p:nvPr/>
        </p:nvGraphicFramePr>
        <p:xfrm>
          <a:off x="2208723" y="4076171"/>
          <a:ext cx="8915400" cy="249936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409052019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3945392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53360861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2320068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8293085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30960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8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1501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9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34</a:t>
                      </a: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9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2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Macro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3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Weighted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038269"/>
                  </a:ext>
                </a:extLst>
              </a:tr>
            </a:tbl>
          </a:graphicData>
        </a:graphic>
      </p:graphicFrame>
      <p:pic>
        <p:nvPicPr>
          <p:cNvPr id="15" name="圖片 14">
            <a:extLst>
              <a:ext uri="{FF2B5EF4-FFF2-40B4-BE49-F238E27FC236}">
                <a16:creationId xmlns:a16="http://schemas.microsoft.com/office/drawing/2014/main" id="{9D024871-1AF2-C831-9D1C-BCC75C3BF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741" y="421105"/>
            <a:ext cx="3417382" cy="348751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17125ED8-C94E-865A-72E6-CFBA6B8B8DB3}"/>
              </a:ext>
            </a:extLst>
          </p:cNvPr>
          <p:cNvSpPr txBox="1"/>
          <p:nvPr/>
        </p:nvSpPr>
        <p:spPr>
          <a:xfrm>
            <a:off x="9350689" y="2532545"/>
            <a:ext cx="1412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* PR-AUC = 0.9992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012825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571B-7573-28A1-F002-1C6BB70F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3E4A7C-FCD7-20CF-1BB1-DF8BAEA3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regression(1)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5521BF-68AC-379E-FB3B-4D481BCE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25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EEA055C-5EDC-AB31-4E1F-A4A8AA234D4F}"/>
              </a:ext>
            </a:extLst>
          </p:cNvPr>
          <p:cNvGraphicFramePr>
            <a:graphicFrameLocks noGrp="1"/>
          </p:cNvGraphicFramePr>
          <p:nvPr/>
        </p:nvGraphicFramePr>
        <p:xfrm>
          <a:off x="2411660" y="2732620"/>
          <a:ext cx="8259300" cy="2292140"/>
        </p:xfrm>
        <a:graphic>
          <a:graphicData uri="http://schemas.openxmlformats.org/drawingml/2006/table">
            <a:tbl>
              <a:tblPr/>
              <a:tblGrid>
                <a:gridCol w="2064825">
                  <a:extLst>
                    <a:ext uri="{9D8B030D-6E8A-4147-A177-3AD203B41FA5}">
                      <a16:colId xmlns:a16="http://schemas.microsoft.com/office/drawing/2014/main" val="3953364741"/>
                    </a:ext>
                  </a:extLst>
                </a:gridCol>
                <a:gridCol w="2064825">
                  <a:extLst>
                    <a:ext uri="{9D8B030D-6E8A-4147-A177-3AD203B41FA5}">
                      <a16:colId xmlns:a16="http://schemas.microsoft.com/office/drawing/2014/main" val="3502616432"/>
                    </a:ext>
                  </a:extLst>
                </a:gridCol>
                <a:gridCol w="2064825">
                  <a:extLst>
                    <a:ext uri="{9D8B030D-6E8A-4147-A177-3AD203B41FA5}">
                      <a16:colId xmlns:a16="http://schemas.microsoft.com/office/drawing/2014/main" val="3656777964"/>
                    </a:ext>
                  </a:extLst>
                </a:gridCol>
                <a:gridCol w="2064825">
                  <a:extLst>
                    <a:ext uri="{9D8B030D-6E8A-4147-A177-3AD203B41FA5}">
                      <a16:colId xmlns:a16="http://schemas.microsoft.com/office/drawing/2014/main" val="2921711030"/>
                    </a:ext>
                  </a:extLst>
                </a:gridCol>
              </a:tblGrid>
              <a:tr h="57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GCN \ Logistic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Logistic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Logistic 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368731"/>
                  </a:ext>
                </a:extLst>
              </a:tr>
              <a:tr h="57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 dirty="0"/>
                        <a:t>GCN = 0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16,523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6,423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22,946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306729"/>
                  </a:ext>
                </a:extLst>
              </a:tr>
              <a:tr h="57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GCN = 1</a:t>
                      </a:r>
                      <a:endParaRPr lang="zh-TW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1,963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17,860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19,823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202364"/>
                  </a:ext>
                </a:extLst>
              </a:tr>
              <a:tr h="57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Total</a:t>
                      </a:r>
                      <a:endParaRPr lang="zh-TW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18,486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24,283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42,769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77820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425E9347-5C77-2F8A-7BC4-7D095D71B960}"/>
              </a:ext>
            </a:extLst>
          </p:cNvPr>
          <p:cNvSpPr txBox="1"/>
          <p:nvPr/>
        </p:nvSpPr>
        <p:spPr>
          <a:xfrm>
            <a:off x="7631186" y="5367107"/>
            <a:ext cx="3403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* Disa</a:t>
            </a:r>
            <a:r>
              <a:rPr lang="zh-TW" altLang="zh-TW" dirty="0">
                <a:solidFill>
                  <a:srgbClr val="FF0000"/>
                </a:solidFill>
              </a:rPr>
              <a:t>greement rate</a:t>
            </a:r>
            <a:r>
              <a:rPr lang="en-US" altLang="zh-TW" dirty="0">
                <a:solidFill>
                  <a:srgbClr val="FF0000"/>
                </a:solidFill>
              </a:rPr>
              <a:t> = 19.6</a:t>
            </a:r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117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9377-5161-B7C8-076E-2C1C6806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4FFAF-49D6-CA3F-E9A7-BA5C029D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regression(2)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1A0A71-1ECD-BFB1-027B-36481294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CE6119B-BE9D-5747-5AB8-3EA1341CC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47" y="1602650"/>
            <a:ext cx="6189867" cy="470049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03DF013-3657-E35B-4370-BD8F01548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885" y="2445807"/>
            <a:ext cx="5102355" cy="165826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6829D003-A6A9-50C9-DB78-C7F1CF84BEB2}"/>
              </a:ext>
            </a:extLst>
          </p:cNvPr>
          <p:cNvSpPr/>
          <p:nvPr/>
        </p:nvSpPr>
        <p:spPr>
          <a:xfrm>
            <a:off x="6841884" y="3869933"/>
            <a:ext cx="5102355" cy="234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16B1A73-A3EF-0AFD-E51F-D96453A4B5A3}"/>
              </a:ext>
            </a:extLst>
          </p:cNvPr>
          <p:cNvSpPr txBox="1"/>
          <p:nvPr/>
        </p:nvSpPr>
        <p:spPr>
          <a:xfrm>
            <a:off x="6702539" y="4665771"/>
            <a:ext cx="5489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* </a:t>
            </a:r>
            <a:r>
              <a:rPr lang="zh-TW" altLang="zh-TW" dirty="0">
                <a:solidFill>
                  <a:srgbClr val="FF0000"/>
                </a:solidFill>
              </a:rPr>
              <a:t>The criterion used by GCN to determine whether a cell is infected—based on the abundance of viral transcripts—is quite peculiar.</a:t>
            </a:r>
          </a:p>
          <a:p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91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7B-2556-F895-A468-8A9744CD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288FB-0907-D75B-AB16-61E66359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regression(3)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A13299-D5CB-A8EA-F3C8-B78B9543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273B78-DE5A-CEB9-D87E-34F7FD345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2" y="1909062"/>
            <a:ext cx="5790871" cy="432482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2042ECA-9AED-A523-FDDA-6261DC197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914" y="2606994"/>
            <a:ext cx="5088361" cy="88035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F9E536-7B0F-7D6A-C61A-FCD2085555C6}"/>
              </a:ext>
            </a:extLst>
          </p:cNvPr>
          <p:cNvSpPr txBox="1"/>
          <p:nvPr/>
        </p:nvSpPr>
        <p:spPr>
          <a:xfrm>
            <a:off x="6748914" y="4352836"/>
            <a:ext cx="51252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As the duration of infection increases, the number of viral transcripts in the cells rises, making them more likely to be classified as infected; both models exhibit the same trend.</a:t>
            </a:r>
          </a:p>
          <a:p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42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7CA6-8C83-2D11-A95B-64889D31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46D4CA-A1D2-9FF3-63D9-04DE36277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6989390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What I Learned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4794D20-F8CD-73C8-FCC1-B94C00E6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391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F5BB3-CB64-C50C-5D46-66E30FA8F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zh-TW" altLang="zh-TW" dirty="0"/>
              <a:t>onclusion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DE38BC-AF32-880D-1735-01DCD441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CCC91DD-30A3-B788-CD25-C7C174E81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916" y="2521226"/>
            <a:ext cx="6087947" cy="3031433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7A6D2A39-0C54-816F-2E5E-E43545F52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386" y="2521226"/>
            <a:ext cx="5494614" cy="3777622"/>
          </a:xfrm>
        </p:spPr>
        <p:txBody>
          <a:bodyPr/>
          <a:lstStyle/>
          <a:p>
            <a:r>
              <a:rPr lang="zh-TW" altLang="zh-TW" dirty="0"/>
              <a:t>Before conducting research, you need to clearly define your motivation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zh-TW" dirty="0"/>
              <a:t>Making plans for the subsequent results of the experiment</a:t>
            </a:r>
          </a:p>
          <a:p>
            <a:pPr marL="400050" lvl="1" indent="0">
              <a:buNone/>
            </a:pPr>
            <a:endParaRPr lang="zh-TW" altLang="zh-TW" dirty="0"/>
          </a:p>
          <a:p>
            <a:r>
              <a:rPr lang="zh-TW" altLang="zh-TW" dirty="0"/>
              <a:t>Learn to use Git for version control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9234660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1621</TotalTime>
  <Words>1406</Words>
  <Application>Microsoft Office PowerPoint</Application>
  <PresentationFormat>寬螢幕</PresentationFormat>
  <Paragraphs>430</Paragraphs>
  <Slides>29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6" baseType="lpstr">
      <vt:lpstr>inherit</vt:lpstr>
      <vt:lpstr>Aptos</vt:lpstr>
      <vt:lpstr>Arial</vt:lpstr>
      <vt:lpstr>Century Gothic</vt:lpstr>
      <vt:lpstr>Wingdings 2</vt:lpstr>
      <vt:lpstr>Wingdings 3</vt:lpstr>
      <vt:lpstr>絲縷</vt:lpstr>
      <vt:lpstr>Summer Program Completion Report</vt:lpstr>
      <vt:lpstr>Outline</vt:lpstr>
      <vt:lpstr>Aim 1</vt:lpstr>
      <vt:lpstr>Previous work    </vt:lpstr>
      <vt:lpstr>Enrichment Analysis</vt:lpstr>
      <vt:lpstr>Gene Set Enrichment Analysis</vt:lpstr>
      <vt:lpstr>Why GSEA ?</vt:lpstr>
      <vt:lpstr>Gene Set Enrichment Analysis</vt:lpstr>
      <vt:lpstr>Enrichment results</vt:lpstr>
      <vt:lpstr>Current results(RF) </vt:lpstr>
      <vt:lpstr>Alphaviridae(GO)</vt:lpstr>
      <vt:lpstr>Coronaviridae(KEGG)</vt:lpstr>
      <vt:lpstr>Orthoherpesviridae(Reactome)</vt:lpstr>
      <vt:lpstr>Aim 2</vt:lpstr>
      <vt:lpstr>Previous work    </vt:lpstr>
      <vt:lpstr>Previous work    </vt:lpstr>
      <vt:lpstr>Literature Review   </vt:lpstr>
      <vt:lpstr>Data preprocessing</vt:lpstr>
      <vt:lpstr>Topological relationships of cells</vt:lpstr>
      <vt:lpstr>GCN model</vt:lpstr>
      <vt:lpstr>GCN results</vt:lpstr>
      <vt:lpstr>GCN results(2)</vt:lpstr>
      <vt:lpstr>Infection and Cell Type</vt:lpstr>
      <vt:lpstr>Logistics regression</vt:lpstr>
      <vt:lpstr>GCN vs Logistics regression(1)</vt:lpstr>
      <vt:lpstr>GCN vs Logistics regression(2)</vt:lpstr>
      <vt:lpstr>GCN vs Logistics regression(3)</vt:lpstr>
      <vt:lpstr>What I Learned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42</cp:revision>
  <dcterms:created xsi:type="dcterms:W3CDTF">2026-07-22T01:16:54Z</dcterms:created>
  <dcterms:modified xsi:type="dcterms:W3CDTF">2026-08-24T07:35:34Z</dcterms:modified>
</cp:coreProperties>
</file>