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312" r:id="rId11"/>
    <p:sldId id="258" r:id="rId12"/>
    <p:sldId id="287" r:id="rId13"/>
    <p:sldId id="288" r:id="rId14"/>
    <p:sldId id="289" r:id="rId15"/>
    <p:sldId id="313" r:id="rId16"/>
    <p:sldId id="278" r:id="rId17"/>
    <p:sldId id="290" r:id="rId18"/>
    <p:sldId id="293" r:id="rId19"/>
    <p:sldId id="274" r:id="rId20"/>
    <p:sldId id="283" r:id="rId21"/>
    <p:sldId id="294" r:id="rId22"/>
    <p:sldId id="295" r:id="rId23"/>
    <p:sldId id="296" r:id="rId24"/>
    <p:sldId id="297" r:id="rId25"/>
    <p:sldId id="298" r:id="rId26"/>
    <p:sldId id="304" r:id="rId27"/>
    <p:sldId id="306" r:id="rId28"/>
    <p:sldId id="307" r:id="rId29"/>
    <p:sldId id="310" r:id="rId30"/>
    <p:sldId id="314" r:id="rId31"/>
    <p:sldId id="311" r:id="rId32"/>
    <p:sldId id="27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25" autoAdjust="0"/>
  </p:normalViewPr>
  <p:slideViewPr>
    <p:cSldViewPr snapToGrid="0">
      <p:cViewPr varScale="1">
        <p:scale>
          <a:sx n="97" d="100"/>
          <a:sy n="97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  <a:p>
            <a:r>
              <a:rPr lang="zh-TW" altLang="en-US" sz="1200" dirty="0"/>
              <a:t>講</a:t>
            </a:r>
            <a:r>
              <a:rPr lang="en-US" altLang="zh-TW" sz="1200" dirty="0"/>
              <a:t>immune gene</a:t>
            </a:r>
            <a:r>
              <a:rPr lang="zh-TW" altLang="en-US" sz="1200" dirty="0"/>
              <a:t>是</a:t>
            </a:r>
            <a:r>
              <a:rPr lang="en-US" altLang="zh-TW" sz="1200" dirty="0"/>
              <a:t>input</a:t>
            </a:r>
          </a:p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en-US" altLang="zh-TW" b="0" dirty="0"/>
          </a:p>
          <a:p>
            <a:endParaRPr lang="en-US" altLang="zh-TW" b="0" dirty="0"/>
          </a:p>
          <a:p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3DDAF-A505-A484-7B58-C847391E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96F787E-F258-C1E6-03FB-A05CE6BB9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D15FED3-CAD4-EB8F-BAD5-598D8AEC0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dirty="0"/>
              <a:t>https://github.com/zqfang/GSEApy/blob/master/gseapy/algorithm.py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FAF876-86E1-9177-95FE-9923EC7C3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4222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F100-C9E5-C342-68CB-0580FAC6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1FBFD5-0BB7-6EA4-697B-A8EC540D9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0FA56C3-8189-FDC1-D10D-B68941A0C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85620B-BE27-217B-65ED-10C7B1C18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9234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最終目標是要看感染細胞與未細胞之間的溝通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86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84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D74D-068A-E037-8B66-DD85630BC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A8482AA-36E1-F1EE-33DD-5AE77D92E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2CFB05-9923-708D-4036-4AF106EB2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145D93-2CE8-DC01-E071-2026F6A27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63468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9433451" y="5387009"/>
            <a:ext cx="2610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52717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4473324" y="6405774"/>
            <a:ext cx="2310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9771560" y="542381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3098127"/>
            <a:ext cx="4559251" cy="216705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2A64AA0-8E0E-9837-0839-A013ECD2FFA4}"/>
              </a:ext>
            </a:extLst>
          </p:cNvPr>
          <p:cNvSpPr txBox="1"/>
          <p:nvPr/>
        </p:nvSpPr>
        <p:spPr>
          <a:xfrm>
            <a:off x="604630" y="2191776"/>
            <a:ext cx="22379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 err="1"/>
              <a:t>Orthoherpesviridae</a:t>
            </a:r>
            <a:endParaRPr lang="zh-TW" altLang="en-US" sz="2400" dirty="0"/>
          </a:p>
        </p:txBody>
      </p:sp>
      <p:sp>
        <p:nvSpPr>
          <p:cNvPr id="9" name="乘號 8">
            <a:extLst>
              <a:ext uri="{FF2B5EF4-FFF2-40B4-BE49-F238E27FC236}">
                <a16:creationId xmlns:a16="http://schemas.microsoft.com/office/drawing/2014/main" id="{0C1859B1-1A63-A680-F7FF-8F0283C67044}"/>
              </a:ext>
            </a:extLst>
          </p:cNvPr>
          <p:cNvSpPr/>
          <p:nvPr/>
        </p:nvSpPr>
        <p:spPr>
          <a:xfrm>
            <a:off x="5596864" y="1745752"/>
            <a:ext cx="189220" cy="180263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B16A2-099F-C12E-2EA1-653B2C9D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7633D-F3B3-7300-7EF8-F0B19E17A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FDR warning 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AD40D4-E349-B828-2137-4939E2B4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BE80FB1-490F-0C04-4CE4-E6C8062EFF5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6A2FD8B-E534-D75B-5DC7-F9FAE1767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832" y="2851694"/>
            <a:ext cx="4472894" cy="141806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67AA0EA-6EDD-B64C-2451-469C7DDC7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724" y="4425775"/>
            <a:ext cx="4356231" cy="224035"/>
          </a:xfrm>
          <a:prstGeom prst="rect">
            <a:avLst/>
          </a:prstGeom>
        </p:spPr>
      </p:pic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BBB1434-80B8-0AEE-CFD7-F00381B41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81" y="2696963"/>
            <a:ext cx="6124672" cy="2433496"/>
          </a:xfrm>
        </p:spPr>
        <p:txBody>
          <a:bodyPr>
            <a:normAutofit/>
          </a:bodyPr>
          <a:lstStyle/>
          <a:p>
            <a:r>
              <a:rPr lang="zh-TW" altLang="zh-TW" dirty="0"/>
              <a:t>The permutation test in traditional GSEA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the gene set associated with the phenotype?</a:t>
            </a:r>
          </a:p>
          <a:p>
            <a:pPr marL="457200" lvl="1" indent="0"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Permutation test for Aim 1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</a:t>
            </a:r>
            <a:r>
              <a:rPr lang="en-US" altLang="zh-TW" dirty="0"/>
              <a:t>the </a:t>
            </a:r>
            <a:r>
              <a:rPr lang="zh-TW" altLang="zh-TW" dirty="0"/>
              <a:t>gene-set associated with gene ranking?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6CE505-02D2-1EAA-DC3E-13BCAE35FE68}"/>
              </a:ext>
            </a:extLst>
          </p:cNvPr>
          <p:cNvSpPr txBox="1"/>
          <p:nvPr/>
        </p:nvSpPr>
        <p:spPr>
          <a:xfrm>
            <a:off x="9582278" y="480582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37279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097951" y="5981705"/>
            <a:ext cx="24066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6986280" y="5802254"/>
            <a:ext cx="5036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09B8-F595-79AC-E18F-6A2EE86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649333-A2EF-11D6-5C14-185388777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0A8296-0813-46C0-012B-1BFE627E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74CA6F-F55F-CD3F-BE5E-E93E2CDCED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875130B1-BDED-8981-2C24-320180389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516224"/>
          </a:xfrm>
        </p:spPr>
        <p:txBody>
          <a:bodyPr/>
          <a:lstStyle/>
          <a:p>
            <a:r>
              <a:rPr lang="zh-TW" altLang="zh-TW" dirty="0"/>
              <a:t>The gene list needs to be reorganized to ensure the validity of the GSEA</a:t>
            </a:r>
            <a:r>
              <a:rPr lang="en-US" altLang="zh-TW" dirty="0"/>
              <a:t>.</a:t>
            </a: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Evaluate the plausibility of the identified biological characteristics.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48365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33" y="2403306"/>
            <a:ext cx="6663467" cy="308864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1635311" y="555215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3" name="箭號: 向右 2">
            <a:extLst>
              <a:ext uri="{FF2B5EF4-FFF2-40B4-BE49-F238E27FC236}">
                <a16:creationId xmlns:a16="http://schemas.microsoft.com/office/drawing/2014/main" id="{C3F65F1E-493C-29DA-C681-495D47821987}"/>
              </a:ext>
            </a:extLst>
          </p:cNvPr>
          <p:cNvSpPr/>
          <p:nvPr/>
        </p:nvSpPr>
        <p:spPr>
          <a:xfrm>
            <a:off x="7588240" y="3874958"/>
            <a:ext cx="584617" cy="3072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9FA47D-144E-DAA6-39F5-661FE2AF3DD7}"/>
              </a:ext>
            </a:extLst>
          </p:cNvPr>
          <p:cNvSpPr txBox="1"/>
          <p:nvPr/>
        </p:nvSpPr>
        <p:spPr>
          <a:xfrm>
            <a:off x="8445897" y="3843941"/>
            <a:ext cx="3626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Cell-to-cell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2254747"/>
            <a:ext cx="7244566" cy="2531234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61A66A-F742-EB8E-6017-0CC5908BC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057" y="2189474"/>
            <a:ext cx="3847920" cy="266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443" y="2647151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4621993" y="6210901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B50B79F-F685-EA18-3624-E06CAFEA084D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045339E-9184-EC16-5AE1-CA516CD10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2C12DEC-4CD2-F51E-997A-E6A0501FE637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3FC2E96-E4E4-6BCE-BA3E-95F6D885E9FB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2A70F09-4137-D746-D7BE-8577B7259058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3BB8D5-A3AE-6312-1D8B-9BD4654DDF6F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038827" y="6064937"/>
            <a:ext cx="2343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 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549505" y="1905000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636853" y="2807185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2084847" y="4045827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test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6231360" y="2930295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488826" y="5042413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4104225" y="5974377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930880" y="246554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6114449" y="2464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999100" y="36647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951734" y="463223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5237186" y="562121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541487" y="4632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796221" y="3448116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796221" y="4000811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1249681-0894-4E5E-6EEF-0C7FF3813F03}"/>
              </a:ext>
            </a:extLst>
          </p:cNvPr>
          <p:cNvSpPr txBox="1"/>
          <p:nvPr/>
        </p:nvSpPr>
        <p:spPr>
          <a:xfrm>
            <a:off x="10596540" y="765393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2822C91-9DEB-A979-43F0-2022AF06FFC3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E780841-FAAF-B826-1530-ACDEF90B9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BE70FED9-C43E-9317-0796-39BA8D321368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77E0127-CBF6-FE1E-CF69-2C92BB04F758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0B1CA880-28A8-8CF8-B46C-7FAF0F68A585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142FB44-2A1D-6C12-BF1A-244512CBB9A8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7BFB-5DF9-C82C-2EB3-2B82A1492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E2F0BA-40BF-7BDC-1DCC-93A9B6538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92DB0C-75C5-B3C4-22B3-7D313897E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0C18C-6B63-1A76-8530-3EFE06002BD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5EFA1AB-1EDB-8A57-765A-3681BA1CC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917508"/>
          </a:xfrm>
        </p:spPr>
        <p:txBody>
          <a:bodyPr>
            <a:normAutofit/>
          </a:bodyPr>
          <a:lstStyle/>
          <a:p>
            <a:r>
              <a:rPr lang="zh-TW" altLang="zh-TW" dirty="0"/>
              <a:t>Determine whether GCN performance is truly inferior to logistic regression.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By incorporating data containing other clinical indicators, the network of relationships between cells can provide additional information, highlighting the advantages of GCNs.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38743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35" y="3573591"/>
            <a:ext cx="1715412" cy="122488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6538560" y="342900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9008247" y="361453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341064" y="4645224"/>
            <a:ext cx="1928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 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2129</TotalTime>
  <Words>1684</Words>
  <Application>Microsoft Office PowerPoint</Application>
  <PresentationFormat>寬螢幕</PresentationFormat>
  <Paragraphs>507</Paragraphs>
  <Slides>32</Slides>
  <Notes>25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9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FDR warning </vt:lpstr>
      <vt:lpstr>Current results(RF) </vt:lpstr>
      <vt:lpstr>Alphaviridae(GO)</vt:lpstr>
      <vt:lpstr>Coronaviridae(KEGG)</vt:lpstr>
      <vt:lpstr>Orthoherpesviridae(Reactome)</vt:lpstr>
      <vt:lpstr>Future work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Future work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66</cp:revision>
  <dcterms:created xsi:type="dcterms:W3CDTF">2026-07-22T01:16:54Z</dcterms:created>
  <dcterms:modified xsi:type="dcterms:W3CDTF">2026-08-26T02:37:18Z</dcterms:modified>
</cp:coreProperties>
</file>