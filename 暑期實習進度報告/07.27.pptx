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71" r:id="rId3"/>
    <p:sldId id="277" r:id="rId4"/>
    <p:sldId id="272" r:id="rId5"/>
    <p:sldId id="257" r:id="rId6"/>
    <p:sldId id="258" r:id="rId7"/>
    <p:sldId id="278" r:id="rId8"/>
    <p:sldId id="274" r:id="rId9"/>
    <p:sldId id="279" r:id="rId10"/>
    <p:sldId id="280" r:id="rId11"/>
    <p:sldId id="282" r:id="rId12"/>
    <p:sldId id="273" r:id="rId13"/>
    <p:sldId id="281" r:id="rId14"/>
    <p:sldId id="283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/>
              <a:t>Progress Report</a:t>
            </a:r>
            <a:br>
              <a:rPr lang="zh-TW" altLang="zh-TW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07.27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Conducting downstream analysis—such as enrichment analysis—on gene sets identified by deep learning models.</a:t>
            </a:r>
          </a:p>
          <a:p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Predict unknown cell lengths using existing gene expression data and some known cell labels.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9DB2-3C9B-17AA-939E-B22AF460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0039-7B31-EC98-5F09-FF9681AE7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1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B051F4-8DF7-9898-A05F-CA2C15D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59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F5ACD-5FCF-2BEC-5632-292EEB33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Literature Review </a:t>
            </a: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0009D8-E9F8-8157-5355-D95F2F0E2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bvnGPS2 (Xie et al. iScience 2024) 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A503C2-EF1D-8E9B-F725-CA9AED1E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6EBE98-1F53-2382-4541-AC07FF53D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63" y="3101692"/>
            <a:ext cx="4502999" cy="286015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FCBF90B-0F15-B364-1BE8-F1CAF8DF1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106" y="3101692"/>
            <a:ext cx="4877907" cy="286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3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70239-3463-D80C-9F21-C997C3CD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Analysis process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EC1855-8CD4-FAF7-A49A-8E71E58A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40" y="1949493"/>
            <a:ext cx="6145149" cy="3708741"/>
          </a:xfrm>
        </p:spPr>
        <p:txBody>
          <a:bodyPr>
            <a:normAutofit/>
          </a:bodyPr>
          <a:lstStyle/>
          <a:p>
            <a:r>
              <a:rPr lang="en-US" altLang="zh-TW" sz="1100" dirty="0"/>
              <a:t>Dataset:</a:t>
            </a:r>
          </a:p>
          <a:p>
            <a:pPr marL="400050" lvl="1" indent="0">
              <a:buNone/>
            </a:pPr>
            <a:r>
              <a:rPr lang="zh-TW" altLang="zh-TW" sz="1050" dirty="0">
                <a:solidFill>
                  <a:srgbClr val="FF0000"/>
                </a:solidFill>
              </a:rPr>
              <a:t>/home/bits_home02/nigelyeh/virusML/results_woControl/shap</a:t>
            </a:r>
            <a:endParaRPr lang="en-US" altLang="zh-TW" sz="105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zh-TW" altLang="zh-TW" sz="1050" dirty="0"/>
              <a:t>/home/bits_home02/nigelyeh/virusML/results_woControl.immune_v1/shap</a:t>
            </a:r>
            <a:endParaRPr lang="en-US" altLang="zh-TW" sz="1050" dirty="0"/>
          </a:p>
          <a:p>
            <a:endParaRPr lang="en-US" altLang="zh-TW" sz="1100" dirty="0"/>
          </a:p>
          <a:p>
            <a:r>
              <a:rPr lang="en-US" altLang="zh-TW" sz="1100" dirty="0"/>
              <a:t>V</a:t>
            </a:r>
            <a:r>
              <a:rPr lang="zh-TW" altLang="zh-TW" sz="1100" dirty="0"/>
              <a:t>irus families</a:t>
            </a:r>
            <a:r>
              <a:rPr lang="en-US" altLang="zh-TW" sz="1100" dirty="0"/>
              <a:t>:</a:t>
            </a:r>
          </a:p>
          <a:p>
            <a:pPr marL="400050" lvl="1" indent="0">
              <a:buNone/>
            </a:pPr>
            <a:r>
              <a:rPr lang="en-US" altLang="zh-TW" sz="1050" dirty="0" err="1">
                <a:solidFill>
                  <a:srgbClr val="00B0F0"/>
                </a:solidFill>
              </a:rPr>
              <a:t>Alphaviridae</a:t>
            </a:r>
            <a:r>
              <a:rPr lang="en-US" altLang="zh-TW" sz="1050" dirty="0">
                <a:solidFill>
                  <a:srgbClr val="00B0F0"/>
                </a:solidFill>
              </a:rPr>
              <a:t>,</a:t>
            </a:r>
            <a:r>
              <a:rPr lang="zh-TW" altLang="en-US" sz="1050" dirty="0">
                <a:solidFill>
                  <a:srgbClr val="00B0F0"/>
                </a:solidFill>
              </a:rPr>
              <a:t> </a:t>
            </a:r>
            <a:r>
              <a:rPr lang="en-US" altLang="zh-TW" sz="1050" dirty="0" err="1">
                <a:solidFill>
                  <a:srgbClr val="00B0F0"/>
                </a:solidFill>
              </a:rPr>
              <a:t>Coronaviridae</a:t>
            </a:r>
            <a:r>
              <a:rPr lang="en-US" altLang="zh-TW" sz="1050" dirty="0">
                <a:solidFill>
                  <a:srgbClr val="00B0F0"/>
                </a:solidFill>
              </a:rPr>
              <a:t>, Flaviviridae, </a:t>
            </a:r>
            <a:r>
              <a:rPr lang="en-US" altLang="zh-TW" sz="1050" dirty="0" err="1">
                <a:solidFill>
                  <a:srgbClr val="00B0F0"/>
                </a:solidFill>
              </a:rPr>
              <a:t>Orthoherpesviridae</a:t>
            </a:r>
            <a:r>
              <a:rPr lang="en-US" altLang="zh-TW" sz="1050" dirty="0">
                <a:solidFill>
                  <a:srgbClr val="00B0F0"/>
                </a:solidFill>
              </a:rPr>
              <a:t>, Orthomyxoviridae, </a:t>
            </a:r>
            <a:r>
              <a:rPr lang="en-US" altLang="zh-TW" sz="1050" dirty="0" err="1">
                <a:solidFill>
                  <a:srgbClr val="00B0F0"/>
                </a:solidFill>
              </a:rPr>
              <a:t>Picornaviridae</a:t>
            </a:r>
            <a:r>
              <a:rPr lang="en-US" altLang="zh-TW" sz="1050" dirty="0">
                <a:solidFill>
                  <a:srgbClr val="00B0F0"/>
                </a:solidFill>
              </a:rPr>
              <a:t>, Reoviridae, </a:t>
            </a:r>
            <a:r>
              <a:rPr lang="en-US" altLang="zh-TW" sz="1050" dirty="0" err="1">
                <a:solidFill>
                  <a:srgbClr val="00B0F0"/>
                </a:solidFill>
              </a:rPr>
              <a:t>Retroviridae</a:t>
            </a:r>
            <a:endParaRPr lang="en-US" altLang="zh-TW" sz="1050" dirty="0">
              <a:solidFill>
                <a:srgbClr val="00B0F0"/>
              </a:solidFill>
            </a:endParaRPr>
          </a:p>
          <a:p>
            <a:endParaRPr lang="en-US" altLang="zh-TW" sz="1100" dirty="0"/>
          </a:p>
          <a:p>
            <a:r>
              <a:rPr lang="en-US" altLang="zh-TW" sz="1100" dirty="0" err="1"/>
              <a:t>Data.columns</a:t>
            </a:r>
            <a:r>
              <a:rPr lang="en-US" altLang="zh-TW" sz="1100" dirty="0"/>
              <a:t>:</a:t>
            </a:r>
          </a:p>
          <a:p>
            <a:pPr marL="400050" lvl="1" indent="0">
              <a:buNone/>
            </a:pPr>
            <a:r>
              <a:rPr lang="zh-TW" altLang="zh-TW" sz="1050" dirty="0"/>
              <a:t>'</a:t>
            </a:r>
            <a:r>
              <a:rPr lang="zh-TW" altLang="zh-TW" sz="1050" dirty="0">
                <a:solidFill>
                  <a:srgbClr val="FF0000"/>
                </a:solidFill>
              </a:rPr>
              <a:t>Gene</a:t>
            </a:r>
            <a:r>
              <a:rPr lang="zh-TW" altLang="zh-TW" sz="1050" dirty="0"/>
              <a:t>', </a:t>
            </a:r>
            <a:r>
              <a:rPr lang="zh-TW" altLang="zh-TW" sz="1050" dirty="0">
                <a:solidFill>
                  <a:srgbClr val="FF0000"/>
                </a:solidFill>
              </a:rPr>
              <a:t>'RF_mean_abs_Score</a:t>
            </a:r>
            <a:r>
              <a:rPr lang="zh-TW" altLang="zh-TW" sz="1050" dirty="0"/>
              <a:t>', 'XGB_mean_abs_Score', 'RF_median_abs_Score', 'XGB_median_abs_Score', 'RF_Rank_byMean', 'XGB_Rank_byMean', 'RF_Rank_byMedian', 'XGB_Rank_byMedian', 'Avg_Rank_byMean', 'Avg_Rank_byMedian’</a:t>
            </a:r>
            <a:endParaRPr lang="en-US" altLang="zh-TW" sz="1050" dirty="0"/>
          </a:p>
          <a:p>
            <a:endParaRPr lang="en-US" altLang="zh-TW" sz="1100" dirty="0"/>
          </a:p>
          <a:p>
            <a:endParaRPr lang="zh-TW" altLang="en-US" sz="11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E25083-3016-8AB9-06F3-3D1D51E8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832C4E4-8F0D-8788-2443-FBA2101BCD04}"/>
              </a:ext>
            </a:extLst>
          </p:cNvPr>
          <p:cNvSpPr txBox="1"/>
          <p:nvPr/>
        </p:nvSpPr>
        <p:spPr>
          <a:xfrm>
            <a:off x="7802250" y="1534832"/>
            <a:ext cx="2640835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050" dirty="0"/>
              <a:t>Remove genes with a value of 0</a:t>
            </a: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BD74FE63-B5E0-0CDF-75CE-12613E8711E4}"/>
              </a:ext>
            </a:extLst>
          </p:cNvPr>
          <p:cNvSpPr/>
          <p:nvPr/>
        </p:nvSpPr>
        <p:spPr>
          <a:xfrm>
            <a:off x="9017842" y="2020048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3926B8-B05E-60C5-B57C-0ABC1E3BE754}"/>
              </a:ext>
            </a:extLst>
          </p:cNvPr>
          <p:cNvSpPr txBox="1"/>
          <p:nvPr/>
        </p:nvSpPr>
        <p:spPr>
          <a:xfrm>
            <a:off x="7438116" y="2630953"/>
            <a:ext cx="3389440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050" dirty="0"/>
              <a:t>Rank the genes according to Shapley values</a:t>
            </a: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8F81177C-AA96-33DF-97E1-BF8CDF1DF158}"/>
              </a:ext>
            </a:extLst>
          </p:cNvPr>
          <p:cNvSpPr/>
          <p:nvPr/>
        </p:nvSpPr>
        <p:spPr>
          <a:xfrm>
            <a:off x="8244283" y="3186935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20DE6779-BA39-AD0F-E766-27C86FE7D261}"/>
              </a:ext>
            </a:extLst>
          </p:cNvPr>
          <p:cNvSpPr/>
          <p:nvPr/>
        </p:nvSpPr>
        <p:spPr>
          <a:xfrm>
            <a:off x="10177409" y="3179032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EFE5957-D747-B2B0-60C3-17CB409B95F5}"/>
              </a:ext>
            </a:extLst>
          </p:cNvPr>
          <p:cNvSpPr txBox="1"/>
          <p:nvPr/>
        </p:nvSpPr>
        <p:spPr>
          <a:xfrm>
            <a:off x="7629793" y="3957534"/>
            <a:ext cx="1478930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dirty="0"/>
              <a:t>ORA(</a:t>
            </a:r>
            <a:r>
              <a:rPr lang="en-US" altLang="zh-TW" sz="1050" dirty="0">
                <a:solidFill>
                  <a:srgbClr val="00B0F0"/>
                </a:solidFill>
              </a:rPr>
              <a:t>cutoff:top50</a:t>
            </a:r>
            <a:r>
              <a:rPr lang="en-US" altLang="zh-TW" sz="1050" dirty="0"/>
              <a:t>)</a:t>
            </a:r>
            <a:endParaRPr lang="zh-TW" altLang="zh-TW" sz="105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EA9BA0-5B58-EEB3-48A0-4BEAC650EC70}"/>
              </a:ext>
            </a:extLst>
          </p:cNvPr>
          <p:cNvSpPr txBox="1"/>
          <p:nvPr/>
        </p:nvSpPr>
        <p:spPr>
          <a:xfrm>
            <a:off x="9957226" y="3949631"/>
            <a:ext cx="690316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dirty="0"/>
              <a:t>GSEA</a:t>
            </a:r>
            <a:endParaRPr lang="zh-TW" altLang="zh-TW" sz="105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3D8B7D2A-8CCB-FC97-0091-D270BD4ED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68" y="4501504"/>
            <a:ext cx="2190196" cy="143806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561155D-4B6A-FCF4-7622-37C99704D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045" y="4505613"/>
            <a:ext cx="1860800" cy="143396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300A02E9-062D-318D-D1DB-2CCD5452D0FC}"/>
              </a:ext>
            </a:extLst>
          </p:cNvPr>
          <p:cNvSpPr txBox="1"/>
          <p:nvPr/>
        </p:nvSpPr>
        <p:spPr>
          <a:xfrm>
            <a:off x="7920549" y="6132970"/>
            <a:ext cx="1327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/>
              <a:t>(</a:t>
            </a:r>
            <a:r>
              <a:rPr lang="zh-TW" altLang="zh-TW" sz="1050" dirty="0"/>
              <a:t>Khatri et al., 2012</a:t>
            </a:r>
            <a:r>
              <a:rPr lang="en-US" altLang="zh-TW" sz="1050" dirty="0"/>
              <a:t>)</a:t>
            </a:r>
            <a:endParaRPr lang="zh-TW" altLang="en-US" sz="105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57C4524-D469-A030-D4DF-AB64595646C4}"/>
              </a:ext>
            </a:extLst>
          </p:cNvPr>
          <p:cNvSpPr txBox="1"/>
          <p:nvPr/>
        </p:nvSpPr>
        <p:spPr>
          <a:xfrm>
            <a:off x="9815331" y="6132970"/>
            <a:ext cx="186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/>
              <a:t>(</a:t>
            </a:r>
            <a:r>
              <a:rPr lang="zh-TW" altLang="zh-TW" sz="1050" dirty="0"/>
              <a:t>Subramanian</a:t>
            </a:r>
            <a:r>
              <a:rPr lang="en-US" altLang="zh-TW" sz="1050" dirty="0"/>
              <a:t> et al., 2005)</a:t>
            </a:r>
            <a:endParaRPr lang="zh-TW" altLang="en-US" sz="105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350B86B-11D0-6E68-AAEF-D180224A620D}"/>
              </a:ext>
            </a:extLst>
          </p:cNvPr>
          <p:cNvSpPr txBox="1"/>
          <p:nvPr/>
        </p:nvSpPr>
        <p:spPr>
          <a:xfrm>
            <a:off x="1104644" y="5662574"/>
            <a:ext cx="5629783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200" b="1" dirty="0">
                <a:solidFill>
                  <a:srgbClr val="FF0000"/>
                </a:solidFill>
              </a:rPr>
              <a:t>Features learned by the model and their potential biological significance</a:t>
            </a:r>
          </a:p>
        </p:txBody>
      </p:sp>
    </p:spTree>
    <p:extLst>
      <p:ext uri="{BB962C8B-B14F-4D97-AF65-F5344CB8AC3E}">
        <p14:creationId xmlns:p14="http://schemas.microsoft.com/office/powerpoint/2010/main" val="381393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4F6F0-EB32-62CF-C02F-D452CA71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Current results 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EF82B2-09B4-873C-7663-98E3EC8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0FDE5F3-B1CC-F879-E509-85C5E9A05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378" y="294922"/>
            <a:ext cx="2884960" cy="2792916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16BA605-13F3-EA1C-6FEC-A1E39D4AD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726816"/>
              </p:ext>
            </p:extLst>
          </p:nvPr>
        </p:nvGraphicFramePr>
        <p:xfrm>
          <a:off x="301430" y="2234188"/>
          <a:ext cx="8462088" cy="324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32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940232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583052">
                <a:tc>
                  <a:txBody>
                    <a:bodyPr/>
                    <a:lstStyle/>
                    <a:p>
                      <a:pPr algn="ctr"/>
                      <a:endParaRPr lang="zh-TW" altLang="en-US" sz="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Alphaviridae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Coronaviridae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Flaviviridae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Orthoherpesviridae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Orthomyxoviridae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Picornaviridae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Reoviridae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Retroviridae</a:t>
                      </a:r>
                      <a:endParaRPr lang="zh-TW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KEGG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rgbClr val="00B0F0"/>
                          </a:solidFill>
                        </a:rPr>
                        <a:t>7</a:t>
                      </a:r>
                      <a:endParaRPr lang="zh-TW" altLang="en-US" sz="9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Reactome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9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GO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rgbClr val="00B050"/>
                          </a:solidFill>
                        </a:rPr>
                        <a:t>ORA</a:t>
                      </a:r>
                      <a:r>
                        <a:rPr lang="en-US" altLang="zh-TW" sz="9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rgbClr val="00B050"/>
                          </a:solidFill>
                        </a:rPr>
                        <a:t>ORA</a:t>
                      </a:r>
                      <a:endParaRPr lang="zh-TW" altLang="en-US" sz="9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9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rgbClr val="00B050"/>
                          </a:solidFill>
                        </a:rPr>
                        <a:t>ORA</a:t>
                      </a:r>
                      <a:r>
                        <a:rPr lang="en-US" altLang="zh-TW" sz="9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MSigDB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9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WikiPathways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>
                          <a:solidFill>
                            <a:srgbClr val="00B050"/>
                          </a:solidFill>
                        </a:rPr>
                        <a:t>ORA</a:t>
                      </a:r>
                      <a:r>
                        <a:rPr lang="en-US" altLang="zh-TW" sz="9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zh-TW" sz="9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rgbClr val="00B0F0"/>
                          </a:solidFill>
                        </a:rPr>
                        <a:t>8</a:t>
                      </a:r>
                      <a:endParaRPr lang="zh-TW" altLang="en-US" sz="9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  <p:pic>
        <p:nvPicPr>
          <p:cNvPr id="16" name="圖片 15">
            <a:extLst>
              <a:ext uri="{FF2B5EF4-FFF2-40B4-BE49-F238E27FC236}">
                <a16:creationId xmlns:a16="http://schemas.microsoft.com/office/drawing/2014/main" id="{63AB47F9-FD39-FCD8-9FCA-12CEDECFB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348" y="3555301"/>
            <a:ext cx="3062160" cy="28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7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2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7FE0-4DB7-E394-C8E5-5AD95399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C1A81-5563-4480-B65E-A588790F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Literature Review for </a:t>
            </a:r>
            <a:r>
              <a:rPr lang="en-US" altLang="zh-TW" dirty="0"/>
              <a:t>Aim</a:t>
            </a:r>
            <a:r>
              <a:rPr lang="zh-TW" altLang="zh-TW" dirty="0"/>
              <a:t> </a:t>
            </a:r>
            <a:r>
              <a:rPr lang="en-US" altLang="zh-TW" dirty="0"/>
              <a:t>2</a:t>
            </a: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E81CF-C2CE-0E93-C122-A64A1E629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scSHARP (Lewinsohn et al. Bioinformatics 2023)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9ADB3-ED76-AE00-996D-6A31A7C2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785212-7985-D93C-2B26-4FAF8994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541" y="2931920"/>
            <a:ext cx="6936887" cy="342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1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02FF-E59F-AA8B-9A75-FFF15D97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CB9648-3B28-CA76-32FD-E001D86F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Preliminary Data Exploration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BEAB61-DBC5-4467-C87D-3F9AC1D7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41" y="1949494"/>
            <a:ext cx="8225562" cy="1333754"/>
          </a:xfrm>
        </p:spPr>
        <p:txBody>
          <a:bodyPr>
            <a:normAutofit/>
          </a:bodyPr>
          <a:lstStyle/>
          <a:p>
            <a:r>
              <a:rPr lang="en-US" altLang="zh-TW" sz="1600" dirty="0"/>
              <a:t>Dataset:</a:t>
            </a:r>
          </a:p>
          <a:p>
            <a:pPr marL="400050" lvl="1" indent="0">
              <a:buNone/>
            </a:pPr>
            <a:r>
              <a:rPr lang="zh-TW" altLang="zh-TW" sz="1400" dirty="0"/>
              <a:t>/home/bits_home02/nigelyeh/scRNAseq_data/Ravindra2021/GEM_processed/Ravindra2021.raw_count.stdprep.h5ad</a:t>
            </a:r>
            <a:endParaRPr lang="en-US" altLang="zh-TW" dirty="0"/>
          </a:p>
          <a:p>
            <a:endParaRPr lang="zh-TW" altLang="en-US" sz="16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6F6CB1-C06F-06D1-A12A-C4B6FC14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0973613-43EA-6011-3317-FC6137B68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41" y="2955285"/>
            <a:ext cx="4534077" cy="314328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141820-63AD-5C70-A5EB-330F4A19A469}"/>
              </a:ext>
            </a:extLst>
          </p:cNvPr>
          <p:cNvSpPr txBox="1"/>
          <p:nvPr/>
        </p:nvSpPr>
        <p:spPr>
          <a:xfrm>
            <a:off x="1357416" y="6436644"/>
            <a:ext cx="6100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SARS-CoV-2 airway scRNA-seq analysis (Ravindra et al. PLoS Biology 2021)</a:t>
            </a:r>
            <a:endParaRPr lang="zh-TW" altLang="en-US" sz="12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88E860B-0353-1C4C-DEEB-2734ADCDE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641" y="6153299"/>
            <a:ext cx="5791498" cy="228612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D7AF2C29-A1A1-6AE8-7CC4-81B3A2DC93A6}"/>
              </a:ext>
            </a:extLst>
          </p:cNvPr>
          <p:cNvSpPr txBox="1"/>
          <p:nvPr/>
        </p:nvSpPr>
        <p:spPr>
          <a:xfrm>
            <a:off x="7684883" y="2853269"/>
            <a:ext cx="3970639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100" dirty="0"/>
              <a:t>Examine the distribution of transcript counts across cells</a:t>
            </a:r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8E21D580-D64D-6E43-55F8-1419445D4D6F}"/>
              </a:ext>
            </a:extLst>
          </p:cNvPr>
          <p:cNvSpPr/>
          <p:nvPr/>
        </p:nvSpPr>
        <p:spPr>
          <a:xfrm>
            <a:off x="9573628" y="3492355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4A5A56D-8303-3FFA-629B-E4BDDAB62407}"/>
              </a:ext>
            </a:extLst>
          </p:cNvPr>
          <p:cNvSpPr txBox="1"/>
          <p:nvPr/>
        </p:nvSpPr>
        <p:spPr>
          <a:xfrm>
            <a:off x="8235163" y="4203099"/>
            <a:ext cx="2968166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100" dirty="0"/>
              <a:t>Select cells with high-confidence labels</a:t>
            </a:r>
          </a:p>
        </p:txBody>
      </p:sp>
      <p:sp>
        <p:nvSpPr>
          <p:cNvPr id="32" name="箭號: 向下 31">
            <a:extLst>
              <a:ext uri="{FF2B5EF4-FFF2-40B4-BE49-F238E27FC236}">
                <a16:creationId xmlns:a16="http://schemas.microsoft.com/office/drawing/2014/main" id="{323EDA55-63A9-6431-2D90-79081CBBE081}"/>
              </a:ext>
            </a:extLst>
          </p:cNvPr>
          <p:cNvSpPr/>
          <p:nvPr/>
        </p:nvSpPr>
        <p:spPr>
          <a:xfrm>
            <a:off x="9573628" y="4898128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92FA9F2-7635-BB8C-A14C-16104E2EE01F}"/>
              </a:ext>
            </a:extLst>
          </p:cNvPr>
          <p:cNvSpPr txBox="1"/>
          <p:nvPr/>
        </p:nvSpPr>
        <p:spPr>
          <a:xfrm>
            <a:off x="7259449" y="5743716"/>
            <a:ext cx="4811282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100" dirty="0"/>
              <a:t>Perform feature dimensionality reduction using highly variable genes</a:t>
            </a:r>
          </a:p>
        </p:txBody>
      </p:sp>
    </p:spTree>
    <p:extLst>
      <p:ext uri="{BB962C8B-B14F-4D97-AF65-F5344CB8AC3E}">
        <p14:creationId xmlns:p14="http://schemas.microsoft.com/office/powerpoint/2010/main" val="130210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0B40-5D98-E572-E421-4A69E9B2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10D539-8AFC-626B-12DD-8BEBFC2C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Preliminary Data Exploration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D5E5AF-4C16-D75F-DFE0-A08D9194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802E4BF-F35F-7639-210C-ABBAFC8F2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75" y="1555291"/>
            <a:ext cx="3944262" cy="266734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9B811A1-C63C-91E8-1E5F-1EE6651B5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28" y="1555291"/>
            <a:ext cx="3944262" cy="267118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5ECE318-512C-1304-BD20-9F707597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535" y="4822421"/>
            <a:ext cx="3340272" cy="1352620"/>
          </a:xfrm>
          <a:prstGeom prst="rect">
            <a:avLst/>
          </a:prstGeom>
        </p:spPr>
      </p:pic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DE7613F1-2168-B687-8B53-EC15D306D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286" y="4707277"/>
            <a:ext cx="5456279" cy="1803836"/>
          </a:xfrm>
        </p:spPr>
        <p:txBody>
          <a:bodyPr>
            <a:normAutofit/>
          </a:bodyPr>
          <a:lstStyle/>
          <a:p>
            <a:r>
              <a:rPr lang="zh-TW" altLang="zh-TW" sz="1400" dirty="0"/>
              <a:t>The problem of data imbalance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zh-TW" sz="1400" dirty="0"/>
              <a:t>The number of features (genes) is too large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zh-TW" sz="1400" dirty="0"/>
              <a:t>Split training and test sets</a:t>
            </a:r>
          </a:p>
          <a:p>
            <a:endParaRPr lang="en-US" altLang="zh-TW" sz="1400" dirty="0"/>
          </a:p>
          <a:p>
            <a:endParaRPr lang="en-US" altLang="zh-TW" sz="1400" dirty="0"/>
          </a:p>
          <a:p>
            <a:endParaRPr lang="zh-TW" altLang="zh-TW" sz="1400" dirty="0"/>
          </a:p>
          <a:p>
            <a:endParaRPr lang="en-US" altLang="zh-TW" sz="1400" dirty="0"/>
          </a:p>
          <a:p>
            <a:endParaRPr lang="en-US" altLang="zh-TW" sz="1400" dirty="0"/>
          </a:p>
          <a:p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4269840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2048-513C-1A05-7A45-1F1D736D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534A8B-FFA5-A84F-0A1B-1CC9D76A9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799" y="1318590"/>
            <a:ext cx="8223463" cy="4220820"/>
          </a:xfrm>
        </p:spPr>
        <p:txBody>
          <a:bodyPr anchor="ctr">
            <a:normAutofit/>
          </a:bodyPr>
          <a:lstStyle/>
          <a:p>
            <a:r>
              <a:rPr lang="zh-TW" altLang="zh-TW" dirty="0"/>
              <a:t>Applications of WGCNA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F8724F3-2121-1E07-DC39-BE364D8E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67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192E-1434-D785-B69D-EDFB00AD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1CDB4-81A6-5E01-BAAD-C3436C2B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Literature Review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65980F-073C-EAC3-2D55-778D0625F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WGCNA (Langfelder &amp; Horvath BMC Bioinf 2008) 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15947B-CC42-418A-3D6F-13D49031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9273A12-31D0-1956-0CEB-46F8DAA3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874" y="2790418"/>
            <a:ext cx="4219573" cy="377762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4406CD1-D245-6B38-D7BF-EC2E13DCB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030" y="2941730"/>
            <a:ext cx="3480192" cy="347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5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3A592-904B-2648-25C3-1F0A6AF6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A0FF9-270F-259B-5C14-4B031E2D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WGCNA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63AA41-604D-5675-6F97-1E05ABC9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CD7F55-FF92-DDDC-1836-29F9C2996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13" y="3013029"/>
            <a:ext cx="4921682" cy="2865943"/>
          </a:xfrm>
          <a:prstGeom prst="rect">
            <a:avLst/>
          </a:prstGeom>
        </p:spPr>
      </p:pic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FA194796-4C4F-3FCD-7D6B-7C9F5BB03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588" y="1905000"/>
            <a:ext cx="8225562" cy="1003897"/>
          </a:xfrm>
        </p:spPr>
        <p:txBody>
          <a:bodyPr>
            <a:normAutofit/>
          </a:bodyPr>
          <a:lstStyle/>
          <a:p>
            <a:r>
              <a:rPr lang="en-US" altLang="zh-TW" sz="1600" dirty="0"/>
              <a:t>Dataset:</a:t>
            </a:r>
          </a:p>
          <a:p>
            <a:pPr marL="400050" lvl="1" indent="0">
              <a:buNone/>
            </a:pPr>
            <a:r>
              <a:rPr lang="zh-TW" altLang="zh-TW" sz="1400" dirty="0"/>
              <a:t>/home/bits_home02/nigelyeh/scRNAseq_data/LindeboomTeichmann2024/challenge_nasal_cellxgene_230223.h5ad</a:t>
            </a:r>
            <a:endParaRPr lang="zh-TW" altLang="en-US" sz="1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01BE27B-C251-4695-0D29-93EF7BE9200E}"/>
              </a:ext>
            </a:extLst>
          </p:cNvPr>
          <p:cNvSpPr txBox="1"/>
          <p:nvPr/>
        </p:nvSpPr>
        <p:spPr>
          <a:xfrm>
            <a:off x="1411613" y="6034021"/>
            <a:ext cx="6100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Human SARS-CoV-2 Challenge (Lindeboom et al. Nature 2024)</a:t>
            </a:r>
            <a:endParaRPr lang="zh-TW" altLang="en-US" sz="1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2E55A9C-6722-8F2B-46A0-05C1337725CA}"/>
              </a:ext>
            </a:extLst>
          </p:cNvPr>
          <p:cNvSpPr txBox="1"/>
          <p:nvPr/>
        </p:nvSpPr>
        <p:spPr>
          <a:xfrm>
            <a:off x="7658037" y="3185890"/>
            <a:ext cx="3717501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Delineating cell modules based on gene expression</a:t>
            </a:r>
            <a:endParaRPr lang="zh-TW" altLang="zh-TW" sz="1100" dirty="0"/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B21A624D-0DEF-125D-8B74-B3AAD4C7CB88}"/>
              </a:ext>
            </a:extLst>
          </p:cNvPr>
          <p:cNvSpPr/>
          <p:nvPr/>
        </p:nvSpPr>
        <p:spPr>
          <a:xfrm>
            <a:off x="9401794" y="3796021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B2A79C9-0991-4F8E-EEA7-BD1D8BCC7D4B}"/>
              </a:ext>
            </a:extLst>
          </p:cNvPr>
          <p:cNvSpPr txBox="1"/>
          <p:nvPr/>
        </p:nvSpPr>
        <p:spPr>
          <a:xfrm>
            <a:off x="7153120" y="4513515"/>
            <a:ext cx="4747297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100" dirty="0"/>
              <a:t>Identify gene expression patterns representative of the cell module</a:t>
            </a:r>
          </a:p>
        </p:txBody>
      </p:sp>
      <p:sp>
        <p:nvSpPr>
          <p:cNvPr id="25" name="箭號: 向下 24">
            <a:extLst>
              <a:ext uri="{FF2B5EF4-FFF2-40B4-BE49-F238E27FC236}">
                <a16:creationId xmlns:a16="http://schemas.microsoft.com/office/drawing/2014/main" id="{DFAD1D8B-FEC7-339C-FCA3-86370B85AED7}"/>
              </a:ext>
            </a:extLst>
          </p:cNvPr>
          <p:cNvSpPr/>
          <p:nvPr/>
        </p:nvSpPr>
        <p:spPr>
          <a:xfrm>
            <a:off x="9401794" y="5201794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B5B8A58-A6B0-56D0-C3DB-F4845C034EA0}"/>
              </a:ext>
            </a:extLst>
          </p:cNvPr>
          <p:cNvSpPr txBox="1"/>
          <p:nvPr/>
        </p:nvSpPr>
        <p:spPr>
          <a:xfrm>
            <a:off x="8087576" y="5981788"/>
            <a:ext cx="2858421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100" dirty="0"/>
              <a:t>Applied to the infection status of cells</a:t>
            </a:r>
          </a:p>
        </p:txBody>
      </p:sp>
    </p:spTree>
    <p:extLst>
      <p:ext uri="{BB962C8B-B14F-4D97-AF65-F5344CB8AC3E}">
        <p14:creationId xmlns:p14="http://schemas.microsoft.com/office/powerpoint/2010/main" val="1558680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96D3-9A03-C194-0ACC-59F88E78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8E8057-A54A-D267-5ACB-E3A16C5D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WGCNA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B4D332-2DEE-0EBA-C5F9-077D710F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5A55ADB-1B23-685E-5998-DB63BBD6C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32" y="3977310"/>
            <a:ext cx="4489897" cy="255409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FBD4249-8B94-8367-1C8B-9F6F7ACDD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32" y="1079264"/>
            <a:ext cx="4489897" cy="254762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7365B7C-9FD0-FA9B-4CCC-E1988881A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579" y="1760570"/>
            <a:ext cx="5285499" cy="2996774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9440EAE-D652-C874-AC97-340D6A7A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293" y="5365008"/>
            <a:ext cx="5831787" cy="417209"/>
          </a:xfrm>
        </p:spPr>
        <p:txBody>
          <a:bodyPr>
            <a:noAutofit/>
          </a:bodyPr>
          <a:lstStyle/>
          <a:p>
            <a:r>
              <a:rPr lang="zh-TW" altLang="zh-TW" sz="1600" dirty="0"/>
              <a:t>WGCNA does not perform well in classifying cell types</a:t>
            </a:r>
          </a:p>
          <a:p>
            <a:pPr marL="0" indent="0">
              <a:buNone/>
            </a:pPr>
            <a:endParaRPr lang="en-US" altLang="zh-TW" sz="1600" dirty="0"/>
          </a:p>
          <a:p>
            <a:endParaRPr lang="en-US" altLang="zh-TW" sz="1600" dirty="0"/>
          </a:p>
          <a:p>
            <a:endParaRPr lang="zh-TW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zh-TW" altLang="zh-TW" sz="1600" dirty="0"/>
          </a:p>
        </p:txBody>
      </p:sp>
    </p:spTree>
    <p:extLst>
      <p:ext uri="{BB962C8B-B14F-4D97-AF65-F5344CB8AC3E}">
        <p14:creationId xmlns:p14="http://schemas.microsoft.com/office/powerpoint/2010/main" val="2095150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F5BB3-CB64-C50C-5D46-66E30FA8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CB4FA-8F93-5C12-68D7-C7061F44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Re-analyze after removing non-coding gene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Obtain the adjacency matrix using KNN and feed it into the GCN model.</a:t>
            </a:r>
            <a:endParaRPr lang="en-US" altLang="zh-TW" dirty="0"/>
          </a:p>
          <a:p>
            <a:pPr marL="400050" lvl="1" indent="0">
              <a:buNone/>
            </a:pPr>
            <a:endParaRPr lang="zh-TW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Apply WGCNA to Aim1 instead of Aim</a:t>
            </a:r>
            <a:r>
              <a:rPr lang="en-US" altLang="zh-TW" dirty="0"/>
              <a:t> </a:t>
            </a:r>
            <a:r>
              <a:rPr lang="zh-TW" altLang="zh-TW" dirty="0"/>
              <a:t>2</a:t>
            </a:r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DE38BC-AF32-880D-1735-01DCD441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1930656-C0B1-8260-620A-7B6A22FF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528" y="4112938"/>
            <a:ext cx="5258070" cy="50167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EF68BD8-7A5E-B099-E9C1-B9C986111D7C}"/>
              </a:ext>
            </a:extLst>
          </p:cNvPr>
          <p:cNvSpPr txBox="1"/>
          <p:nvPr/>
        </p:nvSpPr>
        <p:spPr>
          <a:xfrm>
            <a:off x="2902760" y="4697065"/>
            <a:ext cx="2663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200" dirty="0"/>
              <a:t>GCN (Kipf &amp; Welling ICLR 2017)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59234660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387</TotalTime>
  <Words>738</Words>
  <Application>Microsoft Office PowerPoint</Application>
  <PresentationFormat>寬螢幕</PresentationFormat>
  <Paragraphs>148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Wingdings 2</vt:lpstr>
      <vt:lpstr>Wingdings 3</vt:lpstr>
      <vt:lpstr>絲縷</vt:lpstr>
      <vt:lpstr>Progress Report </vt:lpstr>
      <vt:lpstr>Aims</vt:lpstr>
      <vt:lpstr>Aim 1</vt:lpstr>
      <vt:lpstr>Literature Review   </vt:lpstr>
      <vt:lpstr>Analysis process</vt:lpstr>
      <vt:lpstr>Current results </vt:lpstr>
      <vt:lpstr>Aim 2</vt:lpstr>
      <vt:lpstr>Literature Review for Aim 2  </vt:lpstr>
      <vt:lpstr>Preliminary Data Exploration</vt:lpstr>
      <vt:lpstr>Preliminary Data Exploration</vt:lpstr>
      <vt:lpstr>Applications of WGCNA</vt:lpstr>
      <vt:lpstr>Literature Review </vt:lpstr>
      <vt:lpstr>WGCNA</vt:lpstr>
      <vt:lpstr>WGCNA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8</cp:revision>
  <dcterms:created xsi:type="dcterms:W3CDTF">2026-07-22T01:16:54Z</dcterms:created>
  <dcterms:modified xsi:type="dcterms:W3CDTF">2026-07-24T07:23:36Z</dcterms:modified>
</cp:coreProperties>
</file>