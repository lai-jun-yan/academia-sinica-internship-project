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71" r:id="rId3"/>
    <p:sldId id="277" r:id="rId4"/>
    <p:sldId id="272" r:id="rId5"/>
    <p:sldId id="284" r:id="rId6"/>
    <p:sldId id="258" r:id="rId7"/>
    <p:sldId id="273" r:id="rId8"/>
    <p:sldId id="278" r:id="rId9"/>
    <p:sldId id="274" r:id="rId10"/>
    <p:sldId id="279" r:id="rId11"/>
    <p:sldId id="280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附註全名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600" dirty="0"/>
              <a:t>Dataset:</a:t>
            </a:r>
          </a:p>
          <a:p>
            <a:pPr marL="400050" lvl="1" indent="0">
              <a:buNone/>
            </a:pPr>
            <a:r>
              <a:rPr lang="zh-TW" altLang="zh-TW" sz="1400" dirty="0"/>
              <a:t>/home/bits_home02/nigelyeh/scRNAseq_data/Ravindra2021/GEM_processed/Ravindra2021.raw_count.stdprep.h5ad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54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Research Progress and Future Work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2026.07.27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0009D8-E9F8-8157-5355-D95F2F0E2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808344"/>
            <a:ext cx="8915400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deep learning models. 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56EBE98-1F53-2382-4541-AC07FF53D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27" y="2796389"/>
            <a:ext cx="4827867" cy="306650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FCBF90B-0F15-B364-1BE8-F1CAF8DF1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507" y="2816077"/>
            <a:ext cx="5196246" cy="304681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44348339-4B05-2CF9-589A-B59B9A6984C6}"/>
              </a:ext>
            </a:extLst>
          </p:cNvPr>
          <p:cNvSpPr txBox="1"/>
          <p:nvPr/>
        </p:nvSpPr>
        <p:spPr>
          <a:xfrm>
            <a:off x="9082630" y="6024747"/>
            <a:ext cx="27019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bvnGPS2 (Xie et al. iScience 2024) </a:t>
            </a:r>
            <a:endParaRPr lang="en-US" altLang="zh-TW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6EFC061-4CF8-1EA0-6965-BBE862A82872}"/>
              </a:ext>
            </a:extLst>
          </p:cNvPr>
          <p:cNvSpPr txBox="1"/>
          <p:nvPr/>
        </p:nvSpPr>
        <p:spPr>
          <a:xfrm>
            <a:off x="3135431" y="6024747"/>
            <a:ext cx="27019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bvnGPS2 (Xie et al. iScience 2024) </a:t>
            </a: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Analysis process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809695" y="133702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353764" y="189107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230964" y="258807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43DD355F-F446-CFD1-C464-C6AFC846CC70}"/>
              </a:ext>
            </a:extLst>
          </p:cNvPr>
          <p:cNvSpPr/>
          <p:nvPr/>
        </p:nvSpPr>
        <p:spPr>
          <a:xfrm>
            <a:off x="8465210" y="3178212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10398336" y="3186935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7AA6B52-BFDE-7057-D630-C1C48B514FC8}"/>
              </a:ext>
            </a:extLst>
          </p:cNvPr>
          <p:cNvSpPr txBox="1"/>
          <p:nvPr/>
        </p:nvSpPr>
        <p:spPr>
          <a:xfrm>
            <a:off x="7850721" y="3932986"/>
            <a:ext cx="1478930" cy="2616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50" dirty="0"/>
              <a:t>ORA(</a:t>
            </a:r>
            <a:r>
              <a:rPr lang="en-US" altLang="zh-TW" sz="1050" dirty="0">
                <a:solidFill>
                  <a:srgbClr val="00B0F0"/>
                </a:solidFill>
              </a:rPr>
              <a:t>cutoff:top50</a:t>
            </a:r>
            <a:r>
              <a:rPr lang="en-US" altLang="zh-TW" sz="1050" dirty="0"/>
              <a:t>)</a:t>
            </a:r>
            <a:endParaRPr lang="zh-TW" altLang="zh-TW" sz="105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10178154" y="3925083"/>
            <a:ext cx="690316" cy="26161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50" dirty="0"/>
              <a:t>GSEA</a:t>
            </a:r>
            <a:endParaRPr lang="zh-TW" altLang="zh-TW" sz="1050" dirty="0"/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F02B0064-2D4B-57C5-4ABD-22FC65542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696" y="4476956"/>
            <a:ext cx="2190196" cy="1438069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973" y="4481065"/>
            <a:ext cx="1860800" cy="1433960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B3DCEE25-216A-FBF3-24A2-DAB3E2268319}"/>
              </a:ext>
            </a:extLst>
          </p:cNvPr>
          <p:cNvSpPr txBox="1"/>
          <p:nvPr/>
        </p:nvSpPr>
        <p:spPr>
          <a:xfrm>
            <a:off x="8141477" y="6108422"/>
            <a:ext cx="13272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Khatri et al., 2012</a:t>
            </a:r>
            <a:r>
              <a:rPr lang="en-US" altLang="zh-TW" sz="1050" dirty="0"/>
              <a:t>)</a:t>
            </a:r>
            <a:endParaRPr lang="zh-TW" altLang="en-US" sz="105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10036259" y="6108422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9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FA11EE60-C776-3B81-E9AF-C8CDB8D2F9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 b="56680"/>
          <a:stretch>
            <a:fillRect/>
          </a:stretch>
        </p:blipFill>
        <p:spPr>
          <a:xfrm>
            <a:off x="304662" y="2818783"/>
            <a:ext cx="6804874" cy="1658173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E017E4-FD4F-B544-D04B-882287DC7686}"/>
              </a:ext>
            </a:extLst>
          </p:cNvPr>
          <p:cNvSpPr txBox="1"/>
          <p:nvPr/>
        </p:nvSpPr>
        <p:spPr>
          <a:xfrm>
            <a:off x="3951856" y="5040096"/>
            <a:ext cx="28809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*</a:t>
            </a:r>
            <a:r>
              <a:rPr lang="zh-TW" altLang="zh-TW" sz="1200" dirty="0"/>
              <a:t>Over-Representation Analysis</a:t>
            </a:r>
            <a:r>
              <a:rPr lang="en-US" altLang="zh-TW" sz="1200" dirty="0"/>
              <a:t>(ORA)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D1794ED-3C5D-38C0-88A9-B93F99C295FB}"/>
              </a:ext>
            </a:extLst>
          </p:cNvPr>
          <p:cNvSpPr txBox="1"/>
          <p:nvPr/>
        </p:nvSpPr>
        <p:spPr>
          <a:xfrm>
            <a:off x="3951856" y="5491733"/>
            <a:ext cx="29540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*</a:t>
            </a:r>
            <a:r>
              <a:rPr lang="zh-TW" altLang="zh-TW" sz="1200" dirty="0"/>
              <a:t>Gene Set Enrichment Analysis</a:t>
            </a:r>
            <a:r>
              <a:rPr lang="en-US" altLang="zh-TW" sz="1200" dirty="0"/>
              <a:t>(GSEA)</a:t>
            </a:r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0FDE5F3-B1CC-F879-E509-85C5E9A05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378" y="294922"/>
            <a:ext cx="2884960" cy="2792916"/>
          </a:xfrm>
          <a:prstGeom prst="rect">
            <a:avLst/>
          </a:prstGeom>
        </p:spPr>
      </p:pic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16BA605-13F3-EA1C-6FEC-A1E39D4ADD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625213"/>
              </p:ext>
            </p:extLst>
          </p:nvPr>
        </p:nvGraphicFramePr>
        <p:xfrm>
          <a:off x="797798" y="1691380"/>
          <a:ext cx="7866234" cy="3243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026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874026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5830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53216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dirty="0">
                          <a:solidFill>
                            <a:srgbClr val="00B050"/>
                          </a:solidFill>
                        </a:rPr>
                        <a:t>▲</a:t>
                      </a:r>
                      <a:endParaRPr lang="zh-TW" alt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</a:rPr>
                        <a:t>▲</a:t>
                      </a:r>
                      <a:endParaRPr kumimoji="0" lang="zh-TW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</a:rPr>
                        <a:t>▲</a:t>
                      </a:r>
                      <a:endParaRPr kumimoji="0" lang="zh-TW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4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pic>
        <p:nvPicPr>
          <p:cNvPr id="16" name="圖片 15">
            <a:extLst>
              <a:ext uri="{FF2B5EF4-FFF2-40B4-BE49-F238E27FC236}">
                <a16:creationId xmlns:a16="http://schemas.microsoft.com/office/drawing/2014/main" id="{63AB47F9-FD39-FCD8-9FCA-12CEDEC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348" y="3555301"/>
            <a:ext cx="3062160" cy="2846120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E5C2BA-B387-F99E-6C96-B0A3E9FD9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579" y="5274813"/>
            <a:ext cx="5456279" cy="1069449"/>
          </a:xfrm>
        </p:spPr>
        <p:txBody>
          <a:bodyPr>
            <a:normAutofit/>
          </a:bodyPr>
          <a:lstStyle/>
          <a:p>
            <a:r>
              <a:rPr lang="zh-TW" altLang="zh-TW" sz="1400" dirty="0">
                <a:solidFill>
                  <a:schemeClr val="tx1"/>
                </a:solidFill>
              </a:rPr>
              <a:t>Not all virus families have exploitable pathways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zh-TW" altLang="zh-TW" sz="1400" dirty="0">
                <a:solidFill>
                  <a:schemeClr val="tx1"/>
                </a:solidFill>
              </a:rPr>
              <a:t>None of the path significance levels are high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endParaRPr lang="zh-TW" altLang="zh-TW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6192E-1434-D785-B69D-EDFB00AD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21CDB4-81A6-5E01-BAAD-C3436C2B3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Literature Review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65980F-073C-EAC3-2D55-778D0625F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783796"/>
            <a:ext cx="8915400" cy="3777622"/>
          </a:xfrm>
        </p:spPr>
        <p:txBody>
          <a:bodyPr/>
          <a:lstStyle/>
          <a:p>
            <a:r>
              <a:rPr lang="zh-TW" altLang="zh-TW" dirty="0"/>
              <a:t>Identify the network relationships between genes.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15947B-CC42-418A-3D6F-13D49031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F9273A12-31D0-1956-0CEB-46F8DAA3F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546" y="2577275"/>
            <a:ext cx="3881543" cy="347499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4406CD1-D245-6B38-D7BF-EC2E13DCB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262" y="2629640"/>
            <a:ext cx="3427748" cy="342263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51FB02A-5C11-69B2-4D02-1F47373600B2}"/>
              </a:ext>
            </a:extLst>
          </p:cNvPr>
          <p:cNvSpPr txBox="1"/>
          <p:nvPr/>
        </p:nvSpPr>
        <p:spPr>
          <a:xfrm>
            <a:off x="2309215" y="6295495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07CCEB-944C-BC47-2E30-4CB2E1C4899D}"/>
              </a:ext>
            </a:extLst>
          </p:cNvPr>
          <p:cNvSpPr txBox="1"/>
          <p:nvPr/>
        </p:nvSpPr>
        <p:spPr>
          <a:xfrm>
            <a:off x="6769821" y="6295495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587655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402FF-E59F-AA8B-9A75-FFF15D97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CB9648-3B28-CA76-32FD-E001D86FF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Preliminary Data Exploration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D6F6CB1-C06F-06D1-A12A-C4B6FC14A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0973613-43EA-6011-3317-FC6137B68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24" y="1905000"/>
            <a:ext cx="5042008" cy="349540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81141820-63AD-5C70-A5EB-330F4A19A469}"/>
              </a:ext>
            </a:extLst>
          </p:cNvPr>
          <p:cNvSpPr txBox="1"/>
          <p:nvPr/>
        </p:nvSpPr>
        <p:spPr>
          <a:xfrm>
            <a:off x="1047313" y="552639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088E860B-0353-1C4C-DEEB-2734ADCD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545" y="5822690"/>
            <a:ext cx="5791498" cy="2286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D7AF2C29-A1A1-6AE8-7CC4-81B3A2DC93A6}"/>
              </a:ext>
            </a:extLst>
          </p:cNvPr>
          <p:cNvSpPr txBox="1"/>
          <p:nvPr/>
        </p:nvSpPr>
        <p:spPr>
          <a:xfrm>
            <a:off x="6474504" y="2210941"/>
            <a:ext cx="5042009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Examine the distribution of transcript counts across cells</a:t>
            </a:r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E21D580-D64D-6E43-55F8-1419445D4D6F}"/>
              </a:ext>
            </a:extLst>
          </p:cNvPr>
          <p:cNvSpPr/>
          <p:nvPr/>
        </p:nvSpPr>
        <p:spPr>
          <a:xfrm>
            <a:off x="8968150" y="2886327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84A5A56D-8303-3FFA-629B-E4BDDAB62407}"/>
              </a:ext>
            </a:extLst>
          </p:cNvPr>
          <p:cNvSpPr txBox="1"/>
          <p:nvPr/>
        </p:nvSpPr>
        <p:spPr>
          <a:xfrm>
            <a:off x="6942485" y="3667162"/>
            <a:ext cx="410604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Select cells with high-confidence labels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D92FA9F2-7635-BB8C-A14C-16104E2EE01F}"/>
              </a:ext>
            </a:extLst>
          </p:cNvPr>
          <p:cNvSpPr txBox="1"/>
          <p:nvPr/>
        </p:nvSpPr>
        <p:spPr>
          <a:xfrm>
            <a:off x="5931715" y="5055083"/>
            <a:ext cx="6072870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Perform feature dimensionality reduction using highly variable genes</a:t>
            </a: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E3695FF3-DB00-A770-E112-B6FCB43B7AF4}"/>
              </a:ext>
            </a:extLst>
          </p:cNvPr>
          <p:cNvSpPr/>
          <p:nvPr/>
        </p:nvSpPr>
        <p:spPr>
          <a:xfrm>
            <a:off x="8968150" y="4365715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02100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0B40-5D98-E572-E421-4A69E9B2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10D539-8AFC-626B-12DD-8BEBFC2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Preliminary Data Exploration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AD5E5AF-4C16-D75F-DFE0-A08D91941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1802E4BF-F35F-7639-210C-ABBAFC8F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75" y="1555291"/>
            <a:ext cx="3944262" cy="266734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9B811A1-C63C-91E8-1E5F-1EE6651B5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228" y="1555291"/>
            <a:ext cx="3944262" cy="267118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55ECE318-512C-1304-BD20-9F707597C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9535" y="5110856"/>
            <a:ext cx="3340272" cy="1352620"/>
          </a:xfrm>
          <a:prstGeom prst="rect">
            <a:avLst/>
          </a:prstGeom>
        </p:spPr>
      </p:pic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DE7613F1-2168-B687-8B53-EC15D306D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286" y="4707277"/>
            <a:ext cx="5456279" cy="1803836"/>
          </a:xfrm>
        </p:spPr>
        <p:txBody>
          <a:bodyPr>
            <a:normAutofit/>
          </a:bodyPr>
          <a:lstStyle/>
          <a:p>
            <a:r>
              <a:rPr lang="zh-TW" altLang="zh-TW" sz="1400" dirty="0"/>
              <a:t>The problem of data imbalance</a:t>
            </a:r>
            <a:endParaRPr lang="en-US" altLang="zh-TW" sz="1400" dirty="0"/>
          </a:p>
          <a:p>
            <a:endParaRPr lang="en-US" altLang="zh-TW" sz="1400" dirty="0"/>
          </a:p>
          <a:p>
            <a:r>
              <a:rPr lang="zh-TW" altLang="zh-TW" sz="1400" dirty="0"/>
              <a:t>The number of features (genes) is too large</a:t>
            </a:r>
            <a:endParaRPr lang="en-US" altLang="zh-TW" sz="1400" dirty="0"/>
          </a:p>
          <a:p>
            <a:endParaRPr lang="en-US" altLang="zh-TW" sz="1400" dirty="0"/>
          </a:p>
          <a:p>
            <a:r>
              <a:rPr lang="zh-TW" altLang="zh-TW" sz="1400" dirty="0"/>
              <a:t>Split training and test</a:t>
            </a:r>
            <a:r>
              <a:rPr lang="en-US" altLang="zh-TW" sz="1400" dirty="0"/>
              <a:t>ting</a:t>
            </a:r>
            <a:r>
              <a:rPr lang="zh-TW" altLang="zh-TW" sz="1400" dirty="0"/>
              <a:t> sets</a:t>
            </a:r>
          </a:p>
          <a:p>
            <a:endParaRPr lang="en-US" altLang="zh-TW" sz="1400" dirty="0"/>
          </a:p>
          <a:p>
            <a:endParaRPr lang="en-US" altLang="zh-TW" sz="1400" dirty="0"/>
          </a:p>
          <a:p>
            <a:endParaRPr lang="zh-TW" altLang="zh-TW" sz="1400" dirty="0"/>
          </a:p>
          <a:p>
            <a:endParaRPr lang="en-US" altLang="zh-TW" sz="1400" dirty="0"/>
          </a:p>
          <a:p>
            <a:endParaRPr lang="en-US" altLang="zh-TW" sz="1400" dirty="0"/>
          </a:p>
          <a:p>
            <a:endParaRPr lang="zh-TW" altLang="zh-TW" sz="14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3D741C0-3E4F-EAE0-304B-0F0C4231E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9535" y="4704273"/>
            <a:ext cx="3695890" cy="2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840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CB4FA-8F93-5C12-68D7-C7061F445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592456"/>
          </a:xfrm>
        </p:spPr>
        <p:txBody>
          <a:bodyPr>
            <a:normAutofit/>
          </a:bodyPr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Re-analyze after removing non-coding gene</a:t>
            </a:r>
            <a:endParaRPr lang="en-US" altLang="zh-TW" dirty="0"/>
          </a:p>
          <a:p>
            <a:pPr marL="400050" lvl="1" indent="0">
              <a:buNone/>
            </a:pPr>
            <a:r>
              <a:rPr lang="zh-TW" altLang="zh-TW" dirty="0"/>
              <a:t>Applying WGCNA to identify gene networks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Obtain the adjacency matrix using KNN and feed it into the GCN model.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zh-TW" altLang="zh-TW" dirty="0"/>
          </a:p>
          <a:p>
            <a:endParaRPr lang="en-US" altLang="zh-TW" dirty="0"/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1930656-C0B1-8260-620A-7B6A22FF8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171" y="4517974"/>
            <a:ext cx="5258070" cy="50167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EF68BD8-7A5E-B099-E9C1-B9C986111D7C}"/>
              </a:ext>
            </a:extLst>
          </p:cNvPr>
          <p:cNvSpPr txBox="1"/>
          <p:nvPr/>
        </p:nvSpPr>
        <p:spPr>
          <a:xfrm>
            <a:off x="2951855" y="5065280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32297-6AE2-5FB6-EA95-EADD3E8D52D9}"/>
              </a:ext>
            </a:extLst>
          </p:cNvPr>
          <p:cNvSpPr txBox="1"/>
          <p:nvPr/>
        </p:nvSpPr>
        <p:spPr>
          <a:xfrm>
            <a:off x="3030802" y="5387909"/>
            <a:ext cx="28809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*</a:t>
            </a:r>
            <a:r>
              <a:rPr lang="zh-TW" altLang="zh-TW" sz="1200" dirty="0"/>
              <a:t>K Nearest Neighbor </a:t>
            </a:r>
            <a:r>
              <a:rPr lang="en-US" altLang="zh-TW" sz="1200" dirty="0"/>
              <a:t>(KNN)</a:t>
            </a:r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875</TotalTime>
  <Words>531</Words>
  <Application>Microsoft Office PowerPoint</Application>
  <PresentationFormat>寬螢幕</PresentationFormat>
  <Paragraphs>136</Paragraphs>
  <Slides>12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Aptos</vt:lpstr>
      <vt:lpstr>Arial</vt:lpstr>
      <vt:lpstr>Century Gothic</vt:lpstr>
      <vt:lpstr>Wingdings 2</vt:lpstr>
      <vt:lpstr>Wingdings 3</vt:lpstr>
      <vt:lpstr>絲縷</vt:lpstr>
      <vt:lpstr>Research Progress and Future Work </vt:lpstr>
      <vt:lpstr>Aims</vt:lpstr>
      <vt:lpstr>Aim 1</vt:lpstr>
      <vt:lpstr>Literature Review   </vt:lpstr>
      <vt:lpstr>Analysis process</vt:lpstr>
      <vt:lpstr>Current results(RF) </vt:lpstr>
      <vt:lpstr>Literature Review </vt:lpstr>
      <vt:lpstr>Aim 2</vt:lpstr>
      <vt:lpstr>Literature Review   </vt:lpstr>
      <vt:lpstr>Preliminary Data Exploration</vt:lpstr>
      <vt:lpstr>Preliminary Data Exploration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20</cp:revision>
  <dcterms:created xsi:type="dcterms:W3CDTF">2026-07-22T01:16:54Z</dcterms:created>
  <dcterms:modified xsi:type="dcterms:W3CDTF">2026-07-27T02:27:43Z</dcterms:modified>
</cp:coreProperties>
</file>