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71" r:id="rId3"/>
    <p:sldId id="277" r:id="rId4"/>
    <p:sldId id="272" r:id="rId5"/>
    <p:sldId id="284" r:id="rId6"/>
    <p:sldId id="258" r:id="rId7"/>
    <p:sldId id="273" r:id="rId8"/>
    <p:sldId id="278" r:id="rId9"/>
    <p:sldId id="274" r:id="rId10"/>
    <p:sldId id="279" r:id="rId11"/>
    <p:sldId id="280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4B67A6-86C8-4AEC-8A8F-6C2F464F56C5}" type="datetimeFigureOut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07B5DF-8346-47E0-A838-EF3629E0D1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5122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433D7-A86A-08ED-3E8B-904FFBE76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B9E56DE-1901-6A93-76B9-78C071FFE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8C121C4-2ABA-483E-DD77-ED7C0E48B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附註全名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379D021-5551-4FDD-DE44-F9FD478695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3772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600" dirty="0"/>
              <a:t>Dataset:</a:t>
            </a:r>
          </a:p>
          <a:p>
            <a:pPr marL="400050" lvl="1" indent="0">
              <a:buNone/>
            </a:pPr>
            <a:r>
              <a:rPr lang="zh-TW" altLang="zh-TW" sz="1400" dirty="0"/>
              <a:t>/home/bits_home02/nigelyeh/scRNAseq_data/Ravindra2021/GEM_processed/Ravindra2021.raw_count.stdprep.h5ad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7546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7C305-5696-4A7F-86AE-9C076744B4EA}" type="datetime1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6819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50FA-4614-4BF5-8794-75F97A0B2544}" type="datetime1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9890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336E6-5EE0-4A71-81C3-454B5C7B8BFB}" type="datetime1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7079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ED53-FC9D-48CB-AA63-3CC0B044F3C0}" type="datetime1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9202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D8557-2EF5-4AB0-8FDE-59BF801865CC}" type="datetime1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3214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BEE1F-4E42-4556-91FB-8362A0311142}" type="datetime1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7133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9E288-AC8B-4B62-B049-7671F3A2DFF0}" type="datetime1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7810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82A0F-D946-4FC0-8D63-AF5246A679AE}" type="datetime1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3026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BBE9F-1777-4CD2-896A-5CE0FA3014FF}" type="datetime1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224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432D5-B03D-4717-A904-795F862C1E5D}" type="datetime1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1225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5C8B2-1CA8-4214-9C14-3CAA749726CE}" type="datetime1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41247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A667E-6D94-4A33-B267-6660FFC03615}" type="datetime1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44987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2C43B-7B97-41B4-A0D9-48858736EFA4}" type="datetime1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76489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EF5B8-0A25-46D3-80D8-0863E07A873E}" type="datetime1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9607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5B9F2-24E4-479E-A18C-BF8EB1ED4286}" type="datetime1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7112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E6E13-70FA-486A-9C9C-12B2AF2AEAF1}" type="datetime1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2653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4D7AFE-6A4C-47D2-A958-3F76A70AFF87}" type="datetime1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1018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2427F2-A2B9-864E-785A-93A31EB6FF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TW" altLang="zh-TW" dirty="0"/>
              <a:t>Research Progress and Future Work</a:t>
            </a:r>
            <a:br>
              <a:rPr lang="zh-TW" altLang="zh-TW" dirty="0"/>
            </a:b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D3CD96D-FA25-F806-372C-F4EF862075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2026.07.27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B4FE53C-9997-536E-CA11-C15CC9227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4449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D50D6A-9F9B-15A5-0DDF-16CE3A303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Aims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8D8B10-28F2-1223-9B31-546963343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Aim 1:</a:t>
            </a:r>
          </a:p>
          <a:p>
            <a:pPr marL="400050" lvl="1" indent="0">
              <a:buNone/>
            </a:pPr>
            <a:r>
              <a:rPr lang="zh-TW" altLang="zh-TW" dirty="0"/>
              <a:t>Conducting downstream analysis—such as enrichment analysis—on gene sets identified by </a:t>
            </a:r>
            <a:r>
              <a:rPr lang="en-US" altLang="zh-TW" dirty="0"/>
              <a:t>machine</a:t>
            </a:r>
            <a:r>
              <a:rPr lang="zh-TW" altLang="zh-TW" dirty="0"/>
              <a:t> learning models.</a:t>
            </a:r>
          </a:p>
          <a:p>
            <a:endParaRPr lang="en-US" altLang="zh-TW" dirty="0"/>
          </a:p>
          <a:p>
            <a:r>
              <a:rPr lang="en-US" altLang="zh-TW" dirty="0"/>
              <a:t>Aim 2:</a:t>
            </a:r>
          </a:p>
          <a:p>
            <a:pPr marL="400050" lvl="1" indent="0">
              <a:buNone/>
            </a:pPr>
            <a:r>
              <a:rPr lang="zh-TW" altLang="zh-TW" dirty="0"/>
              <a:t>Predict unknown cell</a:t>
            </a:r>
            <a:r>
              <a:rPr lang="en-US" altLang="zh-TW" dirty="0"/>
              <a:t>s</a:t>
            </a:r>
            <a:r>
              <a:rPr lang="zh-TW" altLang="zh-TW" dirty="0"/>
              <a:t> using existing gene expression data and some known cell labels.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5FDA7D-6860-0C75-D811-F1A62E7E6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3988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79DB2-3C9B-17AA-939E-B22AF460F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870039-7B31-EC98-5F09-FF9681AE73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2660" y="1318591"/>
            <a:ext cx="2772372" cy="4220820"/>
          </a:xfrm>
        </p:spPr>
        <p:txBody>
          <a:bodyPr anchor="ctr">
            <a:normAutofit/>
          </a:bodyPr>
          <a:lstStyle/>
          <a:p>
            <a:pPr algn="r"/>
            <a:r>
              <a:rPr lang="en-US" altLang="zh-TW" sz="6600" dirty="0">
                <a:solidFill>
                  <a:schemeClr val="tx2">
                    <a:lumMod val="75000"/>
                  </a:schemeClr>
                </a:solidFill>
              </a:rPr>
              <a:t>Aim 1</a:t>
            </a:r>
            <a:endParaRPr lang="zh-TW" altLang="en-US" sz="6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EB051F4-8DF7-9898-A05F-CA2C15D81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6593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BF5ACD-5FCF-2BEC-5632-292EEB332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zh-TW" dirty="0"/>
              <a:t>Literature Review </a:t>
            </a:r>
            <a:br>
              <a:rPr lang="zh-TW" altLang="zh-TW" dirty="0"/>
            </a:br>
            <a:br>
              <a:rPr lang="zh-TW" altLang="zh-TW" dirty="0"/>
            </a:b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20009D8-E9F8-8157-5355-D95F2F0E2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808344"/>
            <a:ext cx="8915400" cy="3777622"/>
          </a:xfrm>
        </p:spPr>
        <p:txBody>
          <a:bodyPr/>
          <a:lstStyle/>
          <a:p>
            <a:r>
              <a:rPr lang="zh-TW" altLang="zh-TW" dirty="0"/>
              <a:t>Conducting downstream analysis—such as enrichment analysis—on gene sets identified by deep learning models. 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A503C2-EF1D-8E9B-F725-CA9AED1E8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56EBE98-1F53-2382-4541-AC07FF53D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27" y="2796389"/>
            <a:ext cx="4827867" cy="306650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FCBF90B-0F15-B364-1BE8-F1CAF8DF1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507" y="2816077"/>
            <a:ext cx="5196246" cy="3046817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44348339-4B05-2CF9-589A-B59B9A6984C6}"/>
              </a:ext>
            </a:extLst>
          </p:cNvPr>
          <p:cNvSpPr txBox="1"/>
          <p:nvPr/>
        </p:nvSpPr>
        <p:spPr>
          <a:xfrm>
            <a:off x="9082630" y="6024747"/>
            <a:ext cx="27019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dirty="0"/>
              <a:t>bvnGPS2 (Xie et al. iScience 2024) </a:t>
            </a:r>
            <a:endParaRPr lang="en-US" altLang="zh-TW" sz="12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6EFC061-4CF8-1EA0-6965-BBE862A82872}"/>
              </a:ext>
            </a:extLst>
          </p:cNvPr>
          <p:cNvSpPr txBox="1"/>
          <p:nvPr/>
        </p:nvSpPr>
        <p:spPr>
          <a:xfrm>
            <a:off x="3135431" y="6024747"/>
            <a:ext cx="27019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dirty="0"/>
              <a:t>bvnGPS2 (Xie et al. iScience 2024) </a:t>
            </a:r>
            <a:endParaRPr lang="en-US" altLang="zh-TW" sz="1200" dirty="0"/>
          </a:p>
        </p:txBody>
      </p:sp>
    </p:spTree>
    <p:extLst>
      <p:ext uri="{BB962C8B-B14F-4D97-AF65-F5344CB8AC3E}">
        <p14:creationId xmlns:p14="http://schemas.microsoft.com/office/powerpoint/2010/main" val="1525635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4C629-8EFE-F779-BF58-246D703BB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79F34F-889A-F640-0FD6-6EF040831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Analysis process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16EA719-BF09-C83B-0B26-AB2AF0BDA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5A1E4A6-20B0-1C92-92F4-E1CCD88465BB}"/>
              </a:ext>
            </a:extLst>
          </p:cNvPr>
          <p:cNvSpPr txBox="1"/>
          <p:nvPr/>
        </p:nvSpPr>
        <p:spPr>
          <a:xfrm>
            <a:off x="7809695" y="1337020"/>
            <a:ext cx="3318128" cy="30777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400" dirty="0"/>
              <a:t>Remove genes with a value of 0</a:t>
            </a:r>
          </a:p>
        </p:txBody>
      </p:sp>
      <p:sp>
        <p:nvSpPr>
          <p:cNvPr id="8" name="箭號: 向下 7">
            <a:extLst>
              <a:ext uri="{FF2B5EF4-FFF2-40B4-BE49-F238E27FC236}">
                <a16:creationId xmlns:a16="http://schemas.microsoft.com/office/drawing/2014/main" id="{52943079-64AE-B258-A206-C2D378AA132B}"/>
              </a:ext>
            </a:extLst>
          </p:cNvPr>
          <p:cNvSpPr/>
          <p:nvPr/>
        </p:nvSpPr>
        <p:spPr>
          <a:xfrm>
            <a:off x="9353764" y="1891079"/>
            <a:ext cx="229989" cy="41463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7BF690F-3767-D89B-2902-DCB36F80CBC7}"/>
              </a:ext>
            </a:extLst>
          </p:cNvPr>
          <p:cNvSpPr txBox="1"/>
          <p:nvPr/>
        </p:nvSpPr>
        <p:spPr>
          <a:xfrm>
            <a:off x="7230964" y="2588075"/>
            <a:ext cx="4666095" cy="30777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400" dirty="0"/>
              <a:t>Rank the genes according to Shapley values</a:t>
            </a:r>
          </a:p>
        </p:txBody>
      </p:sp>
      <p:sp>
        <p:nvSpPr>
          <p:cNvPr id="12" name="箭號: 向下 11">
            <a:extLst>
              <a:ext uri="{FF2B5EF4-FFF2-40B4-BE49-F238E27FC236}">
                <a16:creationId xmlns:a16="http://schemas.microsoft.com/office/drawing/2014/main" id="{43DD355F-F446-CFD1-C464-C6AFC846CC70}"/>
              </a:ext>
            </a:extLst>
          </p:cNvPr>
          <p:cNvSpPr/>
          <p:nvPr/>
        </p:nvSpPr>
        <p:spPr>
          <a:xfrm>
            <a:off x="8465210" y="3178212"/>
            <a:ext cx="249951" cy="48413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/>
          </a:p>
        </p:txBody>
      </p:sp>
      <p:sp>
        <p:nvSpPr>
          <p:cNvPr id="14" name="箭號: 向下 13">
            <a:extLst>
              <a:ext uri="{FF2B5EF4-FFF2-40B4-BE49-F238E27FC236}">
                <a16:creationId xmlns:a16="http://schemas.microsoft.com/office/drawing/2014/main" id="{81D540B2-6D0F-07F6-61DF-3E694792472B}"/>
              </a:ext>
            </a:extLst>
          </p:cNvPr>
          <p:cNvSpPr/>
          <p:nvPr/>
        </p:nvSpPr>
        <p:spPr>
          <a:xfrm>
            <a:off x="10398336" y="3186935"/>
            <a:ext cx="249951" cy="48413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7AA6B52-BFDE-7057-D630-C1C48B514FC8}"/>
              </a:ext>
            </a:extLst>
          </p:cNvPr>
          <p:cNvSpPr txBox="1"/>
          <p:nvPr/>
        </p:nvSpPr>
        <p:spPr>
          <a:xfrm>
            <a:off x="7850721" y="3932986"/>
            <a:ext cx="1478930" cy="2616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50" dirty="0"/>
              <a:t>ORA(</a:t>
            </a:r>
            <a:r>
              <a:rPr lang="en-US" altLang="zh-TW" sz="1050" dirty="0">
                <a:solidFill>
                  <a:srgbClr val="00B0F0"/>
                </a:solidFill>
              </a:rPr>
              <a:t>cutoff:top50</a:t>
            </a:r>
            <a:r>
              <a:rPr lang="en-US" altLang="zh-TW" sz="1050" dirty="0"/>
              <a:t>)</a:t>
            </a:r>
            <a:endParaRPr lang="zh-TW" altLang="zh-TW" sz="105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C0E291B8-3A7B-0B1E-0962-16D864199746}"/>
              </a:ext>
            </a:extLst>
          </p:cNvPr>
          <p:cNvSpPr txBox="1"/>
          <p:nvPr/>
        </p:nvSpPr>
        <p:spPr>
          <a:xfrm>
            <a:off x="10178154" y="3925083"/>
            <a:ext cx="690316" cy="2616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50" dirty="0"/>
              <a:t>GSEA</a:t>
            </a:r>
            <a:endParaRPr lang="zh-TW" altLang="zh-TW" sz="1050" dirty="0"/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F02B0064-2D4B-57C5-4ABD-22FC65542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696" y="4476956"/>
            <a:ext cx="2190196" cy="1438069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AD3FACB6-1098-D23B-54E6-F99B98D61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7973" y="4481065"/>
            <a:ext cx="1860800" cy="1433960"/>
          </a:xfrm>
          <a:prstGeom prst="rect">
            <a:avLst/>
          </a:prstGeom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B3DCEE25-216A-FBF3-24A2-DAB3E2268319}"/>
              </a:ext>
            </a:extLst>
          </p:cNvPr>
          <p:cNvSpPr txBox="1"/>
          <p:nvPr/>
        </p:nvSpPr>
        <p:spPr>
          <a:xfrm>
            <a:off x="8141477" y="6108422"/>
            <a:ext cx="13272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50" dirty="0"/>
              <a:t>(</a:t>
            </a:r>
            <a:r>
              <a:rPr lang="zh-TW" altLang="zh-TW" sz="1050" dirty="0"/>
              <a:t>Khatri et al., 2012</a:t>
            </a:r>
            <a:r>
              <a:rPr lang="en-US" altLang="zh-TW" sz="1050" dirty="0"/>
              <a:t>)</a:t>
            </a:r>
            <a:endParaRPr lang="zh-TW" altLang="en-US" sz="105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2B499A5F-CDDB-CBF6-AD50-5DFBE86C68FA}"/>
              </a:ext>
            </a:extLst>
          </p:cNvPr>
          <p:cNvSpPr txBox="1"/>
          <p:nvPr/>
        </p:nvSpPr>
        <p:spPr>
          <a:xfrm>
            <a:off x="10036259" y="6108422"/>
            <a:ext cx="1860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50" dirty="0"/>
              <a:t>(</a:t>
            </a:r>
            <a:r>
              <a:rPr lang="zh-TW" altLang="zh-TW" sz="1050" dirty="0"/>
              <a:t>Subramanian</a:t>
            </a:r>
            <a:r>
              <a:rPr lang="en-US" altLang="zh-TW" sz="1050" dirty="0"/>
              <a:t> et al., 2005)</a:t>
            </a:r>
            <a:endParaRPr lang="zh-TW" altLang="en-US" sz="1050" dirty="0"/>
          </a:p>
        </p:txBody>
      </p:sp>
      <p:pic>
        <p:nvPicPr>
          <p:cNvPr id="9" name="Content Placeholder 4" descr="A diagram of a network&#10;&#10;AI-generated content may be incorrect.">
            <a:extLst>
              <a:ext uri="{FF2B5EF4-FFF2-40B4-BE49-F238E27FC236}">
                <a16:creationId xmlns:a16="http://schemas.microsoft.com/office/drawing/2014/main" id="{FA11EE60-C776-3B81-E9AF-C8CDB8D2F9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rcRect b="56680"/>
          <a:stretch>
            <a:fillRect/>
          </a:stretch>
        </p:blipFill>
        <p:spPr>
          <a:xfrm>
            <a:off x="324353" y="3095996"/>
            <a:ext cx="6804874" cy="165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258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34F6F0-EB32-62CF-C02F-D452CA719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Current results</a:t>
            </a:r>
            <a:r>
              <a:rPr lang="en-US" altLang="zh-TW" dirty="0"/>
              <a:t>(RF)</a:t>
            </a:r>
            <a:r>
              <a:rPr lang="zh-TW" altLang="zh-TW" dirty="0"/>
              <a:t> 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AEF82B2-09B4-873C-7663-98E3EC831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0FDE5F3-B1CC-F879-E509-85C5E9A05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0378" y="294922"/>
            <a:ext cx="2884960" cy="2792916"/>
          </a:xfrm>
          <a:prstGeom prst="rect">
            <a:avLst/>
          </a:prstGeom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216BA605-13F3-EA1C-6FEC-A1E39D4ADD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625213"/>
              </p:ext>
            </p:extLst>
          </p:nvPr>
        </p:nvGraphicFramePr>
        <p:xfrm>
          <a:off x="797798" y="1691380"/>
          <a:ext cx="7866234" cy="3243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026">
                  <a:extLst>
                    <a:ext uri="{9D8B030D-6E8A-4147-A177-3AD203B41FA5}">
                      <a16:colId xmlns:a16="http://schemas.microsoft.com/office/drawing/2014/main" val="2341172823"/>
                    </a:ext>
                  </a:extLst>
                </a:gridCol>
                <a:gridCol w="874026">
                  <a:extLst>
                    <a:ext uri="{9D8B030D-6E8A-4147-A177-3AD203B41FA5}">
                      <a16:colId xmlns:a16="http://schemas.microsoft.com/office/drawing/2014/main" val="3583683660"/>
                    </a:ext>
                  </a:extLst>
                </a:gridCol>
                <a:gridCol w="874026">
                  <a:extLst>
                    <a:ext uri="{9D8B030D-6E8A-4147-A177-3AD203B41FA5}">
                      <a16:colId xmlns:a16="http://schemas.microsoft.com/office/drawing/2014/main" val="3426586895"/>
                    </a:ext>
                  </a:extLst>
                </a:gridCol>
                <a:gridCol w="874026">
                  <a:extLst>
                    <a:ext uri="{9D8B030D-6E8A-4147-A177-3AD203B41FA5}">
                      <a16:colId xmlns:a16="http://schemas.microsoft.com/office/drawing/2014/main" val="881877480"/>
                    </a:ext>
                  </a:extLst>
                </a:gridCol>
                <a:gridCol w="874026">
                  <a:extLst>
                    <a:ext uri="{9D8B030D-6E8A-4147-A177-3AD203B41FA5}">
                      <a16:colId xmlns:a16="http://schemas.microsoft.com/office/drawing/2014/main" val="3102894976"/>
                    </a:ext>
                  </a:extLst>
                </a:gridCol>
                <a:gridCol w="874026">
                  <a:extLst>
                    <a:ext uri="{9D8B030D-6E8A-4147-A177-3AD203B41FA5}">
                      <a16:colId xmlns:a16="http://schemas.microsoft.com/office/drawing/2014/main" val="871233268"/>
                    </a:ext>
                  </a:extLst>
                </a:gridCol>
                <a:gridCol w="874026">
                  <a:extLst>
                    <a:ext uri="{9D8B030D-6E8A-4147-A177-3AD203B41FA5}">
                      <a16:colId xmlns:a16="http://schemas.microsoft.com/office/drawing/2014/main" val="3836922239"/>
                    </a:ext>
                  </a:extLst>
                </a:gridCol>
                <a:gridCol w="874026">
                  <a:extLst>
                    <a:ext uri="{9D8B030D-6E8A-4147-A177-3AD203B41FA5}">
                      <a16:colId xmlns:a16="http://schemas.microsoft.com/office/drawing/2014/main" val="635051631"/>
                    </a:ext>
                  </a:extLst>
                </a:gridCol>
                <a:gridCol w="874026">
                  <a:extLst>
                    <a:ext uri="{9D8B030D-6E8A-4147-A177-3AD203B41FA5}">
                      <a16:colId xmlns:a16="http://schemas.microsoft.com/office/drawing/2014/main" val="582826549"/>
                    </a:ext>
                  </a:extLst>
                </a:gridCol>
              </a:tblGrid>
              <a:tr h="583052">
                <a:tc>
                  <a:txBody>
                    <a:bodyPr/>
                    <a:lstStyle/>
                    <a:p>
                      <a:pPr algn="ctr"/>
                      <a:endParaRPr lang="zh-TW" altLang="en-US" sz="6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Alphaviridae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Coronaviridae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/>
                        <a:t>Flaviviridae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Orthoherpesviridae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/>
                        <a:t>Orthomyxoviridae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Picornaviridae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/>
                        <a:t>Reoviridae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Retroviridae</a:t>
                      </a:r>
                      <a:endParaRPr lang="zh-TW" altLang="en-US" sz="9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3311088"/>
                  </a:ext>
                </a:extLst>
              </a:tr>
              <a:tr h="5321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/>
                        <a:t>KEGG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solidFill>
                            <a:srgbClr val="FF0000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>
                          <a:solidFill>
                            <a:srgbClr val="00B0F0"/>
                          </a:solidFill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4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2223638"/>
                  </a:ext>
                </a:extLst>
              </a:tr>
              <a:tr h="5321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Reactome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00B050"/>
                          </a:solidFill>
                        </a:rPr>
                        <a:t>▲</a:t>
                      </a:r>
                      <a:endParaRPr lang="zh-TW" alt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>
                          <a:solidFill>
                            <a:srgbClr val="FF0000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00B050"/>
                          </a:solidFill>
                        </a:rPr>
                        <a:t>▲</a:t>
                      </a:r>
                      <a:endParaRPr lang="zh-TW" alt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00B050"/>
                          </a:solidFill>
                        </a:rPr>
                        <a:t>▲</a:t>
                      </a:r>
                      <a:endParaRPr lang="zh-TW" alt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00B050"/>
                          </a:solidFill>
                        </a:rPr>
                        <a:t>▲</a:t>
                      </a:r>
                      <a:endParaRPr lang="zh-TW" alt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>
                          <a:solidFill>
                            <a:srgbClr val="00B0F0"/>
                          </a:solidFill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4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1097473"/>
                  </a:ext>
                </a:extLst>
              </a:tr>
              <a:tr h="5321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/>
                        <a:t>GO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>
                          <a:solidFill>
                            <a:srgbClr val="FF0000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00B050"/>
                          </a:solidFill>
                        </a:rPr>
                        <a:t>▲</a:t>
                      </a:r>
                      <a:endParaRPr lang="zh-TW" alt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00B050"/>
                          </a:solidFill>
                        </a:rPr>
                        <a:t>▲</a:t>
                      </a:r>
                      <a:endParaRPr lang="zh-TW" alt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00B050"/>
                          </a:solidFill>
                        </a:rPr>
                        <a:t>▲</a:t>
                      </a:r>
                      <a:endParaRPr lang="zh-TW" alt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>
                          <a:solidFill>
                            <a:srgbClr val="FF0000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>
                          <a:solidFill>
                            <a:srgbClr val="00B0F0"/>
                          </a:solidFill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4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00B050"/>
                          </a:solidFill>
                        </a:rPr>
                        <a:t>▲</a:t>
                      </a:r>
                      <a:endParaRPr lang="zh-TW" alt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00B050"/>
                          </a:solidFill>
                        </a:rPr>
                        <a:t>▲</a:t>
                      </a:r>
                      <a:endParaRPr lang="zh-TW" alt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7833258"/>
                  </a:ext>
                </a:extLst>
              </a:tr>
              <a:tr h="5321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MSigDB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00B050"/>
                          </a:solidFill>
                        </a:rPr>
                        <a:t>▲</a:t>
                      </a:r>
                      <a:endParaRPr lang="zh-TW" alt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>
                          <a:solidFill>
                            <a:srgbClr val="FF0000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>
                          <a:solidFill>
                            <a:srgbClr val="00B0F0"/>
                          </a:solidFill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4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0509392"/>
                  </a:ext>
                </a:extLst>
              </a:tr>
              <a:tr h="5321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WikiPathways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00B050"/>
                          </a:solidFill>
                        </a:rPr>
                        <a:t>▲</a:t>
                      </a:r>
                      <a:endParaRPr lang="zh-TW" alt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</a:rPr>
                        <a:t>▲</a:t>
                      </a:r>
                      <a:endParaRPr kumimoji="0" lang="zh-TW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</a:rPr>
                        <a:t>▲</a:t>
                      </a:r>
                      <a:endParaRPr kumimoji="0" lang="zh-TW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>
                          <a:solidFill>
                            <a:srgbClr val="00B0F0"/>
                          </a:solidFill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4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6349636"/>
                  </a:ext>
                </a:extLst>
              </a:tr>
            </a:tbl>
          </a:graphicData>
        </a:graphic>
      </p:graphicFrame>
      <p:pic>
        <p:nvPicPr>
          <p:cNvPr id="16" name="圖片 15">
            <a:extLst>
              <a:ext uri="{FF2B5EF4-FFF2-40B4-BE49-F238E27FC236}">
                <a16:creationId xmlns:a16="http://schemas.microsoft.com/office/drawing/2014/main" id="{63AB47F9-FD39-FCD8-9FCA-12CEDECFB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348" y="3555301"/>
            <a:ext cx="3062160" cy="2846120"/>
          </a:xfrm>
          <a:prstGeom prst="rect">
            <a:avLst/>
          </a:prstGeom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E5C2BA-B387-F99E-6C96-B0A3E9FD9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579" y="5274813"/>
            <a:ext cx="5456279" cy="1069449"/>
          </a:xfrm>
        </p:spPr>
        <p:txBody>
          <a:bodyPr>
            <a:normAutofit/>
          </a:bodyPr>
          <a:lstStyle/>
          <a:p>
            <a:r>
              <a:rPr lang="zh-TW" altLang="zh-TW" sz="1400" dirty="0"/>
              <a:t>Not all virus families have exploitable pathways</a:t>
            </a:r>
          </a:p>
          <a:p>
            <a:endParaRPr lang="en-US" altLang="zh-TW" sz="1400" dirty="0"/>
          </a:p>
          <a:p>
            <a:r>
              <a:rPr lang="zh-TW" altLang="zh-TW" sz="1400" dirty="0"/>
              <a:t>None of the path significance levels are high</a:t>
            </a:r>
          </a:p>
          <a:p>
            <a:endParaRPr lang="en-US" altLang="zh-TW" sz="1400" dirty="0"/>
          </a:p>
          <a:p>
            <a:endParaRPr lang="zh-TW" altLang="zh-TW" sz="1400" dirty="0"/>
          </a:p>
        </p:txBody>
      </p:sp>
    </p:spTree>
    <p:extLst>
      <p:ext uri="{BB962C8B-B14F-4D97-AF65-F5344CB8AC3E}">
        <p14:creationId xmlns:p14="http://schemas.microsoft.com/office/powerpoint/2010/main" val="471473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6192E-1434-D785-B69D-EDFB00ADE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21CDB4-81A6-5E01-BAAD-C3436C2B3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Literature Review</a:t>
            </a:r>
            <a:br>
              <a:rPr lang="zh-TW" altLang="zh-TW" dirty="0"/>
            </a:b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65980F-073C-EAC3-2D55-778D0625F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783796"/>
            <a:ext cx="8915400" cy="3777622"/>
          </a:xfrm>
        </p:spPr>
        <p:txBody>
          <a:bodyPr/>
          <a:lstStyle/>
          <a:p>
            <a:r>
              <a:rPr lang="zh-TW" altLang="zh-TW" dirty="0"/>
              <a:t>Identify the network relationships between genes.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415947B-CC42-418A-3D6F-13D490316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F9273A12-31D0-1956-0CEB-46F8DAA3F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546" y="2577275"/>
            <a:ext cx="3881543" cy="3474997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54406CD1-D245-6B38-D7BF-EC2E13DCB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262" y="2629640"/>
            <a:ext cx="3427748" cy="3422632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51FB02A-5C11-69B2-4D02-1F47373600B2}"/>
              </a:ext>
            </a:extLst>
          </p:cNvPr>
          <p:cNvSpPr txBox="1"/>
          <p:nvPr/>
        </p:nvSpPr>
        <p:spPr>
          <a:xfrm>
            <a:off x="2309215" y="6295495"/>
            <a:ext cx="37128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dirty="0"/>
              <a:t>WGCNA (Langfelder &amp; Horvath BMC Bioinf 2008) </a:t>
            </a:r>
            <a:endParaRPr lang="en-US" altLang="zh-TW" sz="12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507CCEB-944C-BC47-2E30-4CB2E1C4899D}"/>
              </a:ext>
            </a:extLst>
          </p:cNvPr>
          <p:cNvSpPr txBox="1"/>
          <p:nvPr/>
        </p:nvSpPr>
        <p:spPr>
          <a:xfrm>
            <a:off x="6769821" y="6295495"/>
            <a:ext cx="37128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dirty="0"/>
              <a:t>WGCNA (Langfelder &amp; Horvath BMC Bioinf 2008) </a:t>
            </a:r>
            <a:endParaRPr lang="en-US" altLang="zh-TW" sz="1200" dirty="0"/>
          </a:p>
        </p:txBody>
      </p:sp>
    </p:spTree>
    <p:extLst>
      <p:ext uri="{BB962C8B-B14F-4D97-AF65-F5344CB8AC3E}">
        <p14:creationId xmlns:p14="http://schemas.microsoft.com/office/powerpoint/2010/main" val="587655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90FC2-61F5-8D5F-B088-51759F9AC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EB38E9-1FF3-C6BE-7125-F9C7D57E74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2660" y="1318591"/>
            <a:ext cx="2772372" cy="4220820"/>
          </a:xfrm>
        </p:spPr>
        <p:txBody>
          <a:bodyPr anchor="ctr">
            <a:normAutofit/>
          </a:bodyPr>
          <a:lstStyle/>
          <a:p>
            <a:pPr algn="r"/>
            <a:r>
              <a:rPr lang="en-US" altLang="zh-TW" sz="6600" dirty="0">
                <a:solidFill>
                  <a:schemeClr val="tx2">
                    <a:lumMod val="75000"/>
                  </a:schemeClr>
                </a:solidFill>
              </a:rPr>
              <a:t>Aim 2</a:t>
            </a:r>
            <a:endParaRPr lang="zh-TW" altLang="en-US" sz="6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722C5C0-3664-341D-00B6-2A00A7809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1271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57FE0-4DB7-E394-C8E5-5AD953996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FC1A81-5563-4480-B65E-A588790F4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zh-TW" dirty="0"/>
              <a:t>Literature Review </a:t>
            </a:r>
            <a:br>
              <a:rPr lang="zh-TW" altLang="zh-TW" dirty="0"/>
            </a:br>
            <a:br>
              <a:rPr lang="zh-TW" altLang="zh-TW" dirty="0"/>
            </a:b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4CE81CF-C2CE-0E93-C122-A64A1E629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5813" y="1667194"/>
            <a:ext cx="8915400" cy="3777622"/>
          </a:xfrm>
        </p:spPr>
        <p:txBody>
          <a:bodyPr/>
          <a:lstStyle/>
          <a:p>
            <a:r>
              <a:rPr lang="zh-TW" altLang="zh-TW" dirty="0"/>
              <a:t>Predict unknown cell</a:t>
            </a:r>
            <a:r>
              <a:rPr lang="en-US" altLang="zh-TW" dirty="0"/>
              <a:t>s</a:t>
            </a:r>
            <a:r>
              <a:rPr lang="zh-TW" altLang="zh-TW" dirty="0"/>
              <a:t> using existing gene expression data and some known cell labels.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D9ADB3-ED76-AE00-996D-6A31A7C21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F785212-7985-D93C-2B26-4FAF89941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882" y="2661896"/>
            <a:ext cx="6936887" cy="342746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3EB8C0D6-C870-4AAD-6D58-BC93901040AA}"/>
              </a:ext>
            </a:extLst>
          </p:cNvPr>
          <p:cNvSpPr txBox="1"/>
          <p:nvPr/>
        </p:nvSpPr>
        <p:spPr>
          <a:xfrm>
            <a:off x="6651325" y="6233890"/>
            <a:ext cx="3626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dirty="0"/>
              <a:t>scSHARP (Lewinsohn et al. Bioinformatics 2023)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278111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402FF-E59F-AA8B-9A75-FFF15D97D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CB9648-3B28-CA76-32FD-E001D86FF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Preliminary Data Exploration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D6F6CB1-C06F-06D1-A12A-C4B6FC14A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0973613-43EA-6011-3317-FC6137B68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24" y="1905000"/>
            <a:ext cx="5042008" cy="3495409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81141820-63AD-5C70-A5EB-330F4A19A469}"/>
              </a:ext>
            </a:extLst>
          </p:cNvPr>
          <p:cNvSpPr txBox="1"/>
          <p:nvPr/>
        </p:nvSpPr>
        <p:spPr>
          <a:xfrm>
            <a:off x="1047313" y="5526396"/>
            <a:ext cx="56798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dirty="0"/>
              <a:t>SARS-CoV-2 airway scRNA-seq analysis (Ravindra et al. PLoS Biology 2021)</a:t>
            </a:r>
            <a:endParaRPr lang="zh-TW" altLang="en-US" sz="1200" dirty="0"/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088E860B-0353-1C4C-DEEB-2734ADCDE6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545" y="5822690"/>
            <a:ext cx="5791498" cy="228612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D7AF2C29-A1A1-6AE8-7CC4-81B3A2DC93A6}"/>
              </a:ext>
            </a:extLst>
          </p:cNvPr>
          <p:cNvSpPr txBox="1"/>
          <p:nvPr/>
        </p:nvSpPr>
        <p:spPr>
          <a:xfrm>
            <a:off x="6474504" y="2210941"/>
            <a:ext cx="5042009" cy="30777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400" dirty="0"/>
              <a:t>Examine the distribution of transcript counts across cells</a:t>
            </a:r>
          </a:p>
        </p:txBody>
      </p:sp>
      <p:sp>
        <p:nvSpPr>
          <p:cNvPr id="27" name="箭號: 向下 26">
            <a:extLst>
              <a:ext uri="{FF2B5EF4-FFF2-40B4-BE49-F238E27FC236}">
                <a16:creationId xmlns:a16="http://schemas.microsoft.com/office/drawing/2014/main" id="{8E21D580-D64D-6E43-55F8-1419445D4D6F}"/>
              </a:ext>
            </a:extLst>
          </p:cNvPr>
          <p:cNvSpPr/>
          <p:nvPr/>
        </p:nvSpPr>
        <p:spPr>
          <a:xfrm>
            <a:off x="8968150" y="2886327"/>
            <a:ext cx="229989" cy="41463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84A5A56D-8303-3FFA-629B-E4BDDAB62407}"/>
              </a:ext>
            </a:extLst>
          </p:cNvPr>
          <p:cNvSpPr txBox="1"/>
          <p:nvPr/>
        </p:nvSpPr>
        <p:spPr>
          <a:xfrm>
            <a:off x="6942485" y="3667162"/>
            <a:ext cx="4106048" cy="30777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400" dirty="0"/>
              <a:t>Select cells with high-confidence labels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D92FA9F2-7635-BB8C-A14C-16104E2EE01F}"/>
              </a:ext>
            </a:extLst>
          </p:cNvPr>
          <p:cNvSpPr txBox="1"/>
          <p:nvPr/>
        </p:nvSpPr>
        <p:spPr>
          <a:xfrm>
            <a:off x="5931715" y="5055083"/>
            <a:ext cx="6072870" cy="30777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400" dirty="0"/>
              <a:t>Perform feature dimensionality reduction using highly variable genes</a:t>
            </a:r>
          </a:p>
        </p:txBody>
      </p:sp>
      <p:sp>
        <p:nvSpPr>
          <p:cNvPr id="12" name="箭號: 向下 11">
            <a:extLst>
              <a:ext uri="{FF2B5EF4-FFF2-40B4-BE49-F238E27FC236}">
                <a16:creationId xmlns:a16="http://schemas.microsoft.com/office/drawing/2014/main" id="{E3695FF3-DB00-A770-E112-B6FCB43B7AF4}"/>
              </a:ext>
            </a:extLst>
          </p:cNvPr>
          <p:cNvSpPr/>
          <p:nvPr/>
        </p:nvSpPr>
        <p:spPr>
          <a:xfrm>
            <a:off x="8968150" y="4365715"/>
            <a:ext cx="229989" cy="41463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02100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E0B40-5D98-E572-E421-4A69E9B2C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10D539-8AFC-626B-12DD-8BEBFC2C0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Preliminary Data Exploration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AD5E5AF-4C16-D75F-DFE0-A08D91941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1802E4BF-F35F-7639-210C-ABBAFC8F2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075" y="1555291"/>
            <a:ext cx="3944262" cy="2667343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19B811A1-C63C-91E8-1E5F-1EE6651B5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228" y="1555291"/>
            <a:ext cx="3944262" cy="2671186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55ECE318-512C-1304-BD20-9F707597C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9535" y="5110856"/>
            <a:ext cx="3340272" cy="1352620"/>
          </a:xfrm>
          <a:prstGeom prst="rect">
            <a:avLst/>
          </a:prstGeom>
        </p:spPr>
      </p:pic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DE7613F1-2168-B687-8B53-EC15D306D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9286" y="4707277"/>
            <a:ext cx="5456279" cy="1803836"/>
          </a:xfrm>
        </p:spPr>
        <p:txBody>
          <a:bodyPr>
            <a:normAutofit/>
          </a:bodyPr>
          <a:lstStyle/>
          <a:p>
            <a:r>
              <a:rPr lang="zh-TW" altLang="zh-TW" sz="1400" dirty="0"/>
              <a:t>The problem of data imbalance</a:t>
            </a:r>
            <a:endParaRPr lang="en-US" altLang="zh-TW" sz="1400" dirty="0"/>
          </a:p>
          <a:p>
            <a:endParaRPr lang="en-US" altLang="zh-TW" sz="1400" dirty="0"/>
          </a:p>
          <a:p>
            <a:r>
              <a:rPr lang="zh-TW" altLang="zh-TW" sz="1400" dirty="0"/>
              <a:t>The number of features (genes) is too large</a:t>
            </a:r>
            <a:endParaRPr lang="en-US" altLang="zh-TW" sz="1400" dirty="0"/>
          </a:p>
          <a:p>
            <a:endParaRPr lang="en-US" altLang="zh-TW" sz="1400" dirty="0"/>
          </a:p>
          <a:p>
            <a:r>
              <a:rPr lang="zh-TW" altLang="zh-TW" sz="1400" dirty="0"/>
              <a:t>Split training and test</a:t>
            </a:r>
            <a:r>
              <a:rPr lang="en-US" altLang="zh-TW" sz="1400" dirty="0"/>
              <a:t>ting</a:t>
            </a:r>
            <a:r>
              <a:rPr lang="zh-TW" altLang="zh-TW" sz="1400" dirty="0"/>
              <a:t> sets</a:t>
            </a:r>
          </a:p>
          <a:p>
            <a:endParaRPr lang="en-US" altLang="zh-TW" sz="1400" dirty="0"/>
          </a:p>
          <a:p>
            <a:endParaRPr lang="en-US" altLang="zh-TW" sz="1400" dirty="0"/>
          </a:p>
          <a:p>
            <a:endParaRPr lang="zh-TW" altLang="zh-TW" sz="1400" dirty="0"/>
          </a:p>
          <a:p>
            <a:endParaRPr lang="en-US" altLang="zh-TW" sz="1400" dirty="0"/>
          </a:p>
          <a:p>
            <a:endParaRPr lang="en-US" altLang="zh-TW" sz="1400" dirty="0"/>
          </a:p>
          <a:p>
            <a:endParaRPr lang="zh-TW" altLang="zh-TW" sz="14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3D741C0-3E4F-EAE0-304B-0F0C4231E8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9535" y="4704273"/>
            <a:ext cx="3695890" cy="22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840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6F5BB3-CB64-C50C-5D46-66E30FA8F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Future work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7CB4FA-8F93-5C12-68D7-C7061F445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592456"/>
          </a:xfrm>
        </p:spPr>
        <p:txBody>
          <a:bodyPr>
            <a:normAutofit/>
          </a:bodyPr>
          <a:lstStyle/>
          <a:p>
            <a:r>
              <a:rPr lang="en-US" altLang="zh-TW" dirty="0"/>
              <a:t>Aim 1:</a:t>
            </a:r>
          </a:p>
          <a:p>
            <a:pPr marL="400050" lvl="1" indent="0">
              <a:buNone/>
            </a:pPr>
            <a:r>
              <a:rPr lang="zh-TW" altLang="zh-TW" dirty="0"/>
              <a:t>Re-analyze after removing non-coding gene</a:t>
            </a:r>
            <a:endParaRPr lang="en-US" altLang="zh-TW" dirty="0"/>
          </a:p>
          <a:p>
            <a:pPr marL="400050" lvl="1" indent="0">
              <a:buNone/>
            </a:pPr>
            <a:r>
              <a:rPr lang="zh-TW" altLang="zh-TW" dirty="0"/>
              <a:t>Applying WGCNA to identify gene networks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/>
              <a:t>Aim 2:</a:t>
            </a:r>
          </a:p>
          <a:p>
            <a:pPr marL="400050" lvl="1" indent="0">
              <a:buNone/>
            </a:pPr>
            <a:r>
              <a:rPr lang="zh-TW" altLang="zh-TW" dirty="0"/>
              <a:t>Obtain the adjacency matrix using KNN and feed it into the GCN model.</a:t>
            </a:r>
            <a:endParaRPr lang="en-US" altLang="zh-TW" dirty="0"/>
          </a:p>
          <a:p>
            <a:pPr marL="400050" lvl="1" indent="0">
              <a:buNone/>
            </a:pPr>
            <a:endParaRPr lang="zh-TW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zh-TW" altLang="zh-TW" dirty="0"/>
          </a:p>
          <a:p>
            <a:endParaRPr lang="en-US" altLang="zh-TW" dirty="0"/>
          </a:p>
          <a:p>
            <a:endParaRPr lang="zh-TW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DE38BC-AF32-880D-1735-01DCD441A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1930656-C0B1-8260-620A-7B6A22FF8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171" y="4517974"/>
            <a:ext cx="5258070" cy="501676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9EF68BD8-7A5E-B099-E9C1-B9C986111D7C}"/>
              </a:ext>
            </a:extLst>
          </p:cNvPr>
          <p:cNvSpPr txBox="1"/>
          <p:nvPr/>
        </p:nvSpPr>
        <p:spPr>
          <a:xfrm>
            <a:off x="2951855" y="5065280"/>
            <a:ext cx="26634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1200" dirty="0"/>
              <a:t>GCN (Kipf &amp; Welling ICLR 2017)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359234660"/>
      </p:ext>
    </p:extLst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絲縷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絲縷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絲縷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802</TotalTime>
  <Words>495</Words>
  <Application>Microsoft Office PowerPoint</Application>
  <PresentationFormat>寬螢幕</PresentationFormat>
  <Paragraphs>133</Paragraphs>
  <Slides>12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Aptos</vt:lpstr>
      <vt:lpstr>Arial</vt:lpstr>
      <vt:lpstr>Century Gothic</vt:lpstr>
      <vt:lpstr>Wingdings 2</vt:lpstr>
      <vt:lpstr>Wingdings 3</vt:lpstr>
      <vt:lpstr>絲縷</vt:lpstr>
      <vt:lpstr>Research Progress and Future Work </vt:lpstr>
      <vt:lpstr>Aims</vt:lpstr>
      <vt:lpstr>Aim 1</vt:lpstr>
      <vt:lpstr>Literature Review   </vt:lpstr>
      <vt:lpstr>Analysis process</vt:lpstr>
      <vt:lpstr>Current results(RF) </vt:lpstr>
      <vt:lpstr>Literature Review </vt:lpstr>
      <vt:lpstr>Aim 2</vt:lpstr>
      <vt:lpstr>Literature Review   </vt:lpstr>
      <vt:lpstr>Preliminary Data Exploration</vt:lpstr>
      <vt:lpstr>Preliminary Data Exploration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俊延 賴</dc:creator>
  <cp:lastModifiedBy>俊延 賴</cp:lastModifiedBy>
  <cp:revision>18</cp:revision>
  <dcterms:created xsi:type="dcterms:W3CDTF">2026-07-22T01:16:54Z</dcterms:created>
  <dcterms:modified xsi:type="dcterms:W3CDTF">2026-07-26T05:05:28Z</dcterms:modified>
</cp:coreProperties>
</file>