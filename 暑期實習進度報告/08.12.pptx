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71" r:id="rId3"/>
    <p:sldId id="277" r:id="rId4"/>
    <p:sldId id="279" r:id="rId5"/>
    <p:sldId id="280" r:id="rId6"/>
    <p:sldId id="290" r:id="rId7"/>
    <p:sldId id="291" r:id="rId8"/>
    <p:sldId id="292" r:id="rId9"/>
    <p:sldId id="293" r:id="rId10"/>
    <p:sldId id="294" r:id="rId11"/>
    <p:sldId id="281" r:id="rId12"/>
    <p:sldId id="278" r:id="rId13"/>
    <p:sldId id="282" r:id="rId14"/>
    <p:sldId id="283" r:id="rId15"/>
    <p:sldId id="296" r:id="rId16"/>
    <p:sldId id="284" r:id="rId17"/>
    <p:sldId id="285" r:id="rId18"/>
    <p:sldId id="286" r:id="rId19"/>
    <p:sldId id="287" r:id="rId20"/>
    <p:sldId id="288" r:id="rId21"/>
    <p:sldId id="298" r:id="rId22"/>
    <p:sldId id="28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679" autoAdjust="0"/>
  </p:normalViewPr>
  <p:slideViewPr>
    <p:cSldViewPr snapToGrid="0">
      <p:cViewPr varScale="1">
        <p:scale>
          <a:sx n="94" d="100"/>
          <a:sy n="94" d="100"/>
        </p:scale>
        <p:origin x="66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4B67A6-86C8-4AEC-8A8F-6C2F464F56C5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07B5DF-8346-47E0-A838-EF3629E0D1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5122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Enrichment</a:t>
            </a:r>
            <a:r>
              <a:rPr lang="zh-TW" altLang="en-US" dirty="0"/>
              <a:t>要做的多詳細</a:t>
            </a:r>
            <a:r>
              <a:rPr lang="en-US" altLang="zh-TW"/>
              <a:t>?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2751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3E328-4459-A1F4-03BD-9F6D8262F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4962641-271D-3C14-FF22-B4ED546675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B4CED2C-4B80-3E12-8322-0AD4AABA6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Gene </a:t>
            </a:r>
            <a:r>
              <a:rPr lang="zh-TW" altLang="en-US" dirty="0"/>
              <a:t>沒有變異挑出來</a:t>
            </a:r>
            <a:endParaRPr lang="en-US" altLang="zh-TW" dirty="0"/>
          </a:p>
          <a:p>
            <a:r>
              <a:rPr lang="zh-TW" altLang="en-US" dirty="0"/>
              <a:t>做不同的定義</a:t>
            </a:r>
            <a:r>
              <a:rPr lang="en-US" altLang="zh-TW" dirty="0"/>
              <a:t>(</a:t>
            </a:r>
            <a:r>
              <a:rPr lang="zh-TW" altLang="en-US" dirty="0"/>
              <a:t> 看是不是真的不一樣</a:t>
            </a:r>
            <a:r>
              <a:rPr lang="en-US" altLang="zh-TW" dirty="0"/>
              <a:t>)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A70005F-EA42-EB8D-DCAB-D8A98EC0D7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64739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6CBA1-F942-236E-5D6C-79157F4F1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CE7801A-9818-71CC-051B-E29E88DEE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016F51E-6C89-CA77-309C-42CE1364D7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Shapley </a:t>
            </a:r>
            <a:r>
              <a:rPr lang="zh-TW" altLang="en-US" dirty="0"/>
              <a:t>的分布 找斷點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6986DA-6C17-3E6D-9BF9-056ECB1F9E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6655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1CEC0-B9E3-A6F3-9EED-29B321258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A8F6F54-075F-0F23-A310-51B4A5B98D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6AAFE5C-E0DF-713A-9025-57B162649C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071FCA8-A2C5-9EB0-EE04-F5CAFF287D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9461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D9CAD-7FD4-7472-A26A-D90BF8BE2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18A63EA-1A93-9DC1-174B-C73325513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2A14577-CBE1-B818-8C36-104334E22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39A4DF8-BE13-DCC6-0A5B-B84A7F56C1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77017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02471-60CA-DFD0-2CC2-A293A114D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7284B34-CC5E-2094-3CD6-87280083E8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D184A0D-74AA-7CDF-4A2B-46FE20E58D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不一定要參考</a:t>
            </a:r>
            <a:r>
              <a:rPr lang="en-US" altLang="zh-TW" dirty="0"/>
              <a:t>scale free</a:t>
            </a:r>
            <a:r>
              <a:rPr lang="zh-TW" altLang="en-US" dirty="0"/>
              <a:t>，可以參考商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用文氏圖去找交集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8EB0B9D-C774-FF16-A0FF-D1BE4B1333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93185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Image source : </a:t>
            </a:r>
            <a:r>
              <a:rPr lang="en-US" altLang="zh-TW" dirty="0" err="1"/>
              <a:t>pngtree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Cell type </a:t>
            </a:r>
            <a:r>
              <a:rPr lang="zh-TW" altLang="en-US" dirty="0"/>
              <a:t>不完整 </a:t>
            </a:r>
            <a:r>
              <a:rPr lang="zh-TW" altLang="en-US" dirty="0">
                <a:sym typeface="Wingdings 2" panose="05020102010507070707" pitchFamily="18" charset="2"/>
              </a:rPr>
              <a:t></a:t>
            </a:r>
            <a:endParaRPr lang="en-US" altLang="zh-TW" dirty="0"/>
          </a:p>
          <a:p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看一下</a:t>
            </a:r>
            <a:r>
              <a:rPr lang="en-US" altLang="zh-TW" dirty="0"/>
              <a:t>mock</a:t>
            </a:r>
            <a:r>
              <a:rPr lang="zh-TW" altLang="en-US" dirty="0"/>
              <a:t>的</a:t>
            </a:r>
            <a:r>
              <a:rPr lang="en-US" altLang="zh-TW" dirty="0" err="1"/>
              <a:t>vt</a:t>
            </a:r>
            <a:r>
              <a:rPr lang="en-US" altLang="zh-TW" dirty="0"/>
              <a:t> distribution</a:t>
            </a:r>
            <a:r>
              <a:rPr lang="zh-TW" altLang="en-US" dirty="0"/>
              <a:t> </a:t>
            </a:r>
            <a:r>
              <a:rPr lang="zh-TW" altLang="en-US" dirty="0">
                <a:sym typeface="Wingdings 2" panose="05020102010507070707" pitchFamily="18" charset="2"/>
              </a:rPr>
              <a:t></a:t>
            </a:r>
            <a:endParaRPr lang="en-US" altLang="zh-TW" dirty="0"/>
          </a:p>
          <a:p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1dpi</a:t>
            </a:r>
            <a:r>
              <a:rPr lang="zh-TW" altLang="en-US" dirty="0"/>
              <a:t> </a:t>
            </a:r>
            <a:r>
              <a:rPr lang="en-US" altLang="zh-TW" dirty="0" err="1"/>
              <a:t>vt</a:t>
            </a:r>
            <a:r>
              <a:rPr lang="en-US" altLang="zh-TW" dirty="0"/>
              <a:t> = 0</a:t>
            </a:r>
            <a:r>
              <a:rPr lang="zh-TW" altLang="en-US" dirty="0"/>
              <a:t> 當作</a:t>
            </a:r>
            <a:r>
              <a:rPr lang="en-US" altLang="zh-TW" dirty="0"/>
              <a:t>healthy</a:t>
            </a:r>
            <a:r>
              <a:rPr lang="zh-TW" altLang="en-US" dirty="0"/>
              <a:t> </a:t>
            </a:r>
            <a:r>
              <a:rPr lang="zh-TW" altLang="en-US" dirty="0">
                <a:sym typeface="Wingdings 2" panose="05020102010507070707" pitchFamily="18" charset="2"/>
              </a:rPr>
              <a:t>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65880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B1B38-0FF6-FB90-4E82-3F58D4BAF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D1E4E92-96CF-F055-5187-BA3F3DA35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1014472-CE65-80BC-818C-C8BBFD589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Image source : </a:t>
            </a:r>
            <a:r>
              <a:rPr lang="en-US" altLang="zh-TW" dirty="0" err="1"/>
              <a:t>pngtree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Cell type </a:t>
            </a:r>
            <a:r>
              <a:rPr lang="zh-TW" altLang="en-US" dirty="0"/>
              <a:t>不完整 </a:t>
            </a:r>
            <a:r>
              <a:rPr lang="zh-TW" altLang="en-US" dirty="0">
                <a:sym typeface="Wingdings 2" panose="05020102010507070707" pitchFamily="18" charset="2"/>
              </a:rPr>
              <a:t></a:t>
            </a:r>
            <a:endParaRPr lang="en-US" altLang="zh-TW" dirty="0"/>
          </a:p>
          <a:p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看一下</a:t>
            </a:r>
            <a:r>
              <a:rPr lang="en-US" altLang="zh-TW" dirty="0"/>
              <a:t>mock</a:t>
            </a:r>
            <a:r>
              <a:rPr lang="zh-TW" altLang="en-US" dirty="0"/>
              <a:t>的</a:t>
            </a:r>
            <a:r>
              <a:rPr lang="en-US" altLang="zh-TW" dirty="0" err="1"/>
              <a:t>vt</a:t>
            </a:r>
            <a:r>
              <a:rPr lang="en-US" altLang="zh-TW" dirty="0"/>
              <a:t> distribution</a:t>
            </a:r>
            <a:r>
              <a:rPr lang="zh-TW" altLang="en-US" dirty="0"/>
              <a:t> </a:t>
            </a:r>
            <a:r>
              <a:rPr lang="zh-TW" altLang="en-US" dirty="0">
                <a:sym typeface="Wingdings 2" panose="05020102010507070707" pitchFamily="18" charset="2"/>
              </a:rPr>
              <a:t></a:t>
            </a:r>
            <a:endParaRPr lang="en-US" altLang="zh-TW" dirty="0"/>
          </a:p>
          <a:p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1dpi</a:t>
            </a:r>
            <a:r>
              <a:rPr lang="zh-TW" altLang="en-US" dirty="0"/>
              <a:t> </a:t>
            </a:r>
            <a:r>
              <a:rPr lang="en-US" altLang="zh-TW" dirty="0" err="1"/>
              <a:t>vt</a:t>
            </a:r>
            <a:r>
              <a:rPr lang="en-US" altLang="zh-TW" dirty="0"/>
              <a:t> = 0</a:t>
            </a:r>
            <a:r>
              <a:rPr lang="zh-TW" altLang="en-US" dirty="0"/>
              <a:t> 當作</a:t>
            </a:r>
            <a:r>
              <a:rPr lang="en-US" altLang="zh-TW" dirty="0"/>
              <a:t>healthy</a:t>
            </a:r>
            <a:r>
              <a:rPr lang="zh-TW" altLang="en-US" dirty="0"/>
              <a:t> </a:t>
            </a:r>
            <a:r>
              <a:rPr lang="zh-TW" altLang="en-US" dirty="0">
                <a:sym typeface="Wingdings 2" panose="05020102010507070707" pitchFamily="18" charset="2"/>
              </a:rPr>
              <a:t>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C74557B-7977-91EA-BA2C-084693F7E0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507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8EEF1-7FF7-CAD0-BCA0-6E9B79BC6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5188187-7DDB-9D11-6316-C309A32AE0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26B72CA-F1E0-DB97-6F17-323DFA375F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確認</a:t>
            </a:r>
            <a:r>
              <a:rPr lang="en-US" altLang="zh-TW" dirty="0"/>
              <a:t>3000</a:t>
            </a:r>
            <a:r>
              <a:rPr lang="zh-TW" altLang="en-US" dirty="0"/>
              <a:t>個基因是不是都有包含</a:t>
            </a:r>
            <a:r>
              <a:rPr lang="en-US" altLang="zh-TW" dirty="0"/>
              <a:t>virus</a:t>
            </a:r>
            <a:r>
              <a:rPr lang="zh-TW" altLang="en-US" dirty="0"/>
              <a:t> </a:t>
            </a:r>
            <a:r>
              <a:rPr lang="en-US" altLang="zh-TW" dirty="0"/>
              <a:t>gene(</a:t>
            </a:r>
            <a:r>
              <a:rPr lang="zh-TW" altLang="en-US" dirty="0"/>
              <a:t>可能有</a:t>
            </a:r>
            <a:r>
              <a:rPr lang="en-US" altLang="zh-TW" dirty="0"/>
              <a:t>confounding)(</a:t>
            </a:r>
            <a:r>
              <a:rPr lang="zh-TW" altLang="en-US" dirty="0"/>
              <a:t>不太確定 原始檔案沒有基因的</a:t>
            </a:r>
            <a:r>
              <a:rPr lang="en-US" altLang="zh-TW" dirty="0"/>
              <a:t>annotation)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64F19F-8B41-7593-BA6F-9A88D5ED76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77479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49406-37CA-6E7B-D581-57CC5FB3B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93AB5CA-0137-45F1-81CF-85F00280D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47A9DDC-D6B0-5095-0B8D-49085CC67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other ml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15A1DEA-664C-6A37-6388-41DE57A5DC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76897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59094-BCD1-F2C8-FA17-337C76FBA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32C5334-BFC3-E298-70CD-C7F66BCA3C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ACBDD09-E185-9502-1A95-25912008B4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FC605E-38F3-0E44-C121-8BECD5091F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99610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B6ECE-5C6A-6721-E9D5-CB7DBE368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DAB81D8-A9BC-4E6D-D54F-36B7ECD3C0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40BFA59-72D0-CE91-D0BF-6A7A99F5BE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513709-FD3E-B98B-0F38-EA03ED8C5A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43849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92E4E-CC2F-B7BC-E2C3-537075075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0903697-284E-B2B5-B2CF-CADE065F6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B369AB4-153B-1C4A-773D-2A3CAA200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1</a:t>
            </a:r>
            <a:r>
              <a:rPr lang="zh-TW" altLang="en-US" dirty="0"/>
              <a:t> </a:t>
            </a:r>
            <a:r>
              <a:rPr lang="en-US" altLang="zh-TW" dirty="0"/>
              <a:t>~</a:t>
            </a:r>
            <a:r>
              <a:rPr lang="zh-TW" altLang="en-US" dirty="0"/>
              <a:t> </a:t>
            </a:r>
            <a:r>
              <a:rPr lang="en-US" altLang="zh-TW" dirty="0"/>
              <a:t>9</a:t>
            </a:r>
            <a:r>
              <a:rPr lang="zh-TW" altLang="en-US" dirty="0"/>
              <a:t>要去看生物意義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44FBCA3-B611-8C83-0084-E5163C1461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28405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78BCF-A969-8E73-D287-0274B5377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7928AD2-8DEF-7D55-337F-DCBC80310D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4413B7A-6E9C-D2B0-001A-78E2B323DB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為什麼判斷完的</a:t>
            </a:r>
            <a:r>
              <a:rPr lang="en-US" altLang="zh-TW" dirty="0"/>
              <a:t>infection</a:t>
            </a:r>
            <a:r>
              <a:rPr lang="zh-TW" altLang="en-US" dirty="0"/>
              <a:t>比例會那麼高，訓練前後每個</a:t>
            </a:r>
            <a:r>
              <a:rPr lang="en-US" altLang="zh-TW" dirty="0"/>
              <a:t>cell type</a:t>
            </a:r>
            <a:r>
              <a:rPr lang="zh-TW" altLang="en-US"/>
              <a:t>在感染上都大幅提升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73CA354-90FB-D357-F995-D803ECFEFA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7932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7C305-5696-4A7F-86AE-9C076744B4EA}" type="datetime1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6819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50FA-4614-4BF5-8794-75F97A0B2544}" type="datetime1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9890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336E6-5EE0-4A71-81C3-454B5C7B8BFB}" type="datetime1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7079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7ED53-FC9D-48CB-AA63-3CC0B044F3C0}" type="datetime1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9202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D8557-2EF5-4AB0-8FDE-59BF801865CC}" type="datetime1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3214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BEE1F-4E42-4556-91FB-8362A0311142}" type="datetime1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7133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9E288-AC8B-4B62-B049-7671F3A2DFF0}" type="datetime1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7810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82A0F-D946-4FC0-8D63-AF5246A679AE}" type="datetime1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3026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BBE9F-1777-4CD2-896A-5CE0FA3014FF}" type="datetime1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224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432D5-B03D-4717-A904-795F862C1E5D}" type="datetime1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1225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5C8B2-1CA8-4214-9C14-3CAA749726CE}" type="datetime1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41247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A667E-6D94-4A33-B267-6660FFC03615}" type="datetime1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44987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2C43B-7B97-41B4-A0D9-48858736EFA4}" type="datetime1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76489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EF5B8-0A25-46D3-80D8-0863E07A873E}" type="datetime1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9607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5B9F2-24E4-479E-A18C-BF8EB1ED4286}" type="datetime1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7112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E6E13-70FA-486A-9C9C-12B2AF2AEAF1}" type="datetime1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2653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4D7AFE-6A4C-47D2-A958-3F76A70AFF87}" type="datetime1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1018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2427F2-A2B9-864E-785A-93A31EB6FF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TW" altLang="zh-TW" dirty="0"/>
              <a:t>Research Progress and Future Work</a:t>
            </a:r>
            <a:br>
              <a:rPr lang="zh-TW" altLang="zh-TW" dirty="0"/>
            </a:b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D3CD96D-FA25-F806-372C-F4EF862075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08.12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B4FE53C-9997-536E-CA11-C15CC9227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4449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D50D6A-9F9B-15A5-0DDF-16CE3A303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Aims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C8D8B10-28F2-1223-9B31-546963343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Aim 1:</a:t>
            </a:r>
          </a:p>
          <a:p>
            <a:pPr marL="400050" lvl="1" indent="0">
              <a:buNone/>
            </a:pPr>
            <a:r>
              <a:rPr lang="zh-TW" altLang="zh-TW" dirty="0"/>
              <a:t>After excluding non-coding genes, re-run the enrichment analysis.</a:t>
            </a:r>
          </a:p>
          <a:p>
            <a:pPr marL="400050" lvl="1" indent="0">
              <a:buNone/>
            </a:pPr>
            <a:endParaRPr lang="en-US" altLang="zh-TW" dirty="0"/>
          </a:p>
          <a:p>
            <a:r>
              <a:rPr lang="en-US" altLang="zh-TW" dirty="0"/>
              <a:t>Aim 2:</a:t>
            </a:r>
          </a:p>
          <a:p>
            <a:pPr marL="400050" lvl="1" indent="0">
              <a:buNone/>
            </a:pPr>
            <a:r>
              <a:rPr lang="zh-TW" altLang="zh-TW" dirty="0"/>
              <a:t>Predict unknown cell</a:t>
            </a:r>
            <a:r>
              <a:rPr lang="en-US" altLang="zh-TW" dirty="0"/>
              <a:t>s</a:t>
            </a:r>
            <a:r>
              <a:rPr lang="zh-TW" altLang="zh-TW" dirty="0"/>
              <a:t> using existing gene expression data and some known cell labels.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15FDA7D-6860-0C75-D811-F1A62E7E6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3988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79DB2-3C9B-17AA-939E-B22AF460F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870039-7B31-EC98-5F09-FF9681AE73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2660" y="1318591"/>
            <a:ext cx="2772372" cy="4220820"/>
          </a:xfrm>
        </p:spPr>
        <p:txBody>
          <a:bodyPr anchor="ctr">
            <a:normAutofit/>
          </a:bodyPr>
          <a:lstStyle/>
          <a:p>
            <a:pPr algn="r"/>
            <a:r>
              <a:rPr lang="en-US" altLang="zh-TW" sz="6600" dirty="0">
                <a:solidFill>
                  <a:schemeClr val="tx2">
                    <a:lumMod val="75000"/>
                  </a:schemeClr>
                </a:solidFill>
              </a:rPr>
              <a:t>Aim 1</a:t>
            </a:r>
            <a:endParaRPr lang="zh-TW" altLang="en-US" sz="66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EB051F4-8DF7-9898-A05F-CA2C15D81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6593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C6512-6B39-7388-2945-E867EC8CF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1846E5-086A-8754-D08B-8718A5CB1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Immune gene list enrichment analysis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03B4F4-02C9-6357-165B-D0BCCC0D5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GSEA:</a:t>
            </a:r>
          </a:p>
          <a:p>
            <a:pPr marL="400050" lvl="1" indent="0">
              <a:buNone/>
            </a:pPr>
            <a:r>
              <a:rPr lang="zh-TW" altLang="zh-TW" dirty="0"/>
              <a:t>ORA has issues related to gene</a:t>
            </a:r>
            <a:r>
              <a:rPr lang="en-US" altLang="zh-TW" dirty="0"/>
              <a:t> list</a:t>
            </a:r>
            <a:r>
              <a:rPr lang="zh-TW" altLang="zh-TW" dirty="0"/>
              <a:t> background, so GSEA is used for the analysis instead.</a:t>
            </a:r>
          </a:p>
          <a:p>
            <a:endParaRPr lang="en-US" altLang="zh-TW" dirty="0"/>
          </a:p>
          <a:p>
            <a:r>
              <a:rPr lang="en-US" altLang="zh-TW" dirty="0"/>
              <a:t>Results:</a:t>
            </a:r>
          </a:p>
          <a:p>
            <a:pPr marL="400050" lvl="1" indent="0">
              <a:buNone/>
            </a:pPr>
            <a:r>
              <a:rPr lang="zh-TW" altLang="zh-TW" dirty="0"/>
              <a:t>Enrichment analysis was performed only for the RF model; for XGBoost, the majority of SHAP values ​​were zero, resulting in a gene list too small to yield reliable enrichment analysis results.</a:t>
            </a:r>
          </a:p>
          <a:p>
            <a:pPr marL="400050" lvl="1" indent="0">
              <a:buNone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F3BB889-33C5-A2E5-2920-285155FF1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15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69655-6B49-6E97-865F-6F216CBA7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0D26CB-FFCF-7079-7D51-0DB24B065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Results of enrichment analysis(RF only)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6908EF-0B73-736A-8635-C1ED8B85E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5</a:t>
            </a:fld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CD856D9-B0ED-D960-2D63-5CFC4E3349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436626"/>
              </p:ext>
            </p:extLst>
          </p:nvPr>
        </p:nvGraphicFramePr>
        <p:xfrm>
          <a:off x="2049729" y="1720893"/>
          <a:ext cx="9107181" cy="4071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909">
                  <a:extLst>
                    <a:ext uri="{9D8B030D-6E8A-4147-A177-3AD203B41FA5}">
                      <a16:colId xmlns:a16="http://schemas.microsoft.com/office/drawing/2014/main" val="2341172823"/>
                    </a:ext>
                  </a:extLst>
                </a:gridCol>
                <a:gridCol w="1011909">
                  <a:extLst>
                    <a:ext uri="{9D8B030D-6E8A-4147-A177-3AD203B41FA5}">
                      <a16:colId xmlns:a16="http://schemas.microsoft.com/office/drawing/2014/main" val="3583683660"/>
                    </a:ext>
                  </a:extLst>
                </a:gridCol>
                <a:gridCol w="1011909">
                  <a:extLst>
                    <a:ext uri="{9D8B030D-6E8A-4147-A177-3AD203B41FA5}">
                      <a16:colId xmlns:a16="http://schemas.microsoft.com/office/drawing/2014/main" val="3426586895"/>
                    </a:ext>
                  </a:extLst>
                </a:gridCol>
                <a:gridCol w="1011909">
                  <a:extLst>
                    <a:ext uri="{9D8B030D-6E8A-4147-A177-3AD203B41FA5}">
                      <a16:colId xmlns:a16="http://schemas.microsoft.com/office/drawing/2014/main" val="881877480"/>
                    </a:ext>
                  </a:extLst>
                </a:gridCol>
                <a:gridCol w="1011909">
                  <a:extLst>
                    <a:ext uri="{9D8B030D-6E8A-4147-A177-3AD203B41FA5}">
                      <a16:colId xmlns:a16="http://schemas.microsoft.com/office/drawing/2014/main" val="3102894976"/>
                    </a:ext>
                  </a:extLst>
                </a:gridCol>
                <a:gridCol w="1011909">
                  <a:extLst>
                    <a:ext uri="{9D8B030D-6E8A-4147-A177-3AD203B41FA5}">
                      <a16:colId xmlns:a16="http://schemas.microsoft.com/office/drawing/2014/main" val="871233268"/>
                    </a:ext>
                  </a:extLst>
                </a:gridCol>
                <a:gridCol w="1011909">
                  <a:extLst>
                    <a:ext uri="{9D8B030D-6E8A-4147-A177-3AD203B41FA5}">
                      <a16:colId xmlns:a16="http://schemas.microsoft.com/office/drawing/2014/main" val="3836922239"/>
                    </a:ext>
                  </a:extLst>
                </a:gridCol>
                <a:gridCol w="1011909">
                  <a:extLst>
                    <a:ext uri="{9D8B030D-6E8A-4147-A177-3AD203B41FA5}">
                      <a16:colId xmlns:a16="http://schemas.microsoft.com/office/drawing/2014/main" val="635051631"/>
                    </a:ext>
                  </a:extLst>
                </a:gridCol>
                <a:gridCol w="1011909">
                  <a:extLst>
                    <a:ext uri="{9D8B030D-6E8A-4147-A177-3AD203B41FA5}">
                      <a16:colId xmlns:a16="http://schemas.microsoft.com/office/drawing/2014/main" val="582826549"/>
                    </a:ext>
                  </a:extLst>
                </a:gridCol>
              </a:tblGrid>
              <a:tr h="731752">
                <a:tc>
                  <a:txBody>
                    <a:bodyPr/>
                    <a:lstStyle/>
                    <a:p>
                      <a:pPr algn="ctr"/>
                      <a:endParaRPr lang="zh-TW" altLang="en-US" sz="6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 err="1"/>
                        <a:t>Alphaviridae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 err="1"/>
                        <a:t>Coronaviridae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/>
                        <a:t>Flaviviridae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 err="1"/>
                        <a:t>Orthoherpesviridae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/>
                        <a:t>Orthomyxoviridae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 err="1"/>
                        <a:t>Picornaviridae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/>
                        <a:t>Reoviridae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 err="1"/>
                        <a:t>Retroviridae</a:t>
                      </a:r>
                      <a:endParaRPr lang="zh-TW" altLang="en-US" sz="9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3311088"/>
                  </a:ext>
                </a:extLst>
              </a:tr>
              <a:tr h="6678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/>
                        <a:t>KEGG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solidFill>
                            <a:srgbClr val="FF0000"/>
                          </a:solidFill>
                          <a:sym typeface="Wingdings 2" panose="05020102010507070707" pitchFamily="18" charset="2"/>
                        </a:rPr>
                        <a:t>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dirty="0">
                          <a:solidFill>
                            <a:srgbClr val="FF0000"/>
                          </a:solidFill>
                          <a:sym typeface="Wingdings 2" panose="05020102010507070707" pitchFamily="18" charset="2"/>
                        </a:rPr>
                        <a:t>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rgbClr val="00B0F0"/>
                          </a:solidFill>
                          <a:sym typeface="Wingdings 2" panose="05020102010507070707" pitchFamily="18" charset="2"/>
                        </a:rPr>
                        <a:t></a:t>
                      </a:r>
                      <a:endParaRPr lang="zh-TW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2223638"/>
                  </a:ext>
                </a:extLst>
              </a:tr>
              <a:tr h="6678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 err="1"/>
                        <a:t>Reactome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dirty="0">
                          <a:solidFill>
                            <a:srgbClr val="FF0000"/>
                          </a:solidFill>
                          <a:sym typeface="Wingdings 2" panose="05020102010507070707" pitchFamily="18" charset="2"/>
                        </a:rPr>
                        <a:t>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1097473"/>
                  </a:ext>
                </a:extLst>
              </a:tr>
              <a:tr h="6678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/>
                        <a:t>GO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rgbClr val="00B0F0"/>
                          </a:solidFill>
                          <a:sym typeface="Wingdings 2" panose="05020102010507070707" pitchFamily="18" charset="2"/>
                        </a:rPr>
                        <a:t></a:t>
                      </a:r>
                      <a:endParaRPr lang="zh-TW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rgbClr val="00B0F0"/>
                          </a:solidFill>
                          <a:sym typeface="Wingdings 2" panose="05020102010507070707" pitchFamily="18" charset="2"/>
                        </a:rPr>
                        <a:t></a:t>
                      </a:r>
                      <a:endParaRPr lang="zh-TW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7833258"/>
                  </a:ext>
                </a:extLst>
              </a:tr>
              <a:tr h="6678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 err="1"/>
                        <a:t>MSigDB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dirty="0">
                          <a:solidFill>
                            <a:srgbClr val="FF0000"/>
                          </a:solidFill>
                          <a:sym typeface="Wingdings 2" panose="05020102010507070707" pitchFamily="18" charset="2"/>
                        </a:rPr>
                        <a:t>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dirty="0">
                          <a:solidFill>
                            <a:srgbClr val="FF0000"/>
                          </a:solidFill>
                          <a:sym typeface="Wingdings 2" panose="05020102010507070707" pitchFamily="18" charset="2"/>
                        </a:rPr>
                        <a:t>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dirty="0">
                          <a:solidFill>
                            <a:srgbClr val="FF0000"/>
                          </a:solidFill>
                          <a:sym typeface="Wingdings 2" panose="05020102010507070707" pitchFamily="18" charset="2"/>
                        </a:rPr>
                        <a:t>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0509392"/>
                  </a:ext>
                </a:extLst>
              </a:tr>
              <a:tr h="6678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 err="1"/>
                        <a:t>WikiPathways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dirty="0">
                          <a:solidFill>
                            <a:srgbClr val="FF0000"/>
                          </a:solidFill>
                          <a:sym typeface="Wingdings 2" panose="05020102010507070707" pitchFamily="18" charset="2"/>
                        </a:rPr>
                        <a:t>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rgbClr val="00B0F0"/>
                          </a:solidFill>
                          <a:sym typeface="Wingdings 2" panose="05020102010507070707" pitchFamily="18" charset="2"/>
                        </a:rPr>
                        <a:t></a:t>
                      </a:r>
                      <a:endParaRPr lang="zh-TW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rgbClr val="00B0F0"/>
                          </a:solidFill>
                          <a:sym typeface="Wingdings 2" panose="05020102010507070707" pitchFamily="18" charset="2"/>
                        </a:rPr>
                        <a:t></a:t>
                      </a:r>
                      <a:endParaRPr lang="zh-TW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6349636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256B9C9F-0E1F-0B71-5C16-604A216B1E40}"/>
              </a:ext>
            </a:extLst>
          </p:cNvPr>
          <p:cNvSpPr txBox="1"/>
          <p:nvPr/>
        </p:nvSpPr>
        <p:spPr>
          <a:xfrm>
            <a:off x="5486401" y="6001901"/>
            <a:ext cx="57871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* </a:t>
            </a:r>
            <a:r>
              <a:rPr lang="zh-TW" altLang="zh-TW" sz="1600" dirty="0"/>
              <a:t>The significance level is set at 0.25, which is very lenient</a:t>
            </a:r>
            <a:r>
              <a:rPr lang="en-US" altLang="zh-TW" sz="1600" dirty="0"/>
              <a:t>.</a:t>
            </a:r>
            <a:endParaRPr lang="zh-TW" altLang="zh-TW" sz="160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3074970-A77A-E9B1-97AC-B6B632B23A96}"/>
              </a:ext>
            </a:extLst>
          </p:cNvPr>
          <p:cNvSpPr txBox="1"/>
          <p:nvPr/>
        </p:nvSpPr>
        <p:spPr>
          <a:xfrm>
            <a:off x="8502692" y="6340455"/>
            <a:ext cx="27708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/>
              <a:t>(</a:t>
            </a:r>
            <a:r>
              <a:rPr lang="zh-TW" altLang="zh-TW" sz="1600" dirty="0"/>
              <a:t>Subramanian</a:t>
            </a:r>
            <a:r>
              <a:rPr lang="en-US" altLang="zh-TW" sz="1600" dirty="0"/>
              <a:t> et al., 2005)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843355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4EF6A-74B1-0138-A5DF-20C6E9541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04544D-22CF-96CC-16AA-0B0465370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WGCNA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BC217A-6806-5F32-37DD-3AA73E067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9AC9C493-2831-9579-FEB7-C11A0328A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0667" y="1814947"/>
            <a:ext cx="8915400" cy="2320636"/>
          </a:xfrm>
        </p:spPr>
        <p:txBody>
          <a:bodyPr/>
          <a:lstStyle/>
          <a:p>
            <a:r>
              <a:rPr lang="zh-TW" altLang="zh-TW" dirty="0"/>
              <a:t>Purpose</a:t>
            </a:r>
            <a:r>
              <a:rPr lang="en-US" altLang="zh-TW" dirty="0"/>
              <a:t>:</a:t>
            </a:r>
          </a:p>
          <a:p>
            <a:pPr marL="400050" lvl="1" indent="0">
              <a:buNone/>
            </a:pPr>
            <a:r>
              <a:rPr lang="zh-TW" altLang="zh-TW" dirty="0"/>
              <a:t>Observe whether gene network relationships differ depending on the viral infection.</a:t>
            </a:r>
          </a:p>
          <a:p>
            <a:endParaRPr lang="en-US" altLang="zh-TW" dirty="0"/>
          </a:p>
          <a:p>
            <a:r>
              <a:rPr lang="zh-TW" altLang="zh-TW" dirty="0"/>
              <a:t>Methods for selecting genes</a:t>
            </a:r>
            <a:r>
              <a:rPr lang="en-US" altLang="zh-TW" dirty="0"/>
              <a:t>:</a:t>
            </a:r>
          </a:p>
          <a:p>
            <a:pPr marL="400050" lvl="1" indent="0">
              <a:buNone/>
            </a:pPr>
            <a:r>
              <a:rPr lang="zh-TW" altLang="zh-TW" dirty="0"/>
              <a:t>Using the Shapley genes common to the eight viral families, any gene showing no variation in at least one viral family is excluded.</a:t>
            </a:r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CCA0F939-8A89-4F21-0E9E-0B6787766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667" y="4452950"/>
            <a:ext cx="3908470" cy="178094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8D6D1E4F-307A-08CA-78E2-2D5A3AD2C0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2204" y="4843494"/>
            <a:ext cx="3252592" cy="1098277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E889BDBA-369F-9B83-DDFC-9B0C8A7723FE}"/>
              </a:ext>
            </a:extLst>
          </p:cNvPr>
          <p:cNvSpPr txBox="1"/>
          <p:nvPr/>
        </p:nvSpPr>
        <p:spPr>
          <a:xfrm>
            <a:off x="7512204" y="6330464"/>
            <a:ext cx="37128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dirty="0"/>
              <a:t>WGCNA (Langfelder &amp; Horvath BMC Bioinf 2008) </a:t>
            </a:r>
            <a:endParaRPr lang="en-US" altLang="zh-TW" sz="12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4E3871BE-E402-3C49-00B8-BAEEF8605B85}"/>
              </a:ext>
            </a:extLst>
          </p:cNvPr>
          <p:cNvSpPr txBox="1"/>
          <p:nvPr/>
        </p:nvSpPr>
        <p:spPr>
          <a:xfrm>
            <a:off x="7186757" y="179773"/>
            <a:ext cx="4667060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zh-TW" dirty="0"/>
              <a:t>Done after the discussion on August 6th</a:t>
            </a:r>
          </a:p>
        </p:txBody>
      </p:sp>
    </p:spTree>
    <p:extLst>
      <p:ext uri="{BB962C8B-B14F-4D97-AF65-F5344CB8AC3E}">
        <p14:creationId xmlns:p14="http://schemas.microsoft.com/office/powerpoint/2010/main" val="1455149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CE8CC-9CD5-8AF1-DAD4-044D86E2A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2320B0-E3BF-A308-80D9-F9CA9580F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The Concept of WGCNA</a:t>
            </a:r>
            <a:br>
              <a:rPr lang="zh-TW" altLang="zh-TW" dirty="0"/>
            </a:b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A57C59-B911-2EC8-95B5-889F1FA02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C0965C25-D2CC-0690-C497-68F1C07EE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906" y="1905000"/>
            <a:ext cx="4046336" cy="3996381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91702251-C2F7-0AEA-9C19-A06AA8A277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768" y="1905000"/>
            <a:ext cx="3977167" cy="3996381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CAA78A4B-DF91-EACD-828D-4AC2763754DD}"/>
              </a:ext>
            </a:extLst>
          </p:cNvPr>
          <p:cNvSpPr txBox="1"/>
          <p:nvPr/>
        </p:nvSpPr>
        <p:spPr>
          <a:xfrm>
            <a:off x="7313103" y="6178064"/>
            <a:ext cx="37128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dirty="0"/>
              <a:t>WGCNA (Langfelder &amp; Horvath BMC Bioinf 2008) </a:t>
            </a:r>
            <a:endParaRPr lang="en-US" altLang="zh-TW" sz="12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A18E352-054D-FBCB-93F1-B4FFB21B92C9}"/>
              </a:ext>
            </a:extLst>
          </p:cNvPr>
          <p:cNvSpPr txBox="1"/>
          <p:nvPr/>
        </p:nvSpPr>
        <p:spPr>
          <a:xfrm>
            <a:off x="7186757" y="179773"/>
            <a:ext cx="4667060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zh-TW" dirty="0"/>
              <a:t>Done after the discussion on August 6th</a:t>
            </a:r>
          </a:p>
        </p:txBody>
      </p:sp>
    </p:spTree>
    <p:extLst>
      <p:ext uri="{BB962C8B-B14F-4D97-AF65-F5344CB8AC3E}">
        <p14:creationId xmlns:p14="http://schemas.microsoft.com/office/powerpoint/2010/main" val="3915869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B68DD-ED9D-8456-099D-55238B27D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88C601-BA53-2B29-D922-C7D5EC44B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Data used for WGCNA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4A8066-1B1B-D476-42F9-403958718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F611D469-2688-C709-8AB5-B7A2195793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9077" y="2306137"/>
            <a:ext cx="1138653" cy="999998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0733589B-AE7B-F015-9348-CF00E9E2C4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0139" y="4738623"/>
            <a:ext cx="832096" cy="1066064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36C52E00-305B-2735-C538-E7C2526B01F6}"/>
              </a:ext>
            </a:extLst>
          </p:cNvPr>
          <p:cNvSpPr txBox="1"/>
          <p:nvPr/>
        </p:nvSpPr>
        <p:spPr>
          <a:xfrm>
            <a:off x="4115443" y="2560259"/>
            <a:ext cx="754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>
                <a:solidFill>
                  <a:srgbClr val="00B050"/>
                </a:solidFill>
              </a:rPr>
              <a:t>3929</a:t>
            </a:r>
            <a:endParaRPr lang="zh-TW" altLang="en-US" sz="2000" b="1" dirty="0">
              <a:solidFill>
                <a:srgbClr val="00B050"/>
              </a:solidFill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F2CF87B0-55CE-0FF0-C6C0-C24D74170202}"/>
              </a:ext>
            </a:extLst>
          </p:cNvPr>
          <p:cNvSpPr txBox="1"/>
          <p:nvPr/>
        </p:nvSpPr>
        <p:spPr>
          <a:xfrm>
            <a:off x="3975842" y="5199360"/>
            <a:ext cx="8320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</a:rPr>
              <a:t>3341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0A53EC98-97CD-77CA-632D-7B1BA8140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9707612"/>
              </p:ext>
            </p:extLst>
          </p:nvPr>
        </p:nvGraphicFramePr>
        <p:xfrm>
          <a:off x="6525490" y="2243744"/>
          <a:ext cx="4979122" cy="3291840"/>
        </p:xfrm>
        <a:graphic>
          <a:graphicData uri="http://schemas.openxmlformats.org/drawingml/2006/table">
            <a:tbl>
              <a:tblPr/>
              <a:tblGrid>
                <a:gridCol w="2489561">
                  <a:extLst>
                    <a:ext uri="{9D8B030D-6E8A-4147-A177-3AD203B41FA5}">
                      <a16:colId xmlns:a16="http://schemas.microsoft.com/office/drawing/2014/main" val="1422790397"/>
                    </a:ext>
                  </a:extLst>
                </a:gridCol>
                <a:gridCol w="2489561">
                  <a:extLst>
                    <a:ext uri="{9D8B030D-6E8A-4147-A177-3AD203B41FA5}">
                      <a16:colId xmlns:a16="http://schemas.microsoft.com/office/drawing/2014/main" val="2331971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b="1"/>
                        <a:t>Virus family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b="1" dirty="0"/>
                        <a:t>Cell</a:t>
                      </a:r>
                      <a:r>
                        <a:rPr lang="zh-TW" b="1" dirty="0"/>
                        <a:t> 數量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0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Coronaviridae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/>
                        <a:t>2,416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30561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Picornaviridae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/>
                        <a:t>428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0722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Flaviviridae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/>
                        <a:t>359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7117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Orthomyxoviridae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/>
                        <a:t>330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8947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dirty="0"/>
                        <a:t>Alphaviridae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/>
                        <a:t>172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106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Orthoherpesviridae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/>
                        <a:t>93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114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dirty="0"/>
                        <a:t>Retroviridae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/>
                        <a:t>71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4149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Reoviridae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dirty="0"/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0152143"/>
                  </a:ext>
                </a:extLst>
              </a:tr>
            </a:tbl>
          </a:graphicData>
        </a:graphic>
      </p:graphicFrame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4E624D95-6A82-D3A6-06C9-A309AF47E01B}"/>
              </a:ext>
            </a:extLst>
          </p:cNvPr>
          <p:cNvCxnSpPr>
            <a:cxnSpLocks/>
          </p:cNvCxnSpPr>
          <p:nvPr/>
        </p:nvCxnSpPr>
        <p:spPr>
          <a:xfrm>
            <a:off x="4759652" y="3006190"/>
            <a:ext cx="1482231" cy="2362447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C2D7598B-C416-57C0-4187-3D12C21CA4A8}"/>
              </a:ext>
            </a:extLst>
          </p:cNvPr>
          <p:cNvCxnSpPr>
            <a:cxnSpLocks/>
          </p:cNvCxnSpPr>
          <p:nvPr/>
        </p:nvCxnSpPr>
        <p:spPr>
          <a:xfrm>
            <a:off x="4980914" y="2760314"/>
            <a:ext cx="1323314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8D2F9F40-6995-D29B-BA1C-8D23F6CC7BE8}"/>
              </a:ext>
            </a:extLst>
          </p:cNvPr>
          <p:cNvCxnSpPr>
            <a:cxnSpLocks/>
          </p:cNvCxnSpPr>
          <p:nvPr/>
        </p:nvCxnSpPr>
        <p:spPr>
          <a:xfrm>
            <a:off x="4980914" y="2806136"/>
            <a:ext cx="1323314" cy="311137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A8ACC4C3-188E-CA88-6BF6-C3C15BE2E0A8}"/>
              </a:ext>
            </a:extLst>
          </p:cNvPr>
          <p:cNvCxnSpPr>
            <a:cxnSpLocks/>
          </p:cNvCxnSpPr>
          <p:nvPr/>
        </p:nvCxnSpPr>
        <p:spPr>
          <a:xfrm>
            <a:off x="4980914" y="2867891"/>
            <a:ext cx="1371600" cy="630382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B31565C5-0A7A-E51B-8E2C-11AABF307070}"/>
              </a:ext>
            </a:extLst>
          </p:cNvPr>
          <p:cNvCxnSpPr>
            <a:cxnSpLocks/>
          </p:cNvCxnSpPr>
          <p:nvPr/>
        </p:nvCxnSpPr>
        <p:spPr>
          <a:xfrm>
            <a:off x="4956361" y="2916767"/>
            <a:ext cx="1379142" cy="918691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844A86A5-B347-87D9-B8EF-A53426D8C129}"/>
              </a:ext>
            </a:extLst>
          </p:cNvPr>
          <p:cNvCxnSpPr>
            <a:cxnSpLocks/>
          </p:cNvCxnSpPr>
          <p:nvPr/>
        </p:nvCxnSpPr>
        <p:spPr>
          <a:xfrm>
            <a:off x="4944495" y="2978150"/>
            <a:ext cx="1432572" cy="1210599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1C396D46-30E7-0387-2C4D-46DA6E96EFE2}"/>
              </a:ext>
            </a:extLst>
          </p:cNvPr>
          <p:cNvCxnSpPr>
            <a:cxnSpLocks/>
          </p:cNvCxnSpPr>
          <p:nvPr/>
        </p:nvCxnSpPr>
        <p:spPr>
          <a:xfrm>
            <a:off x="4910667" y="3028950"/>
            <a:ext cx="1521203" cy="1573184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2DC3606F-5CAE-C5F2-4394-9F97B3CE6A0E}"/>
              </a:ext>
            </a:extLst>
          </p:cNvPr>
          <p:cNvCxnSpPr>
            <a:cxnSpLocks/>
          </p:cNvCxnSpPr>
          <p:nvPr/>
        </p:nvCxnSpPr>
        <p:spPr>
          <a:xfrm>
            <a:off x="4832491" y="3021752"/>
            <a:ext cx="1513301" cy="1945307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43D8D28B-A48E-262A-D313-06E9AA5685F2}"/>
              </a:ext>
            </a:extLst>
          </p:cNvPr>
          <p:cNvSpPr txBox="1"/>
          <p:nvPr/>
        </p:nvSpPr>
        <p:spPr>
          <a:xfrm>
            <a:off x="7186757" y="179773"/>
            <a:ext cx="4667060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zh-TW" dirty="0"/>
              <a:t>Done after the discussion on August 6th</a:t>
            </a:r>
          </a:p>
        </p:txBody>
      </p:sp>
    </p:spTree>
    <p:extLst>
      <p:ext uri="{BB962C8B-B14F-4D97-AF65-F5344CB8AC3E}">
        <p14:creationId xmlns:p14="http://schemas.microsoft.com/office/powerpoint/2010/main" val="3529201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6093E-373F-65A3-8B0D-D86EF8687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D55DFE-5660-0E40-8333-8A25F1E4F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Scale−Free assumption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6659858-D13F-02D7-519E-6653F2989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050511F-4564-F21B-A937-518648D96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070" y="2037273"/>
            <a:ext cx="4178274" cy="393020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B7DF3C0-F58C-D26E-B543-77F93703A5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492" y="4418728"/>
            <a:ext cx="2462491" cy="65829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B5C2FCBE-D7D4-5837-4FDC-BB9E9B5B0C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3828" y="3311210"/>
            <a:ext cx="3321821" cy="603968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9F1C2C12-3B58-7698-D1A3-80BA6C96C6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4866" y="2188301"/>
            <a:ext cx="5259746" cy="708505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A094A948-6D0E-3871-AF47-745D2A07F312}"/>
              </a:ext>
            </a:extLst>
          </p:cNvPr>
          <p:cNvSpPr txBox="1"/>
          <p:nvPr/>
        </p:nvSpPr>
        <p:spPr>
          <a:xfrm>
            <a:off x="7643492" y="5580568"/>
            <a:ext cx="37128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dirty="0"/>
              <a:t>WGCNA (Langfelder &amp; Horvath BMC Bioinf 2008) </a:t>
            </a:r>
            <a:endParaRPr lang="en-US" altLang="zh-TW" sz="1200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140C90E0-8303-DB3C-F7BF-3EA4E99D05A7}"/>
              </a:ext>
            </a:extLst>
          </p:cNvPr>
          <p:cNvSpPr txBox="1"/>
          <p:nvPr/>
        </p:nvSpPr>
        <p:spPr>
          <a:xfrm>
            <a:off x="7186757" y="179773"/>
            <a:ext cx="4667060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zh-TW" dirty="0"/>
              <a:t>Done after the discussion on August 6th</a:t>
            </a:r>
          </a:p>
        </p:txBody>
      </p:sp>
    </p:spTree>
    <p:extLst>
      <p:ext uri="{BB962C8B-B14F-4D97-AF65-F5344CB8AC3E}">
        <p14:creationId xmlns:p14="http://schemas.microsoft.com/office/powerpoint/2010/main" val="2530513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A4F36-F8BA-3795-566D-E0EC6FFB2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F6A69D-6699-86D0-957B-B26595DF4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Issues regarding the choice of power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2AEF5F-B5BA-CD60-ED57-0F07E132A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EC20AE0-6052-A2BC-5D42-18194A53A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9992" y="1725405"/>
            <a:ext cx="7876310" cy="3921932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B626087-225E-1626-3F8F-80433151D76B}"/>
              </a:ext>
            </a:extLst>
          </p:cNvPr>
          <p:cNvSpPr txBox="1"/>
          <p:nvPr/>
        </p:nvSpPr>
        <p:spPr>
          <a:xfrm>
            <a:off x="1531682" y="5986879"/>
            <a:ext cx="9972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* </a:t>
            </a:r>
            <a:r>
              <a:rPr lang="zh-TW" altLang="zh-TW" dirty="0">
                <a:solidFill>
                  <a:srgbClr val="FF0000"/>
                </a:solidFill>
              </a:rPr>
              <a:t>It is not possible to compare gene networks at the same level of statistical power.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44C58BB-09C6-7C25-71E0-B7A74E04417A}"/>
              </a:ext>
            </a:extLst>
          </p:cNvPr>
          <p:cNvSpPr txBox="1"/>
          <p:nvPr/>
        </p:nvSpPr>
        <p:spPr>
          <a:xfrm>
            <a:off x="7186757" y="179773"/>
            <a:ext cx="4667060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zh-TW" dirty="0"/>
              <a:t>Done after the discussion on August 6th</a:t>
            </a:r>
          </a:p>
        </p:txBody>
      </p:sp>
    </p:spTree>
    <p:extLst>
      <p:ext uri="{BB962C8B-B14F-4D97-AF65-F5344CB8AC3E}">
        <p14:creationId xmlns:p14="http://schemas.microsoft.com/office/powerpoint/2010/main" val="2274949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584C4-30AF-AAE7-0328-BC9A0858F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B86FB6-245D-8FC9-E705-EAC379B65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Future works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1A22642-3358-83AA-F065-BDDFECE0C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3CC972-C540-C583-6FA5-D3C0E618B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r>
              <a:rPr lang="zh-TW" altLang="zh-TW" dirty="0"/>
              <a:t>Based on the database annotations, identify the biological pathways that achieved statistical significance and examine the potential biological significance of the features learned by the model.</a:t>
            </a:r>
            <a:endParaRPr lang="en-US" altLang="zh-TW" dirty="0"/>
          </a:p>
          <a:p>
            <a:endParaRPr lang="zh-TW" altLang="zh-TW" dirty="0"/>
          </a:p>
          <a:p>
            <a:r>
              <a:rPr lang="zh-TW" altLang="zh-TW" dirty="0"/>
              <a:t>Analyze gene topological relationships using raw RNA data and WGCNA.</a:t>
            </a:r>
            <a:r>
              <a:rPr lang="en-US" altLang="zh-TW" dirty="0"/>
              <a:t> </a:t>
            </a:r>
          </a:p>
          <a:p>
            <a:endParaRPr lang="en-US" altLang="zh-TW" dirty="0"/>
          </a:p>
          <a:p>
            <a:r>
              <a:rPr lang="zh-TW" altLang="zh-TW" dirty="0"/>
              <a:t>It is not yet clear how to resolve the issue with XGBoost.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45544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90FC2-61F5-8D5F-B088-51759F9AC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EB38E9-1FF3-C6BE-7125-F9C7D57E74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2660" y="1318591"/>
            <a:ext cx="2772372" cy="4220820"/>
          </a:xfrm>
        </p:spPr>
        <p:txBody>
          <a:bodyPr anchor="ctr">
            <a:normAutofit/>
          </a:bodyPr>
          <a:lstStyle/>
          <a:p>
            <a:pPr algn="r"/>
            <a:r>
              <a:rPr lang="en-US" altLang="zh-TW" sz="6600" dirty="0">
                <a:solidFill>
                  <a:schemeClr val="tx2">
                    <a:lumMod val="75000"/>
                  </a:schemeClr>
                </a:solidFill>
              </a:rPr>
              <a:t>Aim 2</a:t>
            </a:r>
            <a:endParaRPr lang="zh-TW" altLang="en-US" sz="66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722C5C0-3664-341D-00B6-2A00A7809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1271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053B7-7E3F-DE48-9226-048BD2DF4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895BE6-1705-23BD-F2CD-285B05B79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Data </a:t>
            </a:r>
            <a:r>
              <a:rPr lang="en-US" altLang="zh-TW" dirty="0"/>
              <a:t>information</a:t>
            </a:r>
            <a:endParaRPr lang="zh-TW" alt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6C22DD0-0D3D-E450-447D-4CB626371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Ravindra2021</a:t>
            </a:r>
            <a:r>
              <a:rPr lang="en-US" altLang="zh-TW" dirty="0"/>
              <a:t>:</a:t>
            </a:r>
          </a:p>
          <a:p>
            <a:pPr marL="400050" lvl="1" indent="0">
              <a:buNone/>
            </a:pPr>
            <a:r>
              <a:rPr lang="en-US" altLang="zh-TW" dirty="0"/>
              <a:t>RNA raw count data comprising 77,668 cells and 33,539 genes</a:t>
            </a:r>
            <a:r>
              <a:rPr lang="zh-TW" altLang="zh-TW" dirty="0"/>
              <a:t>.</a:t>
            </a:r>
          </a:p>
          <a:p>
            <a:endParaRPr lang="en-US" altLang="zh-TW" dirty="0"/>
          </a:p>
          <a:p>
            <a:r>
              <a:rPr lang="zh-TW" altLang="zh-TW" dirty="0"/>
              <a:t>Key fields</a:t>
            </a:r>
            <a:r>
              <a:rPr lang="en-US" altLang="zh-TW" dirty="0"/>
              <a:t>:</a:t>
            </a:r>
          </a:p>
          <a:p>
            <a:pPr marL="400050" lvl="1" indent="0">
              <a:buNone/>
            </a:pPr>
            <a:r>
              <a:rPr lang="en-US" altLang="zh-TW" dirty="0"/>
              <a:t>‘</a:t>
            </a:r>
            <a:r>
              <a:rPr lang="zh-TW" altLang="zh-TW" dirty="0"/>
              <a:t>pmito</a:t>
            </a:r>
            <a:r>
              <a:rPr lang="en-US" altLang="zh-TW" dirty="0"/>
              <a:t>’</a:t>
            </a:r>
            <a:r>
              <a:rPr lang="zh-TW" altLang="zh-TW" dirty="0"/>
              <a:t>,</a:t>
            </a:r>
            <a:r>
              <a:rPr lang="en-US" altLang="zh-TW" dirty="0"/>
              <a:t> ‘</a:t>
            </a:r>
            <a:r>
              <a:rPr lang="zh-TW" altLang="zh-TW" dirty="0"/>
              <a:t>n_genes</a:t>
            </a:r>
            <a:r>
              <a:rPr lang="en-US" altLang="zh-TW" dirty="0"/>
              <a:t>’, ‘</a:t>
            </a:r>
            <a:r>
              <a:rPr lang="zh-TW" altLang="zh-TW" dirty="0"/>
              <a:t>Viral_transcript</a:t>
            </a:r>
            <a:r>
              <a:rPr lang="en-US" altLang="zh-TW" dirty="0"/>
              <a:t>’, ‘</a:t>
            </a:r>
            <a:r>
              <a:rPr lang="zh-TW" altLang="zh-TW" dirty="0"/>
              <a:t>Condition</a:t>
            </a:r>
            <a:r>
              <a:rPr lang="en-US" altLang="zh-TW" dirty="0"/>
              <a:t>’, 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C5F3D97-7EA9-E711-B2F2-F5102244B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2206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F468A-9A64-820D-0765-1CFA58184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BDEF14-D837-A4F2-F78D-F043CE02A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Data preprocessing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9885AC6-D696-82BF-4B16-C2D7C540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6756FC7-73AD-C505-F7A8-0C97D6F4DFD0}"/>
              </a:ext>
            </a:extLst>
          </p:cNvPr>
          <p:cNvSpPr txBox="1"/>
          <p:nvPr/>
        </p:nvSpPr>
        <p:spPr>
          <a:xfrm>
            <a:off x="1022817" y="1855819"/>
            <a:ext cx="3135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2000" dirty="0"/>
              <a:t>Quality Control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917516A9-5288-9026-0A74-DC85F7DCE5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80" y="2756879"/>
            <a:ext cx="1138653" cy="999998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56B0CD0B-83AB-A23E-86C3-4D38259BA7BC}"/>
              </a:ext>
            </a:extLst>
          </p:cNvPr>
          <p:cNvSpPr txBox="1"/>
          <p:nvPr/>
        </p:nvSpPr>
        <p:spPr>
          <a:xfrm>
            <a:off x="2046658" y="2841380"/>
            <a:ext cx="21121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P</a:t>
            </a:r>
            <a:r>
              <a:rPr lang="zh-TW" altLang="zh-TW" sz="1600" dirty="0"/>
              <a:t>mito</a:t>
            </a:r>
            <a:r>
              <a:rPr lang="zh-TW" altLang="en-US" sz="1600" dirty="0"/>
              <a:t> </a:t>
            </a:r>
            <a:r>
              <a:rPr lang="en-US" altLang="zh-TW" sz="1600" dirty="0"/>
              <a:t>&lt;</a:t>
            </a:r>
            <a:r>
              <a:rPr lang="zh-TW" altLang="en-US" sz="1600" dirty="0"/>
              <a:t> </a:t>
            </a:r>
            <a:r>
              <a:rPr lang="en-US" altLang="zh-TW" sz="1600" dirty="0"/>
              <a:t>0.2</a:t>
            </a:r>
          </a:p>
          <a:p>
            <a:endParaRPr lang="en-US" altLang="zh-TW" sz="1600" dirty="0"/>
          </a:p>
          <a:p>
            <a:r>
              <a:rPr lang="en-US" altLang="zh-TW" sz="1600" dirty="0"/>
              <a:t>n</a:t>
            </a:r>
            <a:r>
              <a:rPr lang="zh-TW" altLang="zh-TW" sz="1600" dirty="0"/>
              <a:t>_genes</a:t>
            </a:r>
            <a:r>
              <a:rPr lang="en-US" altLang="zh-TW" sz="1600" dirty="0"/>
              <a:t> &gt; 500</a:t>
            </a:r>
            <a:endParaRPr lang="zh-TW" altLang="en-US" sz="1600" dirty="0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8E0D8B08-F595-E81A-8925-B1B0045AEA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817" y="4519844"/>
            <a:ext cx="832096" cy="1066064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FB45BD4E-6046-02B1-8C5C-2F9AB00E3CCA}"/>
              </a:ext>
            </a:extLst>
          </p:cNvPr>
          <p:cNvSpPr txBox="1"/>
          <p:nvPr/>
        </p:nvSpPr>
        <p:spPr>
          <a:xfrm>
            <a:off x="2046658" y="4889736"/>
            <a:ext cx="21121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 err="1"/>
              <a:t>Min_cells</a:t>
            </a:r>
            <a:r>
              <a:rPr lang="en-US" altLang="zh-TW" sz="1600" dirty="0"/>
              <a:t>= 10</a:t>
            </a:r>
            <a:endParaRPr lang="zh-TW" altLang="en-US" sz="16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36A34E3-E38A-5E49-A407-139447763D04}"/>
              </a:ext>
            </a:extLst>
          </p:cNvPr>
          <p:cNvSpPr txBox="1"/>
          <p:nvPr/>
        </p:nvSpPr>
        <p:spPr>
          <a:xfrm>
            <a:off x="5406620" y="1844204"/>
            <a:ext cx="42528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C</a:t>
            </a:r>
            <a:r>
              <a:rPr lang="zh-TW" altLang="zh-TW" sz="2000" dirty="0"/>
              <a:t>ells with high-confidence labels</a:t>
            </a: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D911F92F-69FB-AB3F-24F3-E81D795DC6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235" y="4515540"/>
            <a:ext cx="1233519" cy="1068130"/>
          </a:xfrm>
          <a:prstGeom prst="rect">
            <a:avLst/>
          </a:prstGeom>
        </p:spPr>
      </p:pic>
      <p:grpSp>
        <p:nvGrpSpPr>
          <p:cNvPr id="33" name="群組 32">
            <a:extLst>
              <a:ext uri="{FF2B5EF4-FFF2-40B4-BE49-F238E27FC236}">
                <a16:creationId xmlns:a16="http://schemas.microsoft.com/office/drawing/2014/main" id="{5269BB12-A7B1-C989-1244-AE99BE116C93}"/>
              </a:ext>
            </a:extLst>
          </p:cNvPr>
          <p:cNvGrpSpPr/>
          <p:nvPr/>
        </p:nvGrpSpPr>
        <p:grpSpPr>
          <a:xfrm>
            <a:off x="9659502" y="2454256"/>
            <a:ext cx="2399534" cy="2436241"/>
            <a:chOff x="9250693" y="4066345"/>
            <a:chExt cx="2399534" cy="2436241"/>
          </a:xfrm>
        </p:grpSpPr>
        <p:pic>
          <p:nvPicPr>
            <p:cNvPr id="26" name="圖片 25">
              <a:extLst>
                <a:ext uri="{FF2B5EF4-FFF2-40B4-BE49-F238E27FC236}">
                  <a16:creationId xmlns:a16="http://schemas.microsoft.com/office/drawing/2014/main" id="{C0673E75-C346-E305-F15E-0C4CBC36F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59502" y="4066345"/>
              <a:ext cx="1581917" cy="356420"/>
            </a:xfrm>
            <a:prstGeom prst="rect">
              <a:avLst/>
            </a:prstGeom>
          </p:spPr>
        </p:pic>
        <p:pic>
          <p:nvPicPr>
            <p:cNvPr id="28" name="圖片 27">
              <a:extLst>
                <a:ext uri="{FF2B5EF4-FFF2-40B4-BE49-F238E27FC236}">
                  <a16:creationId xmlns:a16="http://schemas.microsoft.com/office/drawing/2014/main" id="{F9E7BFBD-9069-4FC4-5712-9EAE25A6C28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59502" y="4593234"/>
              <a:ext cx="1404873" cy="368721"/>
            </a:xfrm>
            <a:prstGeom prst="rect">
              <a:avLst/>
            </a:prstGeom>
          </p:spPr>
        </p:pic>
        <p:pic>
          <p:nvPicPr>
            <p:cNvPr id="30" name="圖片 29">
              <a:extLst>
                <a:ext uri="{FF2B5EF4-FFF2-40B4-BE49-F238E27FC236}">
                  <a16:creationId xmlns:a16="http://schemas.microsoft.com/office/drawing/2014/main" id="{1ABF89C6-C431-4805-BD5D-01E6A1D00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0693" y="5184732"/>
              <a:ext cx="2399534" cy="1317854"/>
            </a:xfrm>
            <a:prstGeom prst="rect">
              <a:avLst/>
            </a:prstGeom>
          </p:spPr>
        </p:pic>
      </p:grp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DCC581FB-25D3-819E-0FF0-BE55815F43A1}"/>
              </a:ext>
            </a:extLst>
          </p:cNvPr>
          <p:cNvSpPr txBox="1"/>
          <p:nvPr/>
        </p:nvSpPr>
        <p:spPr>
          <a:xfrm>
            <a:off x="6844701" y="2509529"/>
            <a:ext cx="21520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600" dirty="0"/>
              <a:t>Viral_transcript</a:t>
            </a:r>
            <a:r>
              <a:rPr lang="en-US" altLang="zh-TW" sz="1600" dirty="0"/>
              <a:t> &gt; </a:t>
            </a:r>
            <a:r>
              <a:rPr lang="en-US" altLang="zh-TW" sz="1600" dirty="0" err="1"/>
              <a:t>T</a:t>
            </a:r>
            <a:r>
              <a:rPr lang="en-US" altLang="zh-TW" sz="1100" dirty="0" err="1"/>
              <a:t>inf</a:t>
            </a:r>
            <a:endParaRPr lang="zh-TW" altLang="zh-TW" sz="1100" dirty="0"/>
          </a:p>
          <a:p>
            <a:endParaRPr lang="en-US" altLang="zh-TW" sz="1600" dirty="0"/>
          </a:p>
          <a:p>
            <a:r>
              <a:rPr lang="en-US" altLang="zh-TW" sz="1600" dirty="0"/>
              <a:t>Condition != Mock</a:t>
            </a:r>
          </a:p>
          <a:p>
            <a:endParaRPr lang="en-US" altLang="zh-TW" sz="1600" dirty="0"/>
          </a:p>
          <a:p>
            <a:r>
              <a:rPr lang="en-US" altLang="zh-TW" sz="1600" dirty="0"/>
              <a:t>n</a:t>
            </a:r>
            <a:r>
              <a:rPr lang="zh-TW" altLang="zh-TW" sz="1600" dirty="0"/>
              <a:t>_genes</a:t>
            </a:r>
            <a:r>
              <a:rPr lang="en-US" altLang="zh-TW" sz="1600" dirty="0"/>
              <a:t> &gt; 1000</a:t>
            </a:r>
            <a:endParaRPr lang="zh-TW" altLang="en-US" sz="1600" dirty="0"/>
          </a:p>
        </p:txBody>
      </p:sp>
      <p:sp>
        <p:nvSpPr>
          <p:cNvPr id="34" name="箭號: 向右 33">
            <a:extLst>
              <a:ext uri="{FF2B5EF4-FFF2-40B4-BE49-F238E27FC236}">
                <a16:creationId xmlns:a16="http://schemas.microsoft.com/office/drawing/2014/main" id="{5941DAF7-7602-8E7E-74F0-6C9AB1FF2BA7}"/>
              </a:ext>
            </a:extLst>
          </p:cNvPr>
          <p:cNvSpPr/>
          <p:nvPr/>
        </p:nvSpPr>
        <p:spPr>
          <a:xfrm>
            <a:off x="3952172" y="3832968"/>
            <a:ext cx="736429" cy="3385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13202AB5-C4F7-51A3-A8E0-EF1F2458459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962" y="2590944"/>
            <a:ext cx="1418136" cy="1066064"/>
          </a:xfrm>
          <a:prstGeom prst="rect">
            <a:avLst/>
          </a:prstGeom>
        </p:spPr>
      </p:pic>
      <p:sp>
        <p:nvSpPr>
          <p:cNvPr id="38" name="文字方塊 37">
            <a:extLst>
              <a:ext uri="{FF2B5EF4-FFF2-40B4-BE49-F238E27FC236}">
                <a16:creationId xmlns:a16="http://schemas.microsoft.com/office/drawing/2014/main" id="{688E8E9F-7996-6CE7-4A71-1ECF9FBB11EB}"/>
              </a:ext>
            </a:extLst>
          </p:cNvPr>
          <p:cNvSpPr txBox="1"/>
          <p:nvPr/>
        </p:nvSpPr>
        <p:spPr>
          <a:xfrm>
            <a:off x="6946981" y="4637377"/>
            <a:ext cx="21520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600" dirty="0"/>
              <a:t>Viral_transcript</a:t>
            </a:r>
            <a:r>
              <a:rPr lang="en-US" altLang="zh-TW" sz="1600" dirty="0"/>
              <a:t> = 0</a:t>
            </a:r>
            <a:endParaRPr lang="zh-TW" altLang="zh-TW" sz="1100" dirty="0"/>
          </a:p>
          <a:p>
            <a:endParaRPr lang="en-US" altLang="zh-TW" sz="1600" dirty="0"/>
          </a:p>
          <a:p>
            <a:r>
              <a:rPr lang="en-US" altLang="zh-TW" sz="1600" dirty="0"/>
              <a:t>Condition = Mock</a:t>
            </a: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2566E7B7-AAD3-05DB-17F6-36723D025DA0}"/>
              </a:ext>
            </a:extLst>
          </p:cNvPr>
          <p:cNvSpPr txBox="1"/>
          <p:nvPr/>
        </p:nvSpPr>
        <p:spPr>
          <a:xfrm>
            <a:off x="4651780" y="2587602"/>
            <a:ext cx="754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600" b="1" dirty="0">
                <a:solidFill>
                  <a:srgbClr val="00B050"/>
                </a:solidFill>
              </a:rPr>
              <a:t>1713</a:t>
            </a:r>
            <a:endParaRPr lang="zh-TW" altLang="en-US" sz="1600" b="1" dirty="0">
              <a:solidFill>
                <a:srgbClr val="00B050"/>
              </a:solidFill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2F6675A2-82B0-CEFF-6381-8A9260A1F5F7}"/>
              </a:ext>
            </a:extLst>
          </p:cNvPr>
          <p:cNvSpPr txBox="1"/>
          <p:nvPr/>
        </p:nvSpPr>
        <p:spPr>
          <a:xfrm>
            <a:off x="4613152" y="4442848"/>
            <a:ext cx="8320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sz="1600" b="1" dirty="0">
                <a:solidFill>
                  <a:srgbClr val="FF0000"/>
                </a:solidFill>
              </a:rPr>
              <a:t>22080</a:t>
            </a:r>
            <a:endParaRPr lang="zh-TW" altLang="en-US" sz="1400" b="1" dirty="0">
              <a:solidFill>
                <a:srgbClr val="FF0000"/>
              </a:solidFill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B69DE469-2F16-9BA4-A052-5D04347E5284}"/>
              </a:ext>
            </a:extLst>
          </p:cNvPr>
          <p:cNvSpPr txBox="1"/>
          <p:nvPr/>
        </p:nvSpPr>
        <p:spPr>
          <a:xfrm>
            <a:off x="4651780" y="6108498"/>
            <a:ext cx="23904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* </a:t>
            </a:r>
            <a:r>
              <a:rPr lang="zh-TW" altLang="zh-TW" sz="1600" b="1" dirty="0"/>
              <a:t>50295</a:t>
            </a:r>
            <a:r>
              <a:rPr lang="en-US" altLang="zh-TW" sz="1600" b="1" dirty="0"/>
              <a:t> Unknown cell</a:t>
            </a:r>
            <a:endParaRPr lang="zh-TW" altLang="zh-TW" sz="1600" b="1" dirty="0"/>
          </a:p>
        </p:txBody>
      </p:sp>
    </p:spTree>
    <p:extLst>
      <p:ext uri="{BB962C8B-B14F-4D97-AF65-F5344CB8AC3E}">
        <p14:creationId xmlns:p14="http://schemas.microsoft.com/office/powerpoint/2010/main" val="2689587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FAF4F-C376-1C09-2557-1EE034CC6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5D3B65-C787-F3BD-FEFC-5063E155A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Mock vs 1 dpi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42ED8AB-9076-4EA5-9AED-BBF72F3CB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15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A3286C0-29B9-7C2B-C9BA-60FA5F628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80" y="1905000"/>
            <a:ext cx="6670463" cy="397934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D3FFACC-1BB1-777D-3FE3-004EDB57A4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0249" y="2601046"/>
            <a:ext cx="3593024" cy="235195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4C6EF9DF-5CC1-1132-BEC0-3817F1573EE1}"/>
              </a:ext>
            </a:extLst>
          </p:cNvPr>
          <p:cNvSpPr txBox="1"/>
          <p:nvPr/>
        </p:nvSpPr>
        <p:spPr>
          <a:xfrm>
            <a:off x="7186757" y="179773"/>
            <a:ext cx="4667060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zh-TW" dirty="0"/>
              <a:t>Done after the discussion on August 6th</a:t>
            </a:r>
          </a:p>
        </p:txBody>
      </p:sp>
    </p:spTree>
    <p:extLst>
      <p:ext uri="{BB962C8B-B14F-4D97-AF65-F5344CB8AC3E}">
        <p14:creationId xmlns:p14="http://schemas.microsoft.com/office/powerpoint/2010/main" val="1074409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97B9C-5262-894D-91BE-B892C888D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148E68-D7ED-C8A7-B6E3-031B1AD56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Topological relationships of cells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54FED8-9E66-E9E2-C145-7513B641B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7F7B512-2C03-3EF0-5519-297DA2178946}"/>
              </a:ext>
            </a:extLst>
          </p:cNvPr>
          <p:cNvSpPr txBox="1"/>
          <p:nvPr/>
        </p:nvSpPr>
        <p:spPr>
          <a:xfrm>
            <a:off x="740847" y="2155582"/>
            <a:ext cx="4667124" cy="33855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zh-TW" sz="1600" dirty="0"/>
              <a:t>Select the top 3,000 highly variable genes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AB02996-31D5-4AB3-6D79-CC9F457AA034}"/>
              </a:ext>
            </a:extLst>
          </p:cNvPr>
          <p:cNvSpPr txBox="1"/>
          <p:nvPr/>
        </p:nvSpPr>
        <p:spPr>
          <a:xfrm>
            <a:off x="740847" y="3679582"/>
            <a:ext cx="4837987" cy="33855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zh-TW" sz="1600" dirty="0"/>
              <a:t>Performing clustering using PCA</a:t>
            </a:r>
            <a:r>
              <a:rPr lang="en-US" altLang="zh-TW" sz="1600" dirty="0"/>
              <a:t>(</a:t>
            </a:r>
            <a:r>
              <a:rPr lang="en-US" altLang="zh-TW" sz="1600" dirty="0" err="1"/>
              <a:t>n_comps</a:t>
            </a:r>
            <a:r>
              <a:rPr lang="en-US" altLang="zh-TW" sz="1600" dirty="0"/>
              <a:t> = 50)</a:t>
            </a:r>
            <a:endParaRPr lang="zh-TW" altLang="zh-TW" sz="16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128528B-61C1-342F-1E55-472500D662F4}"/>
              </a:ext>
            </a:extLst>
          </p:cNvPr>
          <p:cNvSpPr txBox="1"/>
          <p:nvPr/>
        </p:nvSpPr>
        <p:spPr>
          <a:xfrm>
            <a:off x="919356" y="5474071"/>
            <a:ext cx="4310104" cy="36933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zh-TW" sz="1600" dirty="0"/>
              <a:t>Construct a KNN graph</a:t>
            </a:r>
            <a:r>
              <a:rPr lang="en-US" altLang="zh-TW" sz="1600" dirty="0"/>
              <a:t>(</a:t>
            </a:r>
            <a:r>
              <a:rPr lang="zh-TW" altLang="zh-TW" dirty="0"/>
              <a:t>n_neighbors=15</a:t>
            </a:r>
            <a:r>
              <a:rPr lang="en-US" altLang="zh-TW" sz="1600" dirty="0"/>
              <a:t>)</a:t>
            </a:r>
            <a:endParaRPr lang="zh-TW" altLang="zh-TW" sz="1600" dirty="0"/>
          </a:p>
        </p:txBody>
      </p:sp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9E2742E9-7DAA-745E-D2AB-05EEB7CF3B98}"/>
              </a:ext>
            </a:extLst>
          </p:cNvPr>
          <p:cNvSpPr/>
          <p:nvPr/>
        </p:nvSpPr>
        <p:spPr>
          <a:xfrm rot="5400000">
            <a:off x="2798737" y="3009891"/>
            <a:ext cx="551342" cy="2306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箭號: 向右 20">
            <a:extLst>
              <a:ext uri="{FF2B5EF4-FFF2-40B4-BE49-F238E27FC236}">
                <a16:creationId xmlns:a16="http://schemas.microsoft.com/office/drawing/2014/main" id="{974A855E-33F2-459F-6BC7-C054FD986DFE}"/>
              </a:ext>
            </a:extLst>
          </p:cNvPr>
          <p:cNvSpPr/>
          <p:nvPr/>
        </p:nvSpPr>
        <p:spPr>
          <a:xfrm rot="5400000">
            <a:off x="2798737" y="4610603"/>
            <a:ext cx="551342" cy="2306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12692199-66EB-4F6A-A544-BC880D37D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145" y="1487690"/>
            <a:ext cx="5942491" cy="1895791"/>
          </a:xfrm>
          <a:prstGeom prst="rect">
            <a:avLst/>
          </a:prstGeom>
        </p:spPr>
      </p:pic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DCD8C64A-60AA-4869-C23A-552B4892C8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477001"/>
              </p:ext>
            </p:extLst>
          </p:nvPr>
        </p:nvGraphicFramePr>
        <p:xfrm>
          <a:off x="6068702" y="3582130"/>
          <a:ext cx="5673376" cy="2651760"/>
        </p:xfrm>
        <a:graphic>
          <a:graphicData uri="http://schemas.openxmlformats.org/drawingml/2006/table">
            <a:tbl>
              <a:tblPr/>
              <a:tblGrid>
                <a:gridCol w="1418344">
                  <a:extLst>
                    <a:ext uri="{9D8B030D-6E8A-4147-A177-3AD203B41FA5}">
                      <a16:colId xmlns:a16="http://schemas.microsoft.com/office/drawing/2014/main" val="897932352"/>
                    </a:ext>
                  </a:extLst>
                </a:gridCol>
                <a:gridCol w="1418344">
                  <a:extLst>
                    <a:ext uri="{9D8B030D-6E8A-4147-A177-3AD203B41FA5}">
                      <a16:colId xmlns:a16="http://schemas.microsoft.com/office/drawing/2014/main" val="4161012092"/>
                    </a:ext>
                  </a:extLst>
                </a:gridCol>
                <a:gridCol w="1418344">
                  <a:extLst>
                    <a:ext uri="{9D8B030D-6E8A-4147-A177-3AD203B41FA5}">
                      <a16:colId xmlns:a16="http://schemas.microsoft.com/office/drawing/2014/main" val="3336251322"/>
                    </a:ext>
                  </a:extLst>
                </a:gridCol>
                <a:gridCol w="1418344">
                  <a:extLst>
                    <a:ext uri="{9D8B030D-6E8A-4147-A177-3AD203B41FA5}">
                      <a16:colId xmlns:a16="http://schemas.microsoft.com/office/drawing/2014/main" val="1769316306"/>
                    </a:ext>
                  </a:extLst>
                </a:gridCol>
              </a:tblGrid>
              <a:tr h="23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200"/>
                        <a:t>Cell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Uninfected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Infection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290973"/>
                  </a:ext>
                </a:extLst>
              </a:tr>
              <a:tr h="23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200" dirty="0"/>
                        <a:t>BC/Club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1521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124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7.5%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17708"/>
                  </a:ext>
                </a:extLst>
              </a:tr>
              <a:tr h="23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200"/>
                        <a:t>Basal cells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9549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169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1.7%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6581397"/>
                  </a:ext>
                </a:extLst>
              </a:tr>
              <a:tr h="23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200" b="1" dirty="0">
                          <a:solidFill>
                            <a:schemeClr val="accent1"/>
                          </a:solidFill>
                        </a:rPr>
                        <a:t>Ciliated cells</a:t>
                      </a:r>
                      <a:endParaRPr lang="zh-TW" sz="12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 b="1">
                          <a:solidFill>
                            <a:schemeClr val="accent1"/>
                          </a:solidFill>
                        </a:rPr>
                        <a:t>6208</a:t>
                      </a:r>
                      <a:endParaRPr lang="zh-TW" sz="120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 b="1">
                          <a:solidFill>
                            <a:schemeClr val="accent1"/>
                          </a:solidFill>
                        </a:rPr>
                        <a:t>1222</a:t>
                      </a:r>
                      <a:endParaRPr lang="zh-TW" sz="120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 b="1" dirty="0">
                          <a:solidFill>
                            <a:schemeClr val="accent1"/>
                          </a:solidFill>
                        </a:rPr>
                        <a:t>16.4%</a:t>
                      </a:r>
                      <a:endParaRPr lang="zh-TW" sz="12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8344141"/>
                  </a:ext>
                </a:extLst>
              </a:tr>
              <a:tr h="23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200"/>
                        <a:t>Club cells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4493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194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4.1%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62079"/>
                  </a:ext>
                </a:extLst>
              </a:tr>
              <a:tr h="23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200"/>
                        <a:t>Goblet cells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561233"/>
                  </a:ext>
                </a:extLst>
              </a:tr>
              <a:tr h="23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200" dirty="0"/>
                        <a:t>Ionocytes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 dirty="0"/>
                        <a:t>123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1.6%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4610050"/>
                  </a:ext>
                </a:extLst>
              </a:tr>
              <a:tr h="390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200"/>
                        <a:t>Neuroendocrine cells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74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2.6%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601872"/>
                  </a:ext>
                </a:extLst>
              </a:tr>
              <a:tr h="23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200"/>
                        <a:t>Tuft cells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200" dirty="0"/>
                        <a:t>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3526411"/>
                  </a:ext>
                </a:extLst>
              </a:tr>
            </a:tbl>
          </a:graphicData>
        </a:graphic>
      </p:graphicFrame>
      <p:sp>
        <p:nvSpPr>
          <p:cNvPr id="29" name="文字方塊 28">
            <a:extLst>
              <a:ext uri="{FF2B5EF4-FFF2-40B4-BE49-F238E27FC236}">
                <a16:creationId xmlns:a16="http://schemas.microsoft.com/office/drawing/2014/main" id="{13777BAF-52FD-D855-192A-5514D3387DEC}"/>
              </a:ext>
            </a:extLst>
          </p:cNvPr>
          <p:cNvSpPr txBox="1"/>
          <p:nvPr/>
        </p:nvSpPr>
        <p:spPr>
          <a:xfrm>
            <a:off x="5934145" y="6432539"/>
            <a:ext cx="1914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* P-value &lt; 0.001 </a:t>
            </a:r>
            <a:endParaRPr lang="zh-TW" altLang="zh-TW" sz="1600" dirty="0"/>
          </a:p>
        </p:txBody>
      </p:sp>
    </p:spTree>
    <p:extLst>
      <p:ext uri="{BB962C8B-B14F-4D97-AF65-F5344CB8AC3E}">
        <p14:creationId xmlns:p14="http://schemas.microsoft.com/office/powerpoint/2010/main" val="106950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11DBE-FF14-5746-5D6F-63B543819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061744-BB47-11A9-9725-7F0749ED2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GCN model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07C1A92-0EA9-D377-A6F8-A3724F833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17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AF17326-44F9-8C17-B33F-719F7943E3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426" y="533874"/>
            <a:ext cx="3262049" cy="4032154"/>
          </a:xfrm>
          <a:prstGeom prst="rect">
            <a:avLst/>
          </a:prstGeom>
        </p:spPr>
      </p:pic>
      <p:grpSp>
        <p:nvGrpSpPr>
          <p:cNvPr id="27" name="群組 26">
            <a:extLst>
              <a:ext uri="{FF2B5EF4-FFF2-40B4-BE49-F238E27FC236}">
                <a16:creationId xmlns:a16="http://schemas.microsoft.com/office/drawing/2014/main" id="{A3992759-24F0-1145-F984-1140E81CBEFB}"/>
              </a:ext>
            </a:extLst>
          </p:cNvPr>
          <p:cNvGrpSpPr/>
          <p:nvPr/>
        </p:nvGrpSpPr>
        <p:grpSpPr>
          <a:xfrm>
            <a:off x="8321653" y="4743773"/>
            <a:ext cx="3041315" cy="1768466"/>
            <a:chOff x="8873975" y="4406243"/>
            <a:chExt cx="3041315" cy="1768466"/>
          </a:xfrm>
        </p:grpSpPr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5B63523C-1705-8B10-42CB-C97B5933FB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76598" y="4406243"/>
              <a:ext cx="2938692" cy="1185864"/>
            </a:xfrm>
            <a:prstGeom prst="rect">
              <a:avLst/>
            </a:prstGeom>
          </p:spPr>
        </p:pic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007FCDD6-B027-F486-0F76-FFFAA27CBB76}"/>
                </a:ext>
              </a:extLst>
            </p:cNvPr>
            <p:cNvSpPr txBox="1"/>
            <p:nvPr/>
          </p:nvSpPr>
          <p:spPr>
            <a:xfrm>
              <a:off x="8873975" y="5897710"/>
              <a:ext cx="266342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TW" altLang="zh-TW" sz="1200" dirty="0"/>
                <a:t>GCN (Kipf &amp; Welling ICLR 2017)</a:t>
              </a:r>
              <a:endParaRPr lang="zh-TW" altLang="en-US" sz="1200" dirty="0"/>
            </a:p>
          </p:txBody>
        </p:sp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6059A20C-566D-8AEB-828D-7E72456167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76598" y="5497155"/>
              <a:ext cx="2751042" cy="539055"/>
            </a:xfrm>
            <a:prstGeom prst="rect">
              <a:avLst/>
            </a:prstGeom>
          </p:spPr>
        </p:pic>
      </p:grp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1C325B0-F485-9672-56FE-C01F8A8A1405}"/>
              </a:ext>
            </a:extLst>
          </p:cNvPr>
          <p:cNvSpPr txBox="1"/>
          <p:nvPr/>
        </p:nvSpPr>
        <p:spPr>
          <a:xfrm>
            <a:off x="4096342" y="1825959"/>
            <a:ext cx="1284334" cy="33855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All cells</a:t>
            </a:r>
            <a:endParaRPr lang="zh-TW" altLang="zh-TW" sz="16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6B7167AA-30C6-5778-2AC0-90F24C2B1E33}"/>
              </a:ext>
            </a:extLst>
          </p:cNvPr>
          <p:cNvSpPr txBox="1"/>
          <p:nvPr/>
        </p:nvSpPr>
        <p:spPr>
          <a:xfrm>
            <a:off x="1183690" y="2728144"/>
            <a:ext cx="3063052" cy="58477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Labeled cells</a:t>
            </a:r>
          </a:p>
          <a:p>
            <a:pPr algn="ctr"/>
            <a:r>
              <a:rPr lang="zh-TW" altLang="zh-TW" sz="1600" dirty="0"/>
              <a:t>Stratified Split</a:t>
            </a:r>
            <a:r>
              <a:rPr lang="en-US" altLang="zh-TW" sz="1600" dirty="0"/>
              <a:t> 80% / 20%</a:t>
            </a:r>
            <a:endParaRPr lang="zh-TW" altLang="zh-TW" sz="16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42C48805-36DF-65F6-1E6D-375292A8AACE}"/>
              </a:ext>
            </a:extLst>
          </p:cNvPr>
          <p:cNvSpPr txBox="1"/>
          <p:nvPr/>
        </p:nvSpPr>
        <p:spPr>
          <a:xfrm>
            <a:off x="1631684" y="3966786"/>
            <a:ext cx="2167063" cy="33855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Train / validation</a:t>
            </a:r>
            <a:endParaRPr lang="zh-TW" altLang="zh-TW" sz="1600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D3799A18-748D-C375-166E-7B4979036171}"/>
              </a:ext>
            </a:extLst>
          </p:cNvPr>
          <p:cNvSpPr txBox="1"/>
          <p:nvPr/>
        </p:nvSpPr>
        <p:spPr>
          <a:xfrm>
            <a:off x="5778197" y="2851254"/>
            <a:ext cx="2167063" cy="33855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Unknown cells</a:t>
            </a:r>
            <a:endParaRPr lang="zh-TW" altLang="zh-TW" sz="1600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BF61CAD4-AC74-F3F1-6852-EF7EB0949665}"/>
              </a:ext>
            </a:extLst>
          </p:cNvPr>
          <p:cNvSpPr txBox="1"/>
          <p:nvPr/>
        </p:nvSpPr>
        <p:spPr>
          <a:xfrm>
            <a:off x="4035663" y="4963372"/>
            <a:ext cx="1835276" cy="33855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zh-TW" sz="1600" dirty="0"/>
              <a:t>GCN model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AA93DEFF-E271-D002-8CDA-EF70CBCF4734}"/>
              </a:ext>
            </a:extLst>
          </p:cNvPr>
          <p:cNvSpPr txBox="1"/>
          <p:nvPr/>
        </p:nvSpPr>
        <p:spPr>
          <a:xfrm>
            <a:off x="3651062" y="5895336"/>
            <a:ext cx="2604478" cy="33855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zh-TW" sz="1600" dirty="0"/>
              <a:t>Predict </a:t>
            </a:r>
            <a:r>
              <a:rPr lang="en-US" altLang="zh-TW" sz="1600" dirty="0"/>
              <a:t>u</a:t>
            </a:r>
            <a:r>
              <a:rPr lang="zh-TW" altLang="zh-TW" sz="1600" dirty="0"/>
              <a:t>nknown </a:t>
            </a:r>
            <a:r>
              <a:rPr lang="en-US" altLang="zh-TW" sz="1600" dirty="0"/>
              <a:t>c</a:t>
            </a:r>
            <a:r>
              <a:rPr lang="zh-TW" altLang="zh-TW" sz="1600" dirty="0"/>
              <a:t>ells</a:t>
            </a:r>
          </a:p>
        </p:txBody>
      </p:sp>
      <p:sp>
        <p:nvSpPr>
          <p:cNvPr id="38" name="箭號: 向右 37">
            <a:extLst>
              <a:ext uri="{FF2B5EF4-FFF2-40B4-BE49-F238E27FC236}">
                <a16:creationId xmlns:a16="http://schemas.microsoft.com/office/drawing/2014/main" id="{CD2CED3F-9187-6557-10C9-14F5C2E6727A}"/>
              </a:ext>
            </a:extLst>
          </p:cNvPr>
          <p:cNvSpPr/>
          <p:nvPr/>
        </p:nvSpPr>
        <p:spPr>
          <a:xfrm rot="7582017">
            <a:off x="3477717" y="2386502"/>
            <a:ext cx="338554" cy="1276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箭號: 向右 39">
            <a:extLst>
              <a:ext uri="{FF2B5EF4-FFF2-40B4-BE49-F238E27FC236}">
                <a16:creationId xmlns:a16="http://schemas.microsoft.com/office/drawing/2014/main" id="{E9E66010-FEAE-EE66-D6F7-B70DF934A2BB}"/>
              </a:ext>
            </a:extLst>
          </p:cNvPr>
          <p:cNvSpPr/>
          <p:nvPr/>
        </p:nvSpPr>
        <p:spPr>
          <a:xfrm rot="3173199">
            <a:off x="5661286" y="2385849"/>
            <a:ext cx="338554" cy="1276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箭號: 向右 41">
            <a:extLst>
              <a:ext uri="{FF2B5EF4-FFF2-40B4-BE49-F238E27FC236}">
                <a16:creationId xmlns:a16="http://schemas.microsoft.com/office/drawing/2014/main" id="{51A8EEF6-3BC1-784E-8A8B-28033084F09C}"/>
              </a:ext>
            </a:extLst>
          </p:cNvPr>
          <p:cNvSpPr/>
          <p:nvPr/>
        </p:nvSpPr>
        <p:spPr>
          <a:xfrm rot="5400000">
            <a:off x="2545937" y="3585708"/>
            <a:ext cx="338554" cy="1276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箭號: 向右 43">
            <a:extLst>
              <a:ext uri="{FF2B5EF4-FFF2-40B4-BE49-F238E27FC236}">
                <a16:creationId xmlns:a16="http://schemas.microsoft.com/office/drawing/2014/main" id="{C79FBFEA-CB36-D8BC-117B-5A2ABCEF5701}"/>
              </a:ext>
            </a:extLst>
          </p:cNvPr>
          <p:cNvSpPr/>
          <p:nvPr/>
        </p:nvSpPr>
        <p:spPr>
          <a:xfrm rot="3173199">
            <a:off x="3498571" y="4553196"/>
            <a:ext cx="338554" cy="1276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箭號: 向右 45">
            <a:extLst>
              <a:ext uri="{FF2B5EF4-FFF2-40B4-BE49-F238E27FC236}">
                <a16:creationId xmlns:a16="http://schemas.microsoft.com/office/drawing/2014/main" id="{AE8F7700-CB11-A62C-1370-16C33F8C2D3A}"/>
              </a:ext>
            </a:extLst>
          </p:cNvPr>
          <p:cNvSpPr/>
          <p:nvPr/>
        </p:nvSpPr>
        <p:spPr>
          <a:xfrm rot="5400000">
            <a:off x="4784023" y="5542175"/>
            <a:ext cx="338554" cy="1276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箭號: 向右 47">
            <a:extLst>
              <a:ext uri="{FF2B5EF4-FFF2-40B4-BE49-F238E27FC236}">
                <a16:creationId xmlns:a16="http://schemas.microsoft.com/office/drawing/2014/main" id="{F4D48177-F788-9DE9-5188-186967B90C0A}"/>
              </a:ext>
            </a:extLst>
          </p:cNvPr>
          <p:cNvSpPr/>
          <p:nvPr/>
        </p:nvSpPr>
        <p:spPr>
          <a:xfrm rot="7582017">
            <a:off x="6088324" y="4553849"/>
            <a:ext cx="338554" cy="1276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減號 48">
            <a:extLst>
              <a:ext uri="{FF2B5EF4-FFF2-40B4-BE49-F238E27FC236}">
                <a16:creationId xmlns:a16="http://schemas.microsoft.com/office/drawing/2014/main" id="{5B422E99-CAB9-BE5A-4A69-01593E4DB9F3}"/>
              </a:ext>
            </a:extLst>
          </p:cNvPr>
          <p:cNvSpPr/>
          <p:nvPr/>
        </p:nvSpPr>
        <p:spPr>
          <a:xfrm rot="5400000">
            <a:off x="6343058" y="3369075"/>
            <a:ext cx="429584" cy="317272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減號 50">
            <a:extLst>
              <a:ext uri="{FF2B5EF4-FFF2-40B4-BE49-F238E27FC236}">
                <a16:creationId xmlns:a16="http://schemas.microsoft.com/office/drawing/2014/main" id="{2E683CA6-DFDB-4A8D-7A82-F3F4CFC4A023}"/>
              </a:ext>
            </a:extLst>
          </p:cNvPr>
          <p:cNvSpPr/>
          <p:nvPr/>
        </p:nvSpPr>
        <p:spPr>
          <a:xfrm rot="5400000">
            <a:off x="6343058" y="3921770"/>
            <a:ext cx="429584" cy="317272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3749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36B20-139C-AB97-9351-0BF83D441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5D6C28-DA74-1C84-9592-C58843576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GCN </a:t>
            </a:r>
            <a:r>
              <a:rPr lang="en-US" altLang="zh-TW" dirty="0"/>
              <a:t>results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3AE31C-3AC4-D116-0B2D-A31280E3C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18</a:t>
            </a:fld>
            <a:endParaRPr lang="zh-TW" alt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C96E687-FFDE-E5ED-6B8E-86F233245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4477770"/>
              </p:ext>
            </p:extLst>
          </p:nvPr>
        </p:nvGraphicFramePr>
        <p:xfrm>
          <a:off x="2208723" y="1916590"/>
          <a:ext cx="4946916" cy="1493520"/>
        </p:xfrm>
        <a:graphic>
          <a:graphicData uri="http://schemas.openxmlformats.org/drawingml/2006/table">
            <a:tbl>
              <a:tblPr/>
              <a:tblGrid>
                <a:gridCol w="1648972">
                  <a:extLst>
                    <a:ext uri="{9D8B030D-6E8A-4147-A177-3AD203B41FA5}">
                      <a16:colId xmlns:a16="http://schemas.microsoft.com/office/drawing/2014/main" val="1383026435"/>
                    </a:ext>
                  </a:extLst>
                </a:gridCol>
                <a:gridCol w="1648972">
                  <a:extLst>
                    <a:ext uri="{9D8B030D-6E8A-4147-A177-3AD203B41FA5}">
                      <a16:colId xmlns:a16="http://schemas.microsoft.com/office/drawing/2014/main" val="4204358492"/>
                    </a:ext>
                  </a:extLst>
                </a:gridCol>
                <a:gridCol w="1648972">
                  <a:extLst>
                    <a:ext uri="{9D8B030D-6E8A-4147-A177-3AD203B41FA5}">
                      <a16:colId xmlns:a16="http://schemas.microsoft.com/office/drawing/2014/main" val="4609462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/>
                        <a:t>Confusion matrix</a:t>
                      </a:r>
                      <a:endParaRPr lang="zh-TW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Predicted Uninfected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Predicted 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9046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True Uninfected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/>
                        <a:t>4411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2998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True 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334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76261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DA4D436-A963-776F-D208-9BE1BD5A63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668547"/>
              </p:ext>
            </p:extLst>
          </p:nvPr>
        </p:nvGraphicFramePr>
        <p:xfrm>
          <a:off x="2208723" y="4076171"/>
          <a:ext cx="8915400" cy="2499360"/>
        </p:xfrm>
        <a:graphic>
          <a:graphicData uri="http://schemas.openxmlformats.org/drawingml/2006/table">
            <a:tbl>
              <a:tblPr/>
              <a:tblGrid>
                <a:gridCol w="1485900">
                  <a:extLst>
                    <a:ext uri="{9D8B030D-6E8A-4147-A177-3AD203B41FA5}">
                      <a16:colId xmlns:a16="http://schemas.microsoft.com/office/drawing/2014/main" val="409052019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394539283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53360861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312320068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682930857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13096076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1" dirty="0"/>
                        <a:t>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Precision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Recall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F1-score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2889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Uninfected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4,416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651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Infected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0.97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0.98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343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397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0"/>
                        <a:t>Overall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1"/>
                        <a:t>1.00</a:t>
                      </a:r>
                      <a:endParaRPr lang="zh-TW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4,759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7225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0"/>
                        <a:t>Overall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Macro average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4,759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138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0" dirty="0"/>
                        <a:t>Overall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Weighted average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4,759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3038269"/>
                  </a:ext>
                </a:extLst>
              </a:tr>
            </a:tbl>
          </a:graphicData>
        </a:graphic>
      </p:graphicFrame>
      <p:pic>
        <p:nvPicPr>
          <p:cNvPr id="8" name="圖片 7">
            <a:extLst>
              <a:ext uri="{FF2B5EF4-FFF2-40B4-BE49-F238E27FC236}">
                <a16:creationId xmlns:a16="http://schemas.microsoft.com/office/drawing/2014/main" id="{47124204-14CD-AE33-BD7B-151A472F0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1327" y="330022"/>
            <a:ext cx="3086611" cy="3149956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4B2D89E2-DEE6-21BC-8C3B-A5A856F86C66}"/>
              </a:ext>
            </a:extLst>
          </p:cNvPr>
          <p:cNvSpPr txBox="1"/>
          <p:nvPr/>
        </p:nvSpPr>
        <p:spPr>
          <a:xfrm>
            <a:off x="9263667" y="2532545"/>
            <a:ext cx="12651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50" dirty="0"/>
              <a:t>* PR-AUC = 0.998</a:t>
            </a:r>
            <a:endParaRPr lang="zh-TW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6110279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F621A-EC75-A20A-B123-A6A8E3DAE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825FB8-B5A3-20E8-37D6-307C87C4D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GCN </a:t>
            </a:r>
            <a:r>
              <a:rPr lang="en-US" altLang="zh-TW" dirty="0"/>
              <a:t>results(2)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0096A1D-69BF-FE49-0E9F-BD75DF3B4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19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8663154-F613-5421-0018-87D85C055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12" y="1853453"/>
            <a:ext cx="5893157" cy="4401219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B5B1ADAB-F433-E29F-667F-31D8AAC1F6B5}"/>
              </a:ext>
            </a:extLst>
          </p:cNvPr>
          <p:cNvSpPr txBox="1"/>
          <p:nvPr/>
        </p:nvSpPr>
        <p:spPr>
          <a:xfrm>
            <a:off x="6646219" y="3676116"/>
            <a:ext cx="36923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dirty="0"/>
              <a:t>Unknown → Infected: 34822 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zh-TW" dirty="0"/>
              <a:t>cells Viral transcript &lt; 10: 32485 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zh-TW" dirty="0"/>
              <a:t>cells Percentage: 93.29%</a:t>
            </a:r>
            <a:endParaRPr lang="zh-TW" altLang="en-US" sz="16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4ED5D71-D9D7-1E70-4270-6D536362562A}"/>
              </a:ext>
            </a:extLst>
          </p:cNvPr>
          <p:cNvSpPr txBox="1"/>
          <p:nvPr/>
        </p:nvSpPr>
        <p:spPr>
          <a:xfrm>
            <a:off x="10750846" y="3953115"/>
            <a:ext cx="13572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dirty="0"/>
              <a:t>0: 8349 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zh-TW" dirty="0"/>
              <a:t>1~9: 24136</a:t>
            </a:r>
            <a:endParaRPr lang="zh-TW" altLang="en-US" sz="1600" dirty="0"/>
          </a:p>
        </p:txBody>
      </p:sp>
      <p:sp>
        <p:nvSpPr>
          <p:cNvPr id="19" name="箭號: 向右 18">
            <a:extLst>
              <a:ext uri="{FF2B5EF4-FFF2-40B4-BE49-F238E27FC236}">
                <a16:creationId xmlns:a16="http://schemas.microsoft.com/office/drawing/2014/main" id="{44340894-5EF8-5514-CA9A-7A1CF864DDC5}"/>
              </a:ext>
            </a:extLst>
          </p:cNvPr>
          <p:cNvSpPr/>
          <p:nvPr/>
        </p:nvSpPr>
        <p:spPr>
          <a:xfrm rot="1570202">
            <a:off x="10349385" y="4482896"/>
            <a:ext cx="338554" cy="1276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箭號: 向右 20">
            <a:extLst>
              <a:ext uri="{FF2B5EF4-FFF2-40B4-BE49-F238E27FC236}">
                <a16:creationId xmlns:a16="http://schemas.microsoft.com/office/drawing/2014/main" id="{99BCD0C4-AA12-F72E-E9CD-EEA490F28C19}"/>
              </a:ext>
            </a:extLst>
          </p:cNvPr>
          <p:cNvSpPr/>
          <p:nvPr/>
        </p:nvSpPr>
        <p:spPr>
          <a:xfrm rot="20406949">
            <a:off x="10349387" y="4165138"/>
            <a:ext cx="338554" cy="1276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02766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9723C-0D48-3A29-5D6E-415F1099F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DF73DF-CB2F-82C3-53C3-ABCBF45A3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GCN </a:t>
            </a:r>
            <a:r>
              <a:rPr lang="en-US" altLang="zh-TW" dirty="0"/>
              <a:t>results(3)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C514D94-BFFC-AF71-5EF9-416505F34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20</a:t>
            </a:fld>
            <a:endParaRPr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968F7377-E07F-18AF-886C-CEBED28D0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13" y="1691754"/>
            <a:ext cx="5638666" cy="365574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BB27927A-1F98-A82A-6533-EB5DF57FD9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3832" y="1691754"/>
            <a:ext cx="4961560" cy="3766949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F7869BA2-4467-2505-B989-FCFEFE33B344}"/>
              </a:ext>
            </a:extLst>
          </p:cNvPr>
          <p:cNvSpPr txBox="1"/>
          <p:nvPr/>
        </p:nvSpPr>
        <p:spPr>
          <a:xfrm>
            <a:off x="6339433" y="5886349"/>
            <a:ext cx="57871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* </a:t>
            </a:r>
            <a:r>
              <a:rPr lang="zh-TW" altLang="zh-TW" sz="1600" dirty="0"/>
              <a:t>The model is highly confident in its classification results</a:t>
            </a:r>
            <a:r>
              <a:rPr lang="en-US" altLang="zh-TW" sz="1600" dirty="0"/>
              <a:t>.</a:t>
            </a:r>
            <a:endParaRPr lang="zh-TW" altLang="zh-TW" sz="16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0AD1B35-A0A6-261B-9F11-3B65A6B5F2BC}"/>
              </a:ext>
            </a:extLst>
          </p:cNvPr>
          <p:cNvSpPr/>
          <p:nvPr/>
        </p:nvSpPr>
        <p:spPr>
          <a:xfrm>
            <a:off x="2592925" y="1691754"/>
            <a:ext cx="1377658" cy="343481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3F6175F-6148-98E1-4659-F6D90018A6A4}"/>
              </a:ext>
            </a:extLst>
          </p:cNvPr>
          <p:cNvSpPr txBox="1"/>
          <p:nvPr/>
        </p:nvSpPr>
        <p:spPr>
          <a:xfrm>
            <a:off x="1080146" y="5701911"/>
            <a:ext cx="45396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* </a:t>
            </a:r>
            <a:r>
              <a:rPr lang="zh-TW" altLang="zh-TW" sz="1600" dirty="0">
                <a:solidFill>
                  <a:schemeClr val="accent1"/>
                </a:solidFill>
              </a:rPr>
              <a:t>The original literature would overlook a significant proportion of infected cells.</a:t>
            </a:r>
          </a:p>
        </p:txBody>
      </p:sp>
    </p:spTree>
    <p:extLst>
      <p:ext uri="{BB962C8B-B14F-4D97-AF65-F5344CB8AC3E}">
        <p14:creationId xmlns:p14="http://schemas.microsoft.com/office/powerpoint/2010/main" val="29297383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D2ED2-DF7B-51DF-84BD-E05C90AD1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F99A17-366C-A1F5-7571-666EE414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Infection and Cell Type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BE969F6-FB89-EC5F-BD6A-B2B3DC806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21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F70A0A9-317B-C0EA-FC15-702A12F3B6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497737"/>
              </p:ext>
            </p:extLst>
          </p:nvPr>
        </p:nvGraphicFramePr>
        <p:xfrm>
          <a:off x="6352802" y="2266573"/>
          <a:ext cx="5493331" cy="3767532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03390">
                  <a:extLst>
                    <a:ext uri="{9D8B030D-6E8A-4147-A177-3AD203B41FA5}">
                      <a16:colId xmlns:a16="http://schemas.microsoft.com/office/drawing/2014/main" val="1639108065"/>
                    </a:ext>
                  </a:extLst>
                </a:gridCol>
                <a:gridCol w="1403390">
                  <a:extLst>
                    <a:ext uri="{9D8B030D-6E8A-4147-A177-3AD203B41FA5}">
                      <a16:colId xmlns:a16="http://schemas.microsoft.com/office/drawing/2014/main" val="3014232119"/>
                    </a:ext>
                  </a:extLst>
                </a:gridCol>
                <a:gridCol w="1283161">
                  <a:extLst>
                    <a:ext uri="{9D8B030D-6E8A-4147-A177-3AD203B41FA5}">
                      <a16:colId xmlns:a16="http://schemas.microsoft.com/office/drawing/2014/main" val="3061453955"/>
                    </a:ext>
                  </a:extLst>
                </a:gridCol>
                <a:gridCol w="1403390">
                  <a:extLst>
                    <a:ext uri="{9D8B030D-6E8A-4147-A177-3AD203B41FA5}">
                      <a16:colId xmlns:a16="http://schemas.microsoft.com/office/drawing/2014/main" val="1500121953"/>
                    </a:ext>
                  </a:extLst>
                </a:gridCol>
              </a:tblGrid>
              <a:tr h="586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/>
                        <a:t>Cell type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Uninfected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/>
                        <a:t>Infected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/>
                        <a:t>Infection rate</a:t>
                      </a:r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609895171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solidFill>
                            <a:srgbClr val="FF0000"/>
                          </a:solidFill>
                        </a:rPr>
                        <a:t>BC/Club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>
                          <a:solidFill>
                            <a:srgbClr val="FF0000"/>
                          </a:solidFill>
                        </a:rPr>
                        <a:t>145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>
                          <a:solidFill>
                            <a:srgbClr val="FF0000"/>
                          </a:solidFill>
                        </a:rPr>
                        <a:t>2,206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b="1" dirty="0">
                          <a:solidFill>
                            <a:srgbClr val="FF0000"/>
                          </a:solidFill>
                        </a:rPr>
                        <a:t>93.8%</a:t>
                      </a:r>
                      <a:endParaRPr lang="zh-TW" sz="1600" dirty="0">
                        <a:solidFill>
                          <a:srgbClr val="FF0000"/>
                        </a:solidFill>
                      </a:endParaRPr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170869035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Basal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/>
                        <a:t>6,439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12,891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b="1" dirty="0"/>
                        <a:t>66.7%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1562039546"/>
                  </a:ext>
                </a:extLst>
              </a:tr>
              <a:tr h="586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/>
                        <a:t>Ciliated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/>
                        <a:t>2,794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12,378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b="1" dirty="0"/>
                        <a:t>81.6%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169700995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Club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5,261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7,041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b="1"/>
                        <a:t>57.2%</a:t>
                      </a:r>
                      <a:endParaRPr lang="zh-TW" sz="160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331232607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Goblet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/>
                        <a:t>58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16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b="1"/>
                        <a:t>21.6%</a:t>
                      </a:r>
                      <a:endParaRPr lang="zh-TW" sz="160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2341682464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/>
                        <a:t>Ionocytes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/>
                        <a:t>472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58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b="1"/>
                        <a:t>10.9%</a:t>
                      </a:r>
                      <a:endParaRPr lang="zh-TW" sz="160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3310311248"/>
                  </a:ext>
                </a:extLst>
              </a:tr>
              <a:tr h="586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Neuroendocrine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106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193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b="1" dirty="0"/>
                        <a:t>64.5%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427276926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Tuft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/>
                        <a:t>198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39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b="1" dirty="0"/>
                        <a:t>16.5%</a:t>
                      </a:r>
                      <a:endParaRPr lang="zh-TW" sz="1600" dirty="0"/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3404495293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2BC43500-5622-A728-97EE-63A67EE288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820943"/>
              </p:ext>
            </p:extLst>
          </p:nvPr>
        </p:nvGraphicFramePr>
        <p:xfrm>
          <a:off x="524128" y="2266573"/>
          <a:ext cx="5493331" cy="377090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03390">
                  <a:extLst>
                    <a:ext uri="{9D8B030D-6E8A-4147-A177-3AD203B41FA5}">
                      <a16:colId xmlns:a16="http://schemas.microsoft.com/office/drawing/2014/main" val="1639108065"/>
                    </a:ext>
                  </a:extLst>
                </a:gridCol>
                <a:gridCol w="1403390">
                  <a:extLst>
                    <a:ext uri="{9D8B030D-6E8A-4147-A177-3AD203B41FA5}">
                      <a16:colId xmlns:a16="http://schemas.microsoft.com/office/drawing/2014/main" val="3014232119"/>
                    </a:ext>
                  </a:extLst>
                </a:gridCol>
                <a:gridCol w="1283161">
                  <a:extLst>
                    <a:ext uri="{9D8B030D-6E8A-4147-A177-3AD203B41FA5}">
                      <a16:colId xmlns:a16="http://schemas.microsoft.com/office/drawing/2014/main" val="3061453955"/>
                    </a:ext>
                  </a:extLst>
                </a:gridCol>
                <a:gridCol w="1403390">
                  <a:extLst>
                    <a:ext uri="{9D8B030D-6E8A-4147-A177-3AD203B41FA5}">
                      <a16:colId xmlns:a16="http://schemas.microsoft.com/office/drawing/2014/main" val="1500121953"/>
                    </a:ext>
                  </a:extLst>
                </a:gridCol>
              </a:tblGrid>
              <a:tr h="586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/>
                        <a:t>Cell type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Uninfected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 dirty="0"/>
                        <a:t>Infected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600"/>
                        <a:t>Infection rate</a:t>
                      </a:r>
                    </a:p>
                  </a:txBody>
                  <a:tcPr marL="90492" marR="90492" marT="45246" marB="45246" anchor="ctr"/>
                </a:tc>
                <a:extLst>
                  <a:ext uri="{0D108BD9-81ED-4DB2-BD59-A6C34878D82A}">
                    <a16:rowId xmlns:a16="http://schemas.microsoft.com/office/drawing/2014/main" val="609895171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BC/Club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869035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Basal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9549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2039546"/>
                  </a:ext>
                </a:extLst>
              </a:tr>
              <a:tr h="586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solidFill>
                            <a:srgbClr val="FF0000"/>
                          </a:solidFill>
                        </a:rPr>
                        <a:t>Ciliated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6208</a:t>
                      </a:r>
                      <a:endParaRPr lang="zh-TW" altLang="en-US" sz="1600" kern="120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1222</a:t>
                      </a:r>
                      <a:endParaRPr lang="zh-TW" altLang="en-US" sz="1600" kern="120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16.4%</a:t>
                      </a:r>
                      <a:endParaRPr lang="zh-TW" altLang="en-US" sz="16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700995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Club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4493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232607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Goblet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1682464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/>
                        <a:t>Ionocytes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0311248"/>
                  </a:ext>
                </a:extLst>
              </a:tr>
              <a:tr h="586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Neuroendocrine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276926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Tuft cells</a:t>
                      </a:r>
                    </a:p>
                  </a:txBody>
                  <a:tcPr marL="90492" marR="90492" marT="45246" marB="45246"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altLang="zh-TW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4495293"/>
                  </a:ext>
                </a:extLst>
              </a:tr>
            </a:tbl>
          </a:graphicData>
        </a:graphic>
      </p:graphicFrame>
      <p:sp>
        <p:nvSpPr>
          <p:cNvPr id="16" name="文字方塊 15">
            <a:extLst>
              <a:ext uri="{FF2B5EF4-FFF2-40B4-BE49-F238E27FC236}">
                <a16:creationId xmlns:a16="http://schemas.microsoft.com/office/drawing/2014/main" id="{7C56F66A-EE64-C2B5-4C2C-EDBAB5AFDC83}"/>
              </a:ext>
            </a:extLst>
          </p:cNvPr>
          <p:cNvSpPr txBox="1"/>
          <p:nvPr/>
        </p:nvSpPr>
        <p:spPr>
          <a:xfrm>
            <a:off x="9938851" y="6233890"/>
            <a:ext cx="1914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* P-value &lt; 0.001 </a:t>
            </a:r>
            <a:endParaRPr lang="zh-TW" altLang="zh-TW" sz="16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210FD9F8-F0A5-80F6-5149-35A93222285A}"/>
              </a:ext>
            </a:extLst>
          </p:cNvPr>
          <p:cNvSpPr txBox="1"/>
          <p:nvPr/>
        </p:nvSpPr>
        <p:spPr>
          <a:xfrm>
            <a:off x="468726" y="1693435"/>
            <a:ext cx="6101122" cy="423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>
              <a:lnSpc>
                <a:spcPts val="2700"/>
              </a:lnSpc>
              <a:buNone/>
            </a:pPr>
            <a:r>
              <a:rPr lang="zh-TW" altLang="zh-TW" sz="2100" b="0" i="0" dirty="0">
                <a:solidFill>
                  <a:srgbClr val="1F1F1F"/>
                </a:solidFill>
                <a:effectLst/>
                <a:latin typeface="inherit"/>
              </a:rPr>
              <a:t>Cells with high-confidence labels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B314135-5729-6021-6587-BC30933BF3A6}"/>
              </a:ext>
            </a:extLst>
          </p:cNvPr>
          <p:cNvSpPr txBox="1"/>
          <p:nvPr/>
        </p:nvSpPr>
        <p:spPr>
          <a:xfrm>
            <a:off x="6239435" y="1693434"/>
            <a:ext cx="6101122" cy="423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>
              <a:lnSpc>
                <a:spcPts val="2700"/>
              </a:lnSpc>
              <a:buNone/>
            </a:pPr>
            <a:r>
              <a:rPr lang="zh-TW" altLang="zh-TW" sz="2100" b="0" i="0" dirty="0">
                <a:solidFill>
                  <a:srgbClr val="1F1F1F"/>
                </a:solidFill>
                <a:effectLst/>
                <a:latin typeface="inherit"/>
              </a:rPr>
              <a:t>Cells with unknown labels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05ACBBB8-57D5-ECFD-5997-62A1635C48AE}"/>
              </a:ext>
            </a:extLst>
          </p:cNvPr>
          <p:cNvSpPr txBox="1"/>
          <p:nvPr/>
        </p:nvSpPr>
        <p:spPr>
          <a:xfrm>
            <a:off x="7186757" y="179773"/>
            <a:ext cx="4667060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zh-TW" dirty="0"/>
              <a:t>Done after the discussion on August 6th</a:t>
            </a:r>
          </a:p>
        </p:txBody>
      </p:sp>
    </p:spTree>
    <p:extLst>
      <p:ext uri="{BB962C8B-B14F-4D97-AF65-F5344CB8AC3E}">
        <p14:creationId xmlns:p14="http://schemas.microsoft.com/office/powerpoint/2010/main" val="14593050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ACD95-519F-F8BB-BDF3-DDBEA4DF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E7E19A-28DB-3415-3A00-CFB4073DC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Future works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A32F273-5B94-24C1-35E2-8E8EBB25F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22</a:t>
            </a:fld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A0AD95-3125-07D1-E166-291D81836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r>
              <a:rPr lang="zh-TW" altLang="zh-TW" dirty="0"/>
              <a:t>The topological relationships of cells are constructed based on other characteristics (such as clinical indicators, etc.).</a:t>
            </a:r>
          </a:p>
          <a:p>
            <a:pPr marL="0" indent="0">
              <a:buNone/>
            </a:pPr>
            <a:endParaRPr lang="en-US" altLang="zh-TW" dirty="0"/>
          </a:p>
          <a:p>
            <a:r>
              <a:rPr lang="zh-TW" altLang="zh-TW" dirty="0"/>
              <a:t>Confirm whether the gene expression profiles of the cells identified as infected align with known biological significance.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70405109"/>
      </p:ext>
    </p:extLst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絲縷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絲縷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絲縷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1514</TotalTime>
  <Words>1234</Words>
  <Application>Microsoft Office PowerPoint</Application>
  <PresentationFormat>寬螢幕</PresentationFormat>
  <Paragraphs>392</Paragraphs>
  <Slides>22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29" baseType="lpstr">
      <vt:lpstr>inherit</vt:lpstr>
      <vt:lpstr>Aptos</vt:lpstr>
      <vt:lpstr>Arial</vt:lpstr>
      <vt:lpstr>Century Gothic</vt:lpstr>
      <vt:lpstr>Wingdings 2</vt:lpstr>
      <vt:lpstr>Wingdings 3</vt:lpstr>
      <vt:lpstr>絲縷</vt:lpstr>
      <vt:lpstr>Research Progress and Future Work </vt:lpstr>
      <vt:lpstr>Aims</vt:lpstr>
      <vt:lpstr>Aim 1</vt:lpstr>
      <vt:lpstr>Immune gene list enrichment analysis</vt:lpstr>
      <vt:lpstr>Results of enrichment analysis(RF only)</vt:lpstr>
      <vt:lpstr>WGCNA</vt:lpstr>
      <vt:lpstr>The Concept of WGCNA  </vt:lpstr>
      <vt:lpstr>Data used for WGCNA</vt:lpstr>
      <vt:lpstr>Scale−Free assumption</vt:lpstr>
      <vt:lpstr>Issues regarding the choice of power</vt:lpstr>
      <vt:lpstr>Future works</vt:lpstr>
      <vt:lpstr>Aim 2</vt:lpstr>
      <vt:lpstr>Data information</vt:lpstr>
      <vt:lpstr>Data preprocessing</vt:lpstr>
      <vt:lpstr>Mock vs 1 dpi</vt:lpstr>
      <vt:lpstr>Topological relationships of cells</vt:lpstr>
      <vt:lpstr>GCN model</vt:lpstr>
      <vt:lpstr>GCN results</vt:lpstr>
      <vt:lpstr>GCN results(2)</vt:lpstr>
      <vt:lpstr>GCN results(3)</vt:lpstr>
      <vt:lpstr>Infection and Cell Type</vt:lpstr>
      <vt:lpstr>Future works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俊延 賴</dc:creator>
  <cp:lastModifiedBy>俊延 賴</cp:lastModifiedBy>
  <cp:revision>46</cp:revision>
  <dcterms:created xsi:type="dcterms:W3CDTF">2026-07-22T01:16:54Z</dcterms:created>
  <dcterms:modified xsi:type="dcterms:W3CDTF">2026-08-12T08:03:37Z</dcterms:modified>
</cp:coreProperties>
</file>