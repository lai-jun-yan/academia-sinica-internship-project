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284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D0395DF-18CE-B5DF-EE1E-44890C9FB2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B121FC53-8679-3C7C-0A65-0CFA2BB959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1C1AA7B-74F3-A23E-145E-7A4C40AB7F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E0135-6704-4177-9245-F593350F2A91}" type="datetimeFigureOut">
              <a:rPr lang="zh-TW" altLang="en-US" smtClean="0"/>
              <a:t>2026/7/8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B97444D-28C5-3B23-57A9-DA8A0C1362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016609A-BEF5-4785-FB3C-A9EB0CEFD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C959E-7B7A-4B49-A587-FEACBB20E59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122542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4F86748-2063-90FB-8D70-9FEE58084E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193A3FB-6944-644C-5E3C-3D2A1B3BE8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7751476-EF4C-97E6-4860-B186FDE76D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E0135-6704-4177-9245-F593350F2A91}" type="datetimeFigureOut">
              <a:rPr lang="zh-TW" altLang="en-US" smtClean="0"/>
              <a:t>2026/7/8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4C41C1E-4288-77B0-69FD-B9275658DF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B41F0D2-2997-29A5-5053-B2691934E1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C959E-7B7A-4B49-A587-FEACBB20E59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878010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1AF591E-50C4-5C4B-0CFB-A7910269CE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EFCC2995-69D2-F139-404B-14570D23CA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D661A48-8C1E-19B8-AFFD-62659DB8B0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E0135-6704-4177-9245-F593350F2A91}" type="datetimeFigureOut">
              <a:rPr lang="zh-TW" altLang="en-US" smtClean="0"/>
              <a:t>2026/7/8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B57B225-9B77-4440-1627-2BC4B58FE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51C5C5C-0285-A47D-9E54-3DD493850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C959E-7B7A-4B49-A587-FEACBB20E59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194414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E5D380B-0A44-7EF0-FEA2-2E8CED83B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725263C-361D-BAB5-4DAE-BBC08A85C3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D3DFE746-602B-4483-5D19-C00B68780B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418D66D0-EC8D-D80F-241C-A99DBC170E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E0135-6704-4177-9245-F593350F2A91}" type="datetimeFigureOut">
              <a:rPr lang="zh-TW" altLang="en-US" smtClean="0"/>
              <a:t>2026/7/8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278249D1-ED69-06DB-4166-B67F057BCB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3D5A0EE9-A409-74CD-5ED6-EDEFF9F5BD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C959E-7B7A-4B49-A587-FEACBB20E59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626443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8337625-7448-BAE8-25B6-954E01A7F9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BB8B0D9C-A595-19C8-3252-FA96B14C7D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9C8F647F-911C-3C17-3198-C87F5B10EA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F0420F7E-8C78-4AA4-AA48-55FBF9DC45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60CDA7D8-EAD3-208D-347C-EDDDD7ADB0B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9838305D-64B2-76CE-4C66-110CBB452E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E0135-6704-4177-9245-F593350F2A91}" type="datetimeFigureOut">
              <a:rPr lang="zh-TW" altLang="en-US" smtClean="0"/>
              <a:t>2026/7/8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B184414F-934C-7B70-D0A0-84C3A63280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8313E449-3662-AF30-B6E6-7D3942D93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C959E-7B7A-4B49-A587-FEACBB20E59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606293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377934B-E994-1596-AC44-FA0C21B42A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93D2B786-1479-C329-A020-6503D51D18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E0135-6704-4177-9245-F593350F2A91}" type="datetimeFigureOut">
              <a:rPr lang="zh-TW" altLang="en-US" smtClean="0"/>
              <a:t>2026/7/8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AEEC1493-B804-4D0F-2A9E-E4DAAA0D13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57986E68-1234-21D4-82CB-7E54A638AD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C959E-7B7A-4B49-A587-FEACBB20E59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555889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FFD23558-00C4-7D05-CEF9-C176A3EB4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E0135-6704-4177-9245-F593350F2A91}" type="datetimeFigureOut">
              <a:rPr lang="zh-TW" altLang="en-US" smtClean="0"/>
              <a:t>2026/7/8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FC9062C3-09BA-A996-2BFB-63F12CD81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D39E94B-F2D0-4867-90A2-A7BB9824D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C959E-7B7A-4B49-A587-FEACBB20E59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087667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4A58FC2-0413-4422-2170-9D23133295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35F9D49-CE75-ED64-3657-B578BC1AE9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E08CE7DE-9CED-E6BD-0A4E-85E9F6D1A7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58E09E60-FB51-B2A5-853C-8898C71784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E0135-6704-4177-9245-F593350F2A91}" type="datetimeFigureOut">
              <a:rPr lang="zh-TW" altLang="en-US" smtClean="0"/>
              <a:t>2026/7/8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A435D907-0282-F91D-DE18-09C45121DC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A21DB1A4-B627-FD0E-00E3-B23CD498E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C959E-7B7A-4B49-A587-FEACBB20E59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698888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F7C866B-A78B-9D1C-F211-C7675CC9A3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2968709A-95D2-0CC5-9146-ECC81CFA8A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851FBCE7-FDD6-D9BC-2266-8EFBA9CE27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1C06E6F3-2685-4D98-4E6A-F20514799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E0135-6704-4177-9245-F593350F2A91}" type="datetimeFigureOut">
              <a:rPr lang="zh-TW" altLang="en-US" smtClean="0"/>
              <a:t>2026/7/8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518E74F2-D0A6-B66F-8099-4957DDE12D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427B2326-5C8E-B732-F5A5-327A83848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C959E-7B7A-4B49-A587-FEACBB20E59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87378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7A67DF9-24AA-F050-6C50-87D826D363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116F87B5-8EB3-EEB8-8144-60A6A0DBD8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A7E7827-E9AC-B169-30F7-AE2050605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E0135-6704-4177-9245-F593350F2A91}" type="datetimeFigureOut">
              <a:rPr lang="zh-TW" altLang="en-US" smtClean="0"/>
              <a:t>2026/7/8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9246CCC-E3CB-4F13-51F9-17965B7C19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2E7B21E-EDCF-0A7D-86FF-937F848B67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C959E-7B7A-4B49-A587-FEACBB20E59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373267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2D9CD466-FC2C-F5F5-39C0-D6A350C2A5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48A885CF-A8F9-8B70-2586-70BE180A4B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B240048-3841-2FFA-8D9A-8E7D9DB1A2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E0135-6704-4177-9245-F593350F2A91}" type="datetimeFigureOut">
              <a:rPr lang="zh-TW" altLang="en-US" smtClean="0"/>
              <a:t>2026/7/8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8BEF294-ED63-9E75-8F97-226F34425D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21ED9E8-0554-716E-E245-39813A64AC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C959E-7B7A-4B49-A587-FEACBB20E59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55036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E06BECEC-41A8-F5DE-34E9-4878BE9C42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64EE3F7D-99A7-9184-C86E-2EF1986957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DFBAC1A-C1F0-61A2-6B4F-B478429982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0AE0135-6704-4177-9245-F593350F2A91}" type="datetimeFigureOut">
              <a:rPr lang="zh-TW" altLang="en-US" smtClean="0"/>
              <a:t>2026/7/8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7A56E33-0D3B-78E7-092D-21376FD257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DA0DFDA-7069-2A8C-AE90-89227D1736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A6C959E-7B7A-4B49-A587-FEACBB20E59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026006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D0D018F-31C5-E673-6DF0-1C7D9E54159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進度報告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95ED8B3F-6602-A870-2F6B-E8B715C2074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文獻回顧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en-US" altLang="zh-TW" dirty="0"/>
              <a:t>2026.07.08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064876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40F13E4-8AD6-052E-77FC-05A26E57C6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目標一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EABDE844-ACA9-9D3A-2E0A-5B396CB8A9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3770" y="149753"/>
            <a:ext cx="6468230" cy="3983436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D13DBBAB-681D-4E40-37C0-5209CAC10F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821" y="3429000"/>
            <a:ext cx="5346949" cy="3191195"/>
          </a:xfrm>
          <a:prstGeom prst="rect">
            <a:avLst/>
          </a:prstGeo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300E28E4-ABD0-B262-5369-64F3448F5737}"/>
              </a:ext>
            </a:extLst>
          </p:cNvPr>
          <p:cNvSpPr txBox="1"/>
          <p:nvPr/>
        </p:nvSpPr>
        <p:spPr>
          <a:xfrm>
            <a:off x="486899" y="2116612"/>
            <a:ext cx="52368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透過模型找出對於分類感染類型的</a:t>
            </a:r>
            <a:r>
              <a:rPr lang="en-US" altLang="zh-TW" sz="2000" dirty="0">
                <a:latin typeface="+mn-ea"/>
              </a:rPr>
              <a:t>gene pair</a:t>
            </a:r>
            <a:endParaRPr lang="zh-TW" altLang="en-US" sz="2000" dirty="0">
              <a:latin typeface="+mn-ea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7BB422B3-3BB6-CAF3-650A-0B4BB690025B}"/>
              </a:ext>
            </a:extLst>
          </p:cNvPr>
          <p:cNvSpPr txBox="1"/>
          <p:nvPr/>
        </p:nvSpPr>
        <p:spPr>
          <a:xfrm>
            <a:off x="5723770" y="4954329"/>
            <a:ext cx="64232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000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希望針對這些基因做後續的分析，比方說富集分析等等。</a:t>
            </a:r>
            <a:endParaRPr lang="zh-TW" altLang="en-US" sz="2000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87E4CD9-94E2-D0DE-B98D-1B178AF66BE4}"/>
              </a:ext>
            </a:extLst>
          </p:cNvPr>
          <p:cNvSpPr/>
          <p:nvPr/>
        </p:nvSpPr>
        <p:spPr>
          <a:xfrm>
            <a:off x="4897256" y="3439740"/>
            <a:ext cx="675060" cy="319119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6706EB3C-D941-159C-8FC8-A12FA5138501}"/>
              </a:ext>
            </a:extLst>
          </p:cNvPr>
          <p:cNvSpPr txBox="1"/>
          <p:nvPr/>
        </p:nvSpPr>
        <p:spPr>
          <a:xfrm>
            <a:off x="9547590" y="6178775"/>
            <a:ext cx="21784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/>
              <a:t>(</a:t>
            </a:r>
            <a:r>
              <a:rPr lang="zh-TW" altLang="zh-TW" dirty="0"/>
              <a:t>Jize Xie</a:t>
            </a:r>
            <a:r>
              <a:rPr lang="en-US" altLang="zh-TW" dirty="0"/>
              <a:t> et al. 2024)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0503506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2EBF9E-E093-2101-C4D7-76BE277180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7F8F52E-0AE4-4B78-C722-B07499F8B2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富集分析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34A94FAA-46D5-BC5C-D911-C70DC89DB973}"/>
              </a:ext>
            </a:extLst>
          </p:cNvPr>
          <p:cNvSpPr txBox="1"/>
          <p:nvPr/>
        </p:nvSpPr>
        <p:spPr>
          <a:xfrm>
            <a:off x="999293" y="1567950"/>
            <a:ext cx="10574923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概念</a:t>
            </a:r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:</a:t>
            </a:r>
          </a:p>
          <a:p>
            <a:r>
              <a:rPr lang="zh-TW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同一條</a:t>
            </a:r>
            <a:r>
              <a:rPr lang="zh-TW" altLang="zh-TW" sz="2000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生物路徑中的基因</a:t>
            </a:r>
            <a:r>
              <a:rPr lang="en-US" altLang="zh-TW" sz="2000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sz="2000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必須要已知</a:t>
            </a:r>
            <a:r>
              <a:rPr lang="en-US" altLang="zh-TW" sz="2000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r>
              <a:rPr lang="zh-TW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，是否在對某種刺激產生最明顯</a:t>
            </a:r>
            <a:r>
              <a:rPr lang="zh-TW" altLang="zh-TW" sz="2000" dirty="0">
                <a:solidFill>
                  <a:schemeClr val="tx2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差異表現的基因集合</a:t>
            </a:r>
            <a:r>
              <a:rPr lang="zh-TW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中出現得比預期更多。</a:t>
            </a:r>
            <a:endParaRPr lang="zh-TW" altLang="en-US" sz="2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43D00E95-3CD6-F98A-FAA5-3F67F8E9AA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706351"/>
            <a:ext cx="7356463" cy="3786524"/>
          </a:xfrm>
          <a:prstGeom prst="rect">
            <a:avLst/>
          </a:prstGeom>
        </p:spPr>
      </p:pic>
      <p:sp>
        <p:nvSpPr>
          <p:cNvPr id="14" name="文字方塊 13">
            <a:extLst>
              <a:ext uri="{FF2B5EF4-FFF2-40B4-BE49-F238E27FC236}">
                <a16:creationId xmlns:a16="http://schemas.microsoft.com/office/drawing/2014/main" id="{7A39B590-7537-8B19-AB57-1E17F29EAC86}"/>
              </a:ext>
            </a:extLst>
          </p:cNvPr>
          <p:cNvSpPr txBox="1"/>
          <p:nvPr/>
        </p:nvSpPr>
        <p:spPr>
          <a:xfrm>
            <a:off x="8297581" y="5988531"/>
            <a:ext cx="29533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/>
              <a:t>(</a:t>
            </a:r>
            <a:r>
              <a:rPr lang="zh-TW" altLang="zh-TW" dirty="0"/>
              <a:t>Jui-Hung Hung</a:t>
            </a:r>
            <a:r>
              <a:rPr lang="zh-TW" altLang="en-US" dirty="0"/>
              <a:t> </a:t>
            </a:r>
            <a:r>
              <a:rPr lang="en-US" altLang="zh-TW" dirty="0"/>
              <a:t>et al. 2011)</a:t>
            </a:r>
            <a:endParaRPr lang="zh-TW" altLang="en-US" dirty="0"/>
          </a:p>
        </p:txBody>
      </p:sp>
      <p:cxnSp>
        <p:nvCxnSpPr>
          <p:cNvPr id="5" name="直線單箭頭接點 4">
            <a:extLst>
              <a:ext uri="{FF2B5EF4-FFF2-40B4-BE49-F238E27FC236}">
                <a16:creationId xmlns:a16="http://schemas.microsoft.com/office/drawing/2014/main" id="{FF3D9D0F-6967-0552-C630-AB2261C3456D}"/>
              </a:ext>
            </a:extLst>
          </p:cNvPr>
          <p:cNvCxnSpPr/>
          <p:nvPr/>
        </p:nvCxnSpPr>
        <p:spPr>
          <a:xfrm>
            <a:off x="9774231" y="2362144"/>
            <a:ext cx="374351" cy="68733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文字方塊 6">
            <a:extLst>
              <a:ext uri="{FF2B5EF4-FFF2-40B4-BE49-F238E27FC236}">
                <a16:creationId xmlns:a16="http://schemas.microsoft.com/office/drawing/2014/main" id="{C80C213A-8633-E67B-00BE-F633966EBD8C}"/>
              </a:ext>
            </a:extLst>
          </p:cNvPr>
          <p:cNvSpPr txBox="1"/>
          <p:nvPr/>
        </p:nvSpPr>
        <p:spPr>
          <a:xfrm>
            <a:off x="8725756" y="3255069"/>
            <a:ext cx="2953301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這是傳統的定義，我們取得的</a:t>
            </a:r>
            <a:r>
              <a:rPr lang="en-US" altLang="zh-TW" dirty="0">
                <a:latin typeface="+mn-ea"/>
              </a:rPr>
              <a:t>gene set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是從神經網路模型取得，非差異分析，但</a:t>
            </a:r>
            <a:r>
              <a:rPr lang="zh-TW" altLang="en-US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後續分析仍然需要基因表現量的資訊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49F87C4-C6BD-7254-3BC6-6E78B6C16B90}"/>
              </a:ext>
            </a:extLst>
          </p:cNvPr>
          <p:cNvSpPr/>
          <p:nvPr/>
        </p:nvSpPr>
        <p:spPr>
          <a:xfrm>
            <a:off x="945085" y="2668000"/>
            <a:ext cx="3455081" cy="2597475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C9F1FEBD-F355-19FA-01FA-9DC206E13CBF}"/>
              </a:ext>
            </a:extLst>
          </p:cNvPr>
          <p:cNvSpPr txBox="1"/>
          <p:nvPr/>
        </p:nvSpPr>
        <p:spPr>
          <a:xfrm>
            <a:off x="4400166" y="2362144"/>
            <a:ext cx="33143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>
                <a:solidFill>
                  <a:schemeClr val="tx2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我們應該不需用在意這個步驟</a:t>
            </a:r>
            <a:r>
              <a:rPr lang="en-US" altLang="zh-TW" dirty="0">
                <a:solidFill>
                  <a:schemeClr val="tx2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?</a:t>
            </a:r>
            <a:endParaRPr lang="zh-TW" altLang="en-US" dirty="0">
              <a:solidFill>
                <a:schemeClr val="tx2">
                  <a:lumMod val="75000"/>
                  <a:lumOff val="25000"/>
                </a:schemeClr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4390522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857204-D80A-9185-C5F5-94D5D56230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3C4C8AF-C28B-45B0-9822-5F079AC719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9673"/>
            <a:ext cx="10515600" cy="1325563"/>
          </a:xfrm>
        </p:spPr>
        <p:txBody>
          <a:bodyPr/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統計檢定</a:t>
            </a:r>
          </a:p>
        </p:txBody>
      </p:sp>
      <p:graphicFrame>
        <p:nvGraphicFramePr>
          <p:cNvPr id="15" name="表格 14">
            <a:extLst>
              <a:ext uri="{FF2B5EF4-FFF2-40B4-BE49-F238E27FC236}">
                <a16:creationId xmlns:a16="http://schemas.microsoft.com/office/drawing/2014/main" id="{7E00E244-834B-6DD4-52B0-46D5BF2E6B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7982407"/>
              </p:ext>
            </p:extLst>
          </p:nvPr>
        </p:nvGraphicFramePr>
        <p:xfrm>
          <a:off x="1071401" y="2400787"/>
          <a:ext cx="3445366" cy="4023360"/>
        </p:xfrm>
        <a:graphic>
          <a:graphicData uri="http://schemas.openxmlformats.org/drawingml/2006/table">
            <a:tbl>
              <a:tblPr/>
              <a:tblGrid>
                <a:gridCol w="1722683">
                  <a:extLst>
                    <a:ext uri="{9D8B030D-6E8A-4147-A177-3AD203B41FA5}">
                      <a16:colId xmlns:a16="http://schemas.microsoft.com/office/drawing/2014/main" val="57666176"/>
                    </a:ext>
                  </a:extLst>
                </a:gridCol>
                <a:gridCol w="1722683">
                  <a:extLst>
                    <a:ext uri="{9D8B030D-6E8A-4147-A177-3AD203B41FA5}">
                      <a16:colId xmlns:a16="http://schemas.microsoft.com/office/drawing/2014/main" val="3779856865"/>
                    </a:ext>
                  </a:extLst>
                </a:gridCol>
              </a:tblGrid>
              <a:tr h="35861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dirty="0"/>
                        <a:t>Gene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dirty="0"/>
                        <a:t>t statistic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9729087"/>
                  </a:ext>
                </a:extLst>
              </a:tr>
              <a:tr h="3586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>
                          <a:solidFill>
                            <a:srgbClr val="FF0000"/>
                          </a:solidFill>
                        </a:rPr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TW" dirty="0">
                          <a:solidFill>
                            <a:srgbClr val="FF0000"/>
                          </a:solidFill>
                        </a:rPr>
                        <a:t>4.5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3836463"/>
                  </a:ext>
                </a:extLst>
              </a:tr>
              <a:tr h="3586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dirty="0"/>
                        <a:t>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TW" dirty="0"/>
                        <a:t>3.8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9439340"/>
                  </a:ext>
                </a:extLst>
              </a:tr>
              <a:tr h="3586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>
                          <a:solidFill>
                            <a:srgbClr val="FF0000"/>
                          </a:solidFill>
                        </a:rPr>
                        <a:t>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TW" dirty="0">
                          <a:solidFill>
                            <a:srgbClr val="FF0000"/>
                          </a:solidFill>
                        </a:rPr>
                        <a:t>3.2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0324741"/>
                  </a:ext>
                </a:extLst>
              </a:tr>
              <a:tr h="3586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dirty="0">
                          <a:solidFill>
                            <a:srgbClr val="FF0000"/>
                          </a:solidFill>
                        </a:rPr>
                        <a:t>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TW" dirty="0">
                          <a:solidFill>
                            <a:srgbClr val="FF0000"/>
                          </a:solidFill>
                        </a:rPr>
                        <a:t>2.8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0485718"/>
                  </a:ext>
                </a:extLst>
              </a:tr>
              <a:tr h="3586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/>
                        <a:t>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TW" dirty="0"/>
                        <a:t>1.1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1560444"/>
                  </a:ext>
                </a:extLst>
              </a:tr>
              <a:tr h="3586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/>
                        <a:t>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TW"/>
                        <a:t>-0.5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5576653"/>
                  </a:ext>
                </a:extLst>
              </a:tr>
              <a:tr h="3586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/>
                        <a:t>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TW" dirty="0"/>
                        <a:t>-2.1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5350433"/>
                  </a:ext>
                </a:extLst>
              </a:tr>
              <a:tr h="3586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/>
                        <a:t>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TW" dirty="0"/>
                        <a:t>-3.4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4436444"/>
                  </a:ext>
                </a:extLst>
              </a:tr>
              <a:tr h="3586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>
                          <a:solidFill>
                            <a:srgbClr val="FF0000"/>
                          </a:solidFill>
                        </a:rPr>
                        <a:t>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TW" dirty="0">
                          <a:solidFill>
                            <a:srgbClr val="FF0000"/>
                          </a:solidFill>
                        </a:rPr>
                        <a:t>-4.0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4836089"/>
                  </a:ext>
                </a:extLst>
              </a:tr>
              <a:tr h="3586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/>
                        <a:t>J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TW" dirty="0"/>
                        <a:t>-5.2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5924917"/>
                  </a:ext>
                </a:extLst>
              </a:tr>
            </a:tbl>
          </a:graphicData>
        </a:graphic>
      </p:graphicFrame>
      <p:pic>
        <p:nvPicPr>
          <p:cNvPr id="17" name="圖片 16">
            <a:extLst>
              <a:ext uri="{FF2B5EF4-FFF2-40B4-BE49-F238E27FC236}">
                <a16:creationId xmlns:a16="http://schemas.microsoft.com/office/drawing/2014/main" id="{9485BE49-249E-EF4C-57E7-DF7B22D672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2931" y="719697"/>
            <a:ext cx="6757369" cy="2182196"/>
          </a:xfrm>
          <a:prstGeom prst="rect">
            <a:avLst/>
          </a:prstGeom>
        </p:spPr>
      </p:pic>
      <p:sp>
        <p:nvSpPr>
          <p:cNvPr id="19" name="文字方塊 18">
            <a:extLst>
              <a:ext uri="{FF2B5EF4-FFF2-40B4-BE49-F238E27FC236}">
                <a16:creationId xmlns:a16="http://schemas.microsoft.com/office/drawing/2014/main" id="{FFBC8E84-A713-B639-5667-48BB495D0D3B}"/>
              </a:ext>
            </a:extLst>
          </p:cNvPr>
          <p:cNvSpPr txBox="1"/>
          <p:nvPr/>
        </p:nvSpPr>
        <p:spPr>
          <a:xfrm>
            <a:off x="2974957" y="1675928"/>
            <a:ext cx="26280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不一定要用</a:t>
            </a:r>
            <a:r>
              <a:rPr lang="en-US" altLang="zh-TW" dirty="0">
                <a:latin typeface="+mn-ea"/>
              </a:rPr>
              <a:t>t test</a:t>
            </a:r>
            <a:endParaRPr lang="zh-TW" altLang="en-US" dirty="0">
              <a:latin typeface="+mn-ea"/>
            </a:endParaRPr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08143C9B-C884-F856-4A34-3DFE20CCF4E4}"/>
              </a:ext>
            </a:extLst>
          </p:cNvPr>
          <p:cNvSpPr txBox="1"/>
          <p:nvPr/>
        </p:nvSpPr>
        <p:spPr>
          <a:xfrm>
            <a:off x="4744838" y="5500817"/>
            <a:ext cx="374464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根據基因表現量可以計算各種統計檢定量，但需要產生虛無假設下的分布，</a:t>
            </a:r>
            <a:r>
              <a:rPr lang="zh-TW" altLang="zh-TW" dirty="0"/>
              <a:t>Shuffle</a:t>
            </a:r>
            <a:r>
              <a:rPr lang="zh-TW" altLang="en-US" dirty="0"/>
              <a:t> </a:t>
            </a:r>
            <a:r>
              <a:rPr lang="en-US" altLang="zh-TW" dirty="0"/>
              <a:t>gene</a:t>
            </a:r>
            <a:r>
              <a:rPr lang="zh-TW" altLang="en-US" dirty="0"/>
              <a:t> </a:t>
            </a:r>
            <a:r>
              <a:rPr lang="en-US" altLang="zh-TW" dirty="0"/>
              <a:t>or</a:t>
            </a:r>
            <a:r>
              <a:rPr lang="zh-TW" altLang="en-US" dirty="0"/>
              <a:t> </a:t>
            </a:r>
            <a:r>
              <a:rPr lang="en-US" altLang="zh-TW" dirty="0"/>
              <a:t>phenotype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。</a:t>
            </a:r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FED8EF50-DF22-2B2A-458D-FF441F9DBA07}"/>
              </a:ext>
            </a:extLst>
          </p:cNvPr>
          <p:cNvSpPr txBox="1"/>
          <p:nvPr/>
        </p:nvSpPr>
        <p:spPr>
          <a:xfrm>
            <a:off x="9107653" y="2946851"/>
            <a:ext cx="29533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/>
              <a:t>(</a:t>
            </a:r>
            <a:r>
              <a:rPr lang="zh-TW" altLang="zh-TW" dirty="0"/>
              <a:t>Jui-Hung Hung</a:t>
            </a:r>
            <a:r>
              <a:rPr lang="zh-TW" altLang="en-US" dirty="0"/>
              <a:t> </a:t>
            </a:r>
            <a:r>
              <a:rPr lang="en-US" altLang="zh-TW" dirty="0"/>
              <a:t>et al. 2011)</a:t>
            </a:r>
            <a:endParaRPr lang="zh-TW" altLang="en-US" dirty="0"/>
          </a:p>
        </p:txBody>
      </p:sp>
      <p:grpSp>
        <p:nvGrpSpPr>
          <p:cNvPr id="37" name="群組 36">
            <a:extLst>
              <a:ext uri="{FF2B5EF4-FFF2-40B4-BE49-F238E27FC236}">
                <a16:creationId xmlns:a16="http://schemas.microsoft.com/office/drawing/2014/main" id="{7CFCE127-17B5-FADF-F60E-C5B21F9406CF}"/>
              </a:ext>
            </a:extLst>
          </p:cNvPr>
          <p:cNvGrpSpPr/>
          <p:nvPr/>
        </p:nvGrpSpPr>
        <p:grpSpPr>
          <a:xfrm>
            <a:off x="9265342" y="4740939"/>
            <a:ext cx="2176505" cy="1755155"/>
            <a:chOff x="7107249" y="4820696"/>
            <a:chExt cx="2176505" cy="1755155"/>
          </a:xfrm>
        </p:grpSpPr>
        <p:sp>
          <p:nvSpPr>
            <p:cNvPr id="30" name="文字方塊 29">
              <a:extLst>
                <a:ext uri="{FF2B5EF4-FFF2-40B4-BE49-F238E27FC236}">
                  <a16:creationId xmlns:a16="http://schemas.microsoft.com/office/drawing/2014/main" id="{F09B54FE-D94F-BA95-754B-18D5C9D60E56}"/>
                </a:ext>
              </a:extLst>
            </p:cNvPr>
            <p:cNvSpPr txBox="1"/>
            <p:nvPr/>
          </p:nvSpPr>
          <p:spPr>
            <a:xfrm>
              <a:off x="7278853" y="4946819"/>
              <a:ext cx="1914717" cy="147732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TW" altLang="en-US" dirty="0"/>
                <a:t>Immune Pathway</a:t>
              </a:r>
            </a:p>
            <a:p>
              <a:pPr algn="ctr"/>
              <a:r>
                <a:rPr lang="zh-TW" altLang="en-US" dirty="0"/>
                <a:t>A</a:t>
              </a:r>
            </a:p>
            <a:p>
              <a:pPr algn="ctr"/>
              <a:r>
                <a:rPr lang="zh-TW" altLang="en-US" dirty="0"/>
                <a:t>C</a:t>
              </a:r>
            </a:p>
            <a:p>
              <a:pPr algn="ctr"/>
              <a:r>
                <a:rPr lang="zh-TW" altLang="en-US" dirty="0"/>
                <a:t>D</a:t>
              </a:r>
            </a:p>
            <a:p>
              <a:pPr algn="ctr"/>
              <a:r>
                <a:rPr lang="zh-TW" altLang="en-US" dirty="0"/>
                <a:t>I</a:t>
              </a:r>
            </a:p>
          </p:txBody>
        </p:sp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1879D6ED-8465-77CC-9FF2-77C2CED64C9C}"/>
                </a:ext>
              </a:extLst>
            </p:cNvPr>
            <p:cNvSpPr/>
            <p:nvPr/>
          </p:nvSpPr>
          <p:spPr>
            <a:xfrm>
              <a:off x="7107249" y="4820696"/>
              <a:ext cx="2176505" cy="1755155"/>
            </a:xfrm>
            <a:prstGeom prst="rect">
              <a:avLst/>
            </a:prstGeom>
            <a:noFill/>
            <a:ln w="38100"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36" name="文字方塊 35">
            <a:extLst>
              <a:ext uri="{FF2B5EF4-FFF2-40B4-BE49-F238E27FC236}">
                <a16:creationId xmlns:a16="http://schemas.microsoft.com/office/drawing/2014/main" id="{D65D33E9-54EC-E0C7-5204-BE522DFA34B9}"/>
              </a:ext>
            </a:extLst>
          </p:cNvPr>
          <p:cNvSpPr txBox="1"/>
          <p:nvPr/>
        </p:nvSpPr>
        <p:spPr>
          <a:xfrm>
            <a:off x="4624164" y="3316183"/>
            <a:ext cx="29436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  <a:latin typeface="+mn-ea"/>
              </a:rPr>
              <a:t>window/gene</a:t>
            </a:r>
            <a:r>
              <a:rPr lang="zh-TW" altLang="en-US" dirty="0">
                <a:solidFill>
                  <a:srgbClr val="FF0000"/>
                </a:solidFill>
                <a:latin typeface="+mn-ea"/>
              </a:rPr>
              <a:t> </a:t>
            </a:r>
            <a:r>
              <a:rPr lang="en-US" altLang="zh-TW" dirty="0">
                <a:solidFill>
                  <a:srgbClr val="FF0000"/>
                </a:solidFill>
                <a:latin typeface="+mn-ea"/>
              </a:rPr>
              <a:t>set</a:t>
            </a:r>
            <a:r>
              <a:rPr lang="zh-TW" altLang="en-US" dirty="0">
                <a:solidFill>
                  <a:srgbClr val="FF0000"/>
                </a:solidFill>
                <a:latin typeface="+mn-ea"/>
              </a:rPr>
              <a:t> </a:t>
            </a:r>
            <a:r>
              <a:rPr lang="en-US" altLang="zh-TW" dirty="0">
                <a:solidFill>
                  <a:srgbClr val="FF0000"/>
                </a:solidFill>
                <a:latin typeface="+mn-ea"/>
              </a:rPr>
              <a:t>level</a:t>
            </a:r>
            <a:endParaRPr lang="zh-TW" altLang="en-US" dirty="0">
              <a:solidFill>
                <a:srgbClr val="FF0000"/>
              </a:solidFill>
              <a:latin typeface="+mn-ea"/>
            </a:endParaRPr>
          </a:p>
        </p:txBody>
      </p:sp>
      <p:cxnSp>
        <p:nvCxnSpPr>
          <p:cNvPr id="44" name="直線單箭頭接點 43">
            <a:extLst>
              <a:ext uri="{FF2B5EF4-FFF2-40B4-BE49-F238E27FC236}">
                <a16:creationId xmlns:a16="http://schemas.microsoft.com/office/drawing/2014/main" id="{B9CB3CD7-FA25-B75F-3508-7F8214D2380A}"/>
              </a:ext>
            </a:extLst>
          </p:cNvPr>
          <p:cNvCxnSpPr>
            <a:cxnSpLocks/>
          </p:cNvCxnSpPr>
          <p:nvPr/>
        </p:nvCxnSpPr>
        <p:spPr>
          <a:xfrm flipH="1" flipV="1">
            <a:off x="5292626" y="4222038"/>
            <a:ext cx="3008987" cy="791662"/>
          </a:xfrm>
          <a:prstGeom prst="straightConnector1">
            <a:avLst/>
          </a:prstGeom>
          <a:ln w="38100">
            <a:solidFill>
              <a:schemeClr val="tx2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文字方塊 51">
            <a:extLst>
              <a:ext uri="{FF2B5EF4-FFF2-40B4-BE49-F238E27FC236}">
                <a16:creationId xmlns:a16="http://schemas.microsoft.com/office/drawing/2014/main" id="{E1520815-EB0E-27B8-B744-30157975DCC9}"/>
              </a:ext>
            </a:extLst>
          </p:cNvPr>
          <p:cNvSpPr txBox="1"/>
          <p:nvPr/>
        </p:nvSpPr>
        <p:spPr>
          <a:xfrm>
            <a:off x="6797119" y="4129494"/>
            <a:ext cx="10801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>
                <a:solidFill>
                  <a:schemeClr val="tx2">
                    <a:lumMod val="75000"/>
                    <a:lumOff val="25000"/>
                  </a:schemeClr>
                </a:solidFill>
                <a:latin typeface="+mn-ea"/>
              </a:rPr>
              <a:t>enrich</a:t>
            </a:r>
            <a:endParaRPr lang="zh-TW" altLang="en-US" dirty="0">
              <a:solidFill>
                <a:schemeClr val="tx2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54" name="文字方塊 53">
            <a:extLst>
              <a:ext uri="{FF2B5EF4-FFF2-40B4-BE49-F238E27FC236}">
                <a16:creationId xmlns:a16="http://schemas.microsoft.com/office/drawing/2014/main" id="{06CC9682-6C86-E578-4319-C7638A608570}"/>
              </a:ext>
            </a:extLst>
          </p:cNvPr>
          <p:cNvSpPr txBox="1"/>
          <p:nvPr/>
        </p:nvSpPr>
        <p:spPr>
          <a:xfrm>
            <a:off x="8679107" y="4123880"/>
            <a:ext cx="33489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所以我們需要已知的生物路徑</a:t>
            </a:r>
          </a:p>
        </p:txBody>
      </p:sp>
    </p:spTree>
    <p:extLst>
      <p:ext uri="{BB962C8B-B14F-4D97-AF65-F5344CB8AC3E}">
        <p14:creationId xmlns:p14="http://schemas.microsoft.com/office/powerpoint/2010/main" val="35224393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000381-0717-B151-C90D-22D3681608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D0E68E4-48D2-27B9-1E36-7EC98A8DDD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目標一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—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後續分析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EF5D5529-BF94-39F1-0B7C-E1EFE574E2BF}"/>
              </a:ext>
            </a:extLst>
          </p:cNvPr>
          <p:cNvSpPr txBox="1"/>
          <p:nvPr/>
        </p:nvSpPr>
        <p:spPr>
          <a:xfrm>
            <a:off x="808538" y="1773566"/>
            <a:ext cx="10574923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針對富集分析的部分，可以嘗試加入</a:t>
            </a:r>
            <a:r>
              <a:rPr lang="zh-TW" altLang="zh-TW" sz="2000" dirty="0">
                <a:latin typeface="+mn-ea"/>
              </a:rPr>
              <a:t>Topology Method</a:t>
            </a:r>
            <a:r>
              <a:rPr lang="zh-TW" altLang="en-US" sz="2000" dirty="0"/>
              <a:t>，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在生物學中，</a:t>
            </a:r>
            <a:r>
              <a:rPr lang="zh-TW" altLang="en-US" sz="2000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同個路徑下的基因通常存在上下游關係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，所以在計算統計量時，或許可以考慮調整每個基因的權重。</a:t>
            </a:r>
            <a:endParaRPr lang="en-US" altLang="zh-TW" sz="2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TW" sz="2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TW" sz="2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TW" sz="2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TW" sz="2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看到基因表現量的時候，我們是否</a:t>
            </a:r>
            <a:r>
              <a:rPr lang="zh-TW" altLang="en-US" sz="2000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忽略</a:t>
            </a:r>
            <a:r>
              <a:rPr lang="en-US" altLang="zh-TW" sz="2000" dirty="0">
                <a:solidFill>
                  <a:srgbClr val="FF0000"/>
                </a:solidFill>
                <a:latin typeface="+mn-ea"/>
              </a:rPr>
              <a:t>confounder</a:t>
            </a:r>
            <a:r>
              <a:rPr lang="zh-TW" altLang="en-US" sz="2000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的存在</a:t>
            </a:r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?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我想或許也可以嘗試加入最簡單的線性模型去校正</a:t>
            </a:r>
            <a:r>
              <a:rPr lang="en-US" altLang="zh-TW" sz="2000" dirty="0">
                <a:latin typeface="+mn-ea"/>
              </a:rPr>
              <a:t>confounder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。</a:t>
            </a:r>
            <a:endParaRPr lang="en-US" altLang="zh-TW" sz="2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TW" sz="2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TW" sz="2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TW" sz="2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其實看到目標二的時候，我覺得可以把</a:t>
            </a:r>
            <a:r>
              <a:rPr lang="en-US" altLang="zh-TW" sz="2000" dirty="0">
                <a:latin typeface="+mn-ea"/>
              </a:rPr>
              <a:t>WGCNA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的</a:t>
            </a:r>
            <a:r>
              <a:rPr lang="en-US" altLang="zh-TW" sz="2000" dirty="0">
                <a:latin typeface="+mn-ea"/>
              </a:rPr>
              <a:t>R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套件使用到針對目標一的後續分析，對於</a:t>
            </a:r>
            <a:r>
              <a:rPr lang="zh-TW" altLang="zh-TW" sz="2000" dirty="0">
                <a:latin typeface="+mn-ea"/>
              </a:rPr>
              <a:t>Topology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的建構或許有幫助</a:t>
            </a:r>
            <a:r>
              <a:rPr lang="zh-TW" altLang="en-US" sz="2000" dirty="0">
                <a:latin typeface="+mn-ea"/>
              </a:rPr>
              <a:t>。</a:t>
            </a:r>
            <a:endParaRPr lang="en-US" altLang="zh-TW" sz="2000" dirty="0">
              <a:latin typeface="+mn-ea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TW" sz="2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9480625B-5B26-04E9-AF00-495C453C50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4576" y="2493726"/>
            <a:ext cx="1404591" cy="1206833"/>
          </a:xfrm>
          <a:prstGeom prst="rect">
            <a:avLst/>
          </a:prstGeom>
        </p:spPr>
      </p:pic>
      <p:pic>
        <p:nvPicPr>
          <p:cNvPr id="14" name="圖片 13">
            <a:extLst>
              <a:ext uri="{FF2B5EF4-FFF2-40B4-BE49-F238E27FC236}">
                <a16:creationId xmlns:a16="http://schemas.microsoft.com/office/drawing/2014/main" id="{3CC9FFDE-FE75-71A9-5183-DE0ADBFC12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1557" y="4352198"/>
            <a:ext cx="3935219" cy="751354"/>
          </a:xfrm>
          <a:prstGeom prst="rect">
            <a:avLst/>
          </a:prstGeom>
        </p:spPr>
      </p:pic>
      <p:cxnSp>
        <p:nvCxnSpPr>
          <p:cNvPr id="15" name="直線單箭頭接點 14">
            <a:extLst>
              <a:ext uri="{FF2B5EF4-FFF2-40B4-BE49-F238E27FC236}">
                <a16:creationId xmlns:a16="http://schemas.microsoft.com/office/drawing/2014/main" id="{DD883839-E32E-19AE-B41A-BB12296A7798}"/>
              </a:ext>
            </a:extLst>
          </p:cNvPr>
          <p:cNvCxnSpPr>
            <a:cxnSpLocks/>
          </p:cNvCxnSpPr>
          <p:nvPr/>
        </p:nvCxnSpPr>
        <p:spPr>
          <a:xfrm>
            <a:off x="5304919" y="4727875"/>
            <a:ext cx="942458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7B640D0D-6B7D-0BD6-D291-43DBC29108E5}"/>
              </a:ext>
            </a:extLst>
          </p:cNvPr>
          <p:cNvSpPr txBox="1"/>
          <p:nvPr/>
        </p:nvSpPr>
        <p:spPr>
          <a:xfrm>
            <a:off x="6455520" y="4543209"/>
            <a:ext cx="41249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不知道有沒有每位受試者的臨床資料。</a:t>
            </a:r>
          </a:p>
        </p:txBody>
      </p:sp>
    </p:spTree>
    <p:extLst>
      <p:ext uri="{BB962C8B-B14F-4D97-AF65-F5344CB8AC3E}">
        <p14:creationId xmlns:p14="http://schemas.microsoft.com/office/powerpoint/2010/main" val="2258504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26D35F-CC42-9F69-422B-9D3990242C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E4F940C-F2E0-C29B-B45E-5CC44DF62D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目標二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1AB32CC3-AE8B-6B37-F9EA-30B3D335E0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7827" y="3290047"/>
            <a:ext cx="5639824" cy="2375245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61245E6F-2219-39B9-8B71-1E23626BAC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9281" y="2357328"/>
            <a:ext cx="4244519" cy="3858269"/>
          </a:xfrm>
          <a:prstGeom prst="rect">
            <a:avLst/>
          </a:prstGeom>
        </p:spPr>
      </p:pic>
      <p:sp>
        <p:nvSpPr>
          <p:cNvPr id="10" name="文字方塊 9">
            <a:extLst>
              <a:ext uri="{FF2B5EF4-FFF2-40B4-BE49-F238E27FC236}">
                <a16:creationId xmlns:a16="http://schemas.microsoft.com/office/drawing/2014/main" id="{714701B5-D54D-56DB-BB54-4F432F7B72B1}"/>
              </a:ext>
            </a:extLst>
          </p:cNvPr>
          <p:cNvSpPr txBox="1"/>
          <p:nvPr/>
        </p:nvSpPr>
        <p:spPr>
          <a:xfrm>
            <a:off x="1118699" y="1462859"/>
            <a:ext cx="9357011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利用</a:t>
            </a:r>
            <a:r>
              <a:rPr lang="zh-TW" altLang="zh-TW" sz="2000" dirty="0"/>
              <a:t> transcriptomic patterns </a:t>
            </a:r>
            <a:r>
              <a:rPr lang="zh-TW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推估每個細胞的感染狀態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。可以使用</a:t>
            </a:r>
            <a:r>
              <a:rPr lang="zh-TW" altLang="en-US" sz="2000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半監督式的標籤傳播方式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，將已經確定的細胞標籤，傳遞到未知的細胞；又或是透過</a:t>
            </a:r>
            <a:r>
              <a:rPr lang="zh-TW" altLang="en-US" sz="2000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分類細胞模組的方式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，評估未知的細胞屬於哪類的可能性。</a:t>
            </a: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228D1512-C95A-C4DA-4147-CF5D89E9C3D9}"/>
              </a:ext>
            </a:extLst>
          </p:cNvPr>
          <p:cNvSpPr txBox="1"/>
          <p:nvPr/>
        </p:nvSpPr>
        <p:spPr>
          <a:xfrm>
            <a:off x="7109281" y="6215597"/>
            <a:ext cx="41427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dirty="0"/>
              <a:t>(Langfelder &amp; Horvath BMC Bioinf 2008)</a:t>
            </a:r>
            <a:endParaRPr lang="zh-TW" altLang="en-US" dirty="0"/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2B3F1949-C4D6-2652-7FAC-3EAAB9870A83}"/>
              </a:ext>
            </a:extLst>
          </p:cNvPr>
          <p:cNvSpPr txBox="1"/>
          <p:nvPr/>
        </p:nvSpPr>
        <p:spPr>
          <a:xfrm>
            <a:off x="3946749" y="6021568"/>
            <a:ext cx="28204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dirty="0"/>
              <a:t>(Lewinsohn Bioinfo 2023) 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2929041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7C258D-2F8F-AE67-8F67-873031300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F013D8A-10C3-EE7F-D346-FB8B873203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+mn-ea"/>
              </a:rPr>
              <a:t>G</a:t>
            </a:r>
            <a:r>
              <a:rPr lang="zh-TW" altLang="zh-TW" dirty="0">
                <a:latin typeface="+mn-ea"/>
              </a:rPr>
              <a:t>raph convolutional networks</a:t>
            </a:r>
            <a:endParaRPr lang="zh-TW" altLang="en-US" dirty="0">
              <a:latin typeface="+mn-ea"/>
              <a:ea typeface="+mn-ea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97698B11-7631-8116-76D1-2CD2D4D712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946" y="2998837"/>
            <a:ext cx="7080227" cy="2981879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B48C6DB7-D79E-5031-6686-586FBAA20EDA}"/>
              </a:ext>
            </a:extLst>
          </p:cNvPr>
          <p:cNvSpPr/>
          <p:nvPr/>
        </p:nvSpPr>
        <p:spPr>
          <a:xfrm>
            <a:off x="752057" y="2788334"/>
            <a:ext cx="3082126" cy="3626254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0DC9E51C-D0E8-50B0-6473-3066E9786DFB}"/>
              </a:ext>
            </a:extLst>
          </p:cNvPr>
          <p:cNvSpPr txBox="1"/>
          <p:nvPr/>
        </p:nvSpPr>
        <p:spPr>
          <a:xfrm>
            <a:off x="551939" y="1774734"/>
            <a:ext cx="629778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針對</a:t>
            </a:r>
            <a:r>
              <a:rPr lang="en-US" altLang="zh-TW" dirty="0">
                <a:latin typeface="+mn-ea"/>
              </a:rPr>
              <a:t>raw</a:t>
            </a:r>
            <a:r>
              <a:rPr lang="zh-TW" altLang="en-US" dirty="0">
                <a:latin typeface="+mn-ea"/>
              </a:rPr>
              <a:t> </a:t>
            </a:r>
            <a:r>
              <a:rPr lang="en-US" altLang="zh-TW" dirty="0">
                <a:latin typeface="+mn-ea"/>
              </a:rPr>
              <a:t>data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的部分，我不確定是否屬於已經標籤完的細胞。不過無論如何都</a:t>
            </a:r>
            <a:r>
              <a:rPr lang="zh-TW" altLang="en-US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必須有</a:t>
            </a:r>
            <a:r>
              <a:rPr lang="en-US" altLang="zh-TW" dirty="0">
                <a:solidFill>
                  <a:srgbClr val="FF0000"/>
                </a:solidFill>
                <a:latin typeface="+mn-ea"/>
              </a:rPr>
              <a:t>gene</a:t>
            </a:r>
            <a:r>
              <a:rPr lang="zh-TW" altLang="en-US" dirty="0">
                <a:solidFill>
                  <a:srgbClr val="FF0000"/>
                </a:solidFill>
                <a:latin typeface="+mn-ea"/>
              </a:rPr>
              <a:t> </a:t>
            </a:r>
            <a:r>
              <a:rPr lang="en-US" altLang="zh-TW" dirty="0">
                <a:solidFill>
                  <a:srgbClr val="FF0000"/>
                </a:solidFill>
                <a:latin typeface="+mn-ea"/>
              </a:rPr>
              <a:t>expression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的資料。</a:t>
            </a: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ADDBF4A1-8B4B-6460-D417-BCAF1844E86F}"/>
              </a:ext>
            </a:extLst>
          </p:cNvPr>
          <p:cNvSpPr txBox="1"/>
          <p:nvPr/>
        </p:nvSpPr>
        <p:spPr>
          <a:xfrm>
            <a:off x="4350934" y="6045256"/>
            <a:ext cx="28204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dirty="0"/>
              <a:t>(Lewinsohn Bioinfo 2023) </a:t>
            </a:r>
            <a:endParaRPr lang="zh-TW" altLang="en-US" dirty="0"/>
          </a:p>
        </p:txBody>
      </p:sp>
      <p:grpSp>
        <p:nvGrpSpPr>
          <p:cNvPr id="23" name="群組 22">
            <a:extLst>
              <a:ext uri="{FF2B5EF4-FFF2-40B4-BE49-F238E27FC236}">
                <a16:creationId xmlns:a16="http://schemas.microsoft.com/office/drawing/2014/main" id="{87A43625-AE70-06A4-05BA-DF790012FEAC}"/>
              </a:ext>
            </a:extLst>
          </p:cNvPr>
          <p:cNvGrpSpPr/>
          <p:nvPr/>
        </p:nvGrpSpPr>
        <p:grpSpPr>
          <a:xfrm>
            <a:off x="8330338" y="1117250"/>
            <a:ext cx="2201448" cy="2139864"/>
            <a:chOff x="8901071" y="1221578"/>
            <a:chExt cx="2201448" cy="2139864"/>
          </a:xfrm>
        </p:grpSpPr>
        <p:sp>
          <p:nvSpPr>
            <p:cNvPr id="20" name="箭號: 向右 19">
              <a:extLst>
                <a:ext uri="{FF2B5EF4-FFF2-40B4-BE49-F238E27FC236}">
                  <a16:creationId xmlns:a16="http://schemas.microsoft.com/office/drawing/2014/main" id="{54649AB0-3A55-87E1-FB78-8366E7DE0FD1}"/>
                </a:ext>
              </a:extLst>
            </p:cNvPr>
            <p:cNvSpPr/>
            <p:nvPr/>
          </p:nvSpPr>
          <p:spPr>
            <a:xfrm>
              <a:off x="9016936" y="3129710"/>
              <a:ext cx="2085583" cy="231732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2" name="箭號: 向右 21">
              <a:extLst>
                <a:ext uri="{FF2B5EF4-FFF2-40B4-BE49-F238E27FC236}">
                  <a16:creationId xmlns:a16="http://schemas.microsoft.com/office/drawing/2014/main" id="{17094CA5-E5FC-91F2-F3EE-8C92E3DCD36A}"/>
                </a:ext>
              </a:extLst>
            </p:cNvPr>
            <p:cNvSpPr/>
            <p:nvPr/>
          </p:nvSpPr>
          <p:spPr>
            <a:xfrm rot="16200000">
              <a:off x="7974145" y="2148504"/>
              <a:ext cx="2085583" cy="231732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44B89222-2B79-D582-BF1A-AEE82DEA2217}"/>
              </a:ext>
            </a:extLst>
          </p:cNvPr>
          <p:cNvSpPr txBox="1"/>
          <p:nvPr/>
        </p:nvSpPr>
        <p:spPr>
          <a:xfrm>
            <a:off x="8446203" y="3360473"/>
            <a:ext cx="26984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>
                <a:latin typeface="+mn-ea"/>
              </a:rPr>
              <a:t>Gene1</a:t>
            </a:r>
            <a:r>
              <a:rPr lang="zh-TW" altLang="en-US" dirty="0">
                <a:latin typeface="+mn-ea"/>
              </a:rPr>
              <a:t> </a:t>
            </a:r>
            <a:r>
              <a:rPr lang="en-US" altLang="zh-TW" dirty="0">
                <a:latin typeface="+mn-ea"/>
              </a:rPr>
              <a:t>expression/PC1</a:t>
            </a:r>
            <a:endParaRPr lang="zh-TW" altLang="en-US" dirty="0">
              <a:latin typeface="+mn-ea"/>
            </a:endParaRPr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30EE467D-CE09-D584-9F36-FF8112475B36}"/>
              </a:ext>
            </a:extLst>
          </p:cNvPr>
          <p:cNvSpPr txBox="1"/>
          <p:nvPr/>
        </p:nvSpPr>
        <p:spPr>
          <a:xfrm>
            <a:off x="6122454" y="2339758"/>
            <a:ext cx="232374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>
                <a:latin typeface="+mn-ea"/>
              </a:rPr>
              <a:t>Gene2</a:t>
            </a:r>
            <a:r>
              <a:rPr lang="zh-TW" altLang="en-US" dirty="0">
                <a:latin typeface="+mn-ea"/>
              </a:rPr>
              <a:t> </a:t>
            </a:r>
            <a:r>
              <a:rPr lang="en-US" altLang="zh-TW" dirty="0">
                <a:latin typeface="+mn-ea"/>
              </a:rPr>
              <a:t>expression/PC2</a:t>
            </a:r>
            <a:endParaRPr lang="zh-TW" altLang="en-US" dirty="0">
              <a:latin typeface="+mn-ea"/>
            </a:endParaRPr>
          </a:p>
        </p:txBody>
      </p:sp>
      <p:sp>
        <p:nvSpPr>
          <p:cNvPr id="30" name="橢圓 29">
            <a:extLst>
              <a:ext uri="{FF2B5EF4-FFF2-40B4-BE49-F238E27FC236}">
                <a16:creationId xmlns:a16="http://schemas.microsoft.com/office/drawing/2014/main" id="{14521547-58F0-9113-8D57-D4BB42398C3D}"/>
              </a:ext>
            </a:extLst>
          </p:cNvPr>
          <p:cNvSpPr/>
          <p:nvPr/>
        </p:nvSpPr>
        <p:spPr>
          <a:xfrm>
            <a:off x="9488994" y="1507115"/>
            <a:ext cx="231733" cy="23173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2" name="橢圓 31">
            <a:extLst>
              <a:ext uri="{FF2B5EF4-FFF2-40B4-BE49-F238E27FC236}">
                <a16:creationId xmlns:a16="http://schemas.microsoft.com/office/drawing/2014/main" id="{B6603169-88A4-4E8F-F343-E62B884F5CF1}"/>
              </a:ext>
            </a:extLst>
          </p:cNvPr>
          <p:cNvSpPr/>
          <p:nvPr/>
        </p:nvSpPr>
        <p:spPr>
          <a:xfrm>
            <a:off x="9004091" y="1989735"/>
            <a:ext cx="231733" cy="23173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4" name="橢圓 33">
            <a:extLst>
              <a:ext uri="{FF2B5EF4-FFF2-40B4-BE49-F238E27FC236}">
                <a16:creationId xmlns:a16="http://schemas.microsoft.com/office/drawing/2014/main" id="{AE583D5B-1A2E-82E3-6629-573447E8B053}"/>
              </a:ext>
            </a:extLst>
          </p:cNvPr>
          <p:cNvSpPr/>
          <p:nvPr/>
        </p:nvSpPr>
        <p:spPr>
          <a:xfrm>
            <a:off x="9926820" y="2635503"/>
            <a:ext cx="231733" cy="231733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6" name="橢圓 35">
            <a:extLst>
              <a:ext uri="{FF2B5EF4-FFF2-40B4-BE49-F238E27FC236}">
                <a16:creationId xmlns:a16="http://schemas.microsoft.com/office/drawing/2014/main" id="{00B85F04-0E9B-4641-CAD6-EF99E134E6EE}"/>
              </a:ext>
            </a:extLst>
          </p:cNvPr>
          <p:cNvSpPr/>
          <p:nvPr/>
        </p:nvSpPr>
        <p:spPr>
          <a:xfrm>
            <a:off x="9417022" y="2391009"/>
            <a:ext cx="231733" cy="231733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7" name="箭號: 弧形左彎 36">
            <a:extLst>
              <a:ext uri="{FF2B5EF4-FFF2-40B4-BE49-F238E27FC236}">
                <a16:creationId xmlns:a16="http://schemas.microsoft.com/office/drawing/2014/main" id="{7DAC8E60-A2CA-C023-A389-59C8FA5C8192}"/>
              </a:ext>
            </a:extLst>
          </p:cNvPr>
          <p:cNvSpPr/>
          <p:nvPr/>
        </p:nvSpPr>
        <p:spPr>
          <a:xfrm>
            <a:off x="11144633" y="3360473"/>
            <a:ext cx="593178" cy="1858252"/>
          </a:xfrm>
          <a:prstGeom prst="curvedLeftArrow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39" name="文字方塊 38">
            <a:extLst>
              <a:ext uri="{FF2B5EF4-FFF2-40B4-BE49-F238E27FC236}">
                <a16:creationId xmlns:a16="http://schemas.microsoft.com/office/drawing/2014/main" id="{2D833C55-497E-D9F7-51D1-9B51E7CE3B10}"/>
              </a:ext>
            </a:extLst>
          </p:cNvPr>
          <p:cNvSpPr txBox="1"/>
          <p:nvPr/>
        </p:nvSpPr>
        <p:spPr>
          <a:xfrm>
            <a:off x="9488995" y="4017264"/>
            <a:ext cx="20950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拓樸結構送入模型</a:t>
            </a:r>
          </a:p>
        </p:txBody>
      </p:sp>
      <p:pic>
        <p:nvPicPr>
          <p:cNvPr id="41" name="圖片 40">
            <a:extLst>
              <a:ext uri="{FF2B5EF4-FFF2-40B4-BE49-F238E27FC236}">
                <a16:creationId xmlns:a16="http://schemas.microsoft.com/office/drawing/2014/main" id="{012AB6FB-CAC6-E0DB-F99F-54F6B1D78D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2123" y="4543648"/>
            <a:ext cx="2276952" cy="984758"/>
          </a:xfrm>
          <a:prstGeom prst="rect">
            <a:avLst/>
          </a:prstGeom>
        </p:spPr>
      </p:pic>
      <p:sp>
        <p:nvSpPr>
          <p:cNvPr id="43" name="文字方塊 42">
            <a:extLst>
              <a:ext uri="{FF2B5EF4-FFF2-40B4-BE49-F238E27FC236}">
                <a16:creationId xmlns:a16="http://schemas.microsoft.com/office/drawing/2014/main" id="{FC384EB6-4E5D-1BD0-E619-912A06F97F30}"/>
              </a:ext>
            </a:extLst>
          </p:cNvPr>
          <p:cNvSpPr txBox="1"/>
          <p:nvPr/>
        </p:nvSpPr>
        <p:spPr>
          <a:xfrm>
            <a:off x="7688173" y="5551321"/>
            <a:ext cx="444485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透過鄰近節點更新自身的</a:t>
            </a:r>
            <a:r>
              <a:rPr lang="en-US" altLang="zh-TW" dirty="0">
                <a:latin typeface="+mn-ea"/>
              </a:rPr>
              <a:t>embedding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，但是</a:t>
            </a:r>
            <a:r>
              <a:rPr lang="en-US" altLang="zh-TW" dirty="0">
                <a:latin typeface="+mn-ea"/>
              </a:rPr>
              <a:t>loss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只針對已經被標註或是高可信度的細胞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en-US" altLang="zh-TW" dirty="0">
                <a:solidFill>
                  <a:srgbClr val="FF0000"/>
                </a:solidFill>
                <a:latin typeface="+mn-ea"/>
              </a:rPr>
              <a:t>loss</a:t>
            </a:r>
            <a:r>
              <a:rPr lang="zh-TW" altLang="en-US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要怎麼設計呢</a:t>
            </a:r>
            <a:r>
              <a:rPr lang="en-US" altLang="zh-TW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?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5005538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456</TotalTime>
  <Words>539</Words>
  <Application>Microsoft Office PowerPoint</Application>
  <PresentationFormat>寬螢幕</PresentationFormat>
  <Paragraphs>70</Paragraphs>
  <Slides>7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7</vt:i4>
      </vt:variant>
    </vt:vector>
  </HeadingPairs>
  <TitlesOfParts>
    <vt:vector size="12" baseType="lpstr">
      <vt:lpstr>標楷體</vt:lpstr>
      <vt:lpstr>Aptos</vt:lpstr>
      <vt:lpstr>Aptos Display</vt:lpstr>
      <vt:lpstr>Arial</vt:lpstr>
      <vt:lpstr>Office 佈景主題</vt:lpstr>
      <vt:lpstr>進度報告</vt:lpstr>
      <vt:lpstr>目標一</vt:lpstr>
      <vt:lpstr>富集分析</vt:lpstr>
      <vt:lpstr>統計檢定</vt:lpstr>
      <vt:lpstr>目標一—後續分析</vt:lpstr>
      <vt:lpstr>目標二</vt:lpstr>
      <vt:lpstr>Graph convolutional networks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俊延 賴</dc:creator>
  <cp:lastModifiedBy>俊延 賴</cp:lastModifiedBy>
  <cp:revision>1</cp:revision>
  <dcterms:created xsi:type="dcterms:W3CDTF">2026-07-08T01:16:28Z</dcterms:created>
  <dcterms:modified xsi:type="dcterms:W3CDTF">2026-07-08T08:52:57Z</dcterms:modified>
</cp:coreProperties>
</file>