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71" r:id="rId3"/>
    <p:sldId id="285" r:id="rId4"/>
    <p:sldId id="286" r:id="rId5"/>
    <p:sldId id="284" r:id="rId6"/>
    <p:sldId id="28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715" autoAdjust="0"/>
  </p:normalViewPr>
  <p:slideViewPr>
    <p:cSldViewPr snapToGrid="0">
      <p:cViewPr>
        <p:scale>
          <a:sx n="100" d="100"/>
          <a:sy n="100" d="100"/>
        </p:scale>
        <p:origin x="420" y="-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B67A6-86C8-4AEC-8A8F-6C2F464F56C5}" type="datetimeFigureOut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7B5DF-8346-47E0-A838-EF3629E0D1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512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A6BCE-DD3E-DC5D-D1CA-882509BA9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4BA4D44-7FBC-24FA-F4FB-1C8F64FA9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BD83D8-DDEB-FE63-3FB0-FA2FF0BB8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圖片來源</a:t>
            </a:r>
            <a:r>
              <a:rPr lang="en-US" altLang="zh-TW" dirty="0"/>
              <a:t>:https://www.ebi.ac.uk/QuickGO/GTerm?id=GO:0046596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C84462-E42D-8E23-82AD-5D85BB4AE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9418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DFFB7-3BDC-373A-D133-09D1E9729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B05FBF0-4821-3D67-1334-BBBB3B4CD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A82FA19-5F0C-B841-74B5-A9B821E73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圖片來源</a:t>
            </a:r>
            <a:r>
              <a:rPr lang="en-US" altLang="zh-TW" dirty="0"/>
              <a:t>:https://www.ebi.ac.uk/QuickGO/GTerm?id=GO:0001961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3B88AC-89EB-6FAD-75D4-F400BABA8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727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433D7-A86A-08ED-3E8B-904FFBE76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B9E56DE-1901-6A93-76B9-78C071FFE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8C121C4-2ABA-483E-DD77-ED7C0E48B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圖片來源</a:t>
            </a:r>
            <a:r>
              <a:rPr lang="en-US" altLang="zh-TW" dirty="0"/>
              <a:t>:https://www.kegg.jp/pathway/map05143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79D021-5551-4FDD-DE44-F9FD47869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3772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4E2ED-16A6-6D2B-AA9E-5FC6FCA7D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7AEC756-9103-E652-F2CF-C55DF12BF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194A30-45DB-4307-45E1-51F742F00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資料來源</a:t>
            </a:r>
            <a:r>
              <a:rPr lang="en-US" altLang="zh-TW" dirty="0"/>
              <a:t>:NCBI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74E1A6-55CE-D291-C193-490525D95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07B5DF-8346-47E0-A838-EF3629E0D13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4709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7C305-5696-4A7F-86AE-9C076744B4EA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81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50FA-4614-4BF5-8794-75F97A0B2544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89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336E6-5EE0-4A71-81C3-454B5C7B8BFB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07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7ED53-FC9D-48CB-AA63-3CC0B044F3C0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20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D8557-2EF5-4AB0-8FDE-59BF801865CC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214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BEE1F-4E42-4556-91FB-8362A0311142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13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9E288-AC8B-4B62-B049-7671F3A2DFF0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81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82A0F-D946-4FC0-8D63-AF5246A679AE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02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BE9F-1777-4CD2-896A-5CE0FA3014FF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24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32D5-B03D-4717-A904-795F862C1E5D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22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5C8B2-1CA8-4214-9C14-3CAA749726CE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4124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A667E-6D94-4A33-B267-6660FFC03615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498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2C43B-7B97-41B4-A0D9-48858736EFA4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7648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EF5B8-0A25-46D3-80D8-0863E07A873E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960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5B9F2-24E4-479E-A18C-BF8EB1ED4286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112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E6E13-70FA-486A-9C9C-12B2AF2AEAF1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65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D7AFE-6A4C-47D2-A958-3F76A70AFF87}" type="datetime1">
              <a:rPr lang="zh-TW" altLang="en-US" smtClean="0"/>
              <a:t>2026/8/20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47D9EE4-DA38-4EA2-BC65-D629E7CA22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01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2427F2-A2B9-864E-785A-93A31EB6FF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Enrichment results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3CD96D-FA25-F806-372C-F4EF862075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2026.07.27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4FE53C-9997-536E-CA11-C15CC922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444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D50D6A-9F9B-15A5-0DDF-16CE3A30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Aims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8D8B10-28F2-1223-9B31-546963343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66447"/>
            <a:ext cx="8915400" cy="677106"/>
          </a:xfrm>
        </p:spPr>
        <p:txBody>
          <a:bodyPr/>
          <a:lstStyle/>
          <a:p>
            <a:r>
              <a:rPr lang="zh-TW" altLang="zh-TW" dirty="0"/>
              <a:t>Examine whether the features learned by the model are related to known biological pathways.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5FDA7D-6860-0C75-D811-F1A62E7E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2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D46E396-4537-3683-D745-414B1E17D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34023"/>
              </p:ext>
            </p:extLst>
          </p:nvPr>
        </p:nvGraphicFramePr>
        <p:xfrm>
          <a:off x="2336800" y="2588754"/>
          <a:ext cx="9001224" cy="3911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36">
                  <a:extLst>
                    <a:ext uri="{9D8B030D-6E8A-4147-A177-3AD203B41FA5}">
                      <a16:colId xmlns:a16="http://schemas.microsoft.com/office/drawing/2014/main" val="2341172823"/>
                    </a:ext>
                  </a:extLst>
                </a:gridCol>
                <a:gridCol w="1000136">
                  <a:extLst>
                    <a:ext uri="{9D8B030D-6E8A-4147-A177-3AD203B41FA5}">
                      <a16:colId xmlns:a16="http://schemas.microsoft.com/office/drawing/2014/main" val="3583683660"/>
                    </a:ext>
                  </a:extLst>
                </a:gridCol>
                <a:gridCol w="1000136">
                  <a:extLst>
                    <a:ext uri="{9D8B030D-6E8A-4147-A177-3AD203B41FA5}">
                      <a16:colId xmlns:a16="http://schemas.microsoft.com/office/drawing/2014/main" val="3426586895"/>
                    </a:ext>
                  </a:extLst>
                </a:gridCol>
                <a:gridCol w="1000136">
                  <a:extLst>
                    <a:ext uri="{9D8B030D-6E8A-4147-A177-3AD203B41FA5}">
                      <a16:colId xmlns:a16="http://schemas.microsoft.com/office/drawing/2014/main" val="881877480"/>
                    </a:ext>
                  </a:extLst>
                </a:gridCol>
                <a:gridCol w="1000136">
                  <a:extLst>
                    <a:ext uri="{9D8B030D-6E8A-4147-A177-3AD203B41FA5}">
                      <a16:colId xmlns:a16="http://schemas.microsoft.com/office/drawing/2014/main" val="3102894976"/>
                    </a:ext>
                  </a:extLst>
                </a:gridCol>
                <a:gridCol w="1000136">
                  <a:extLst>
                    <a:ext uri="{9D8B030D-6E8A-4147-A177-3AD203B41FA5}">
                      <a16:colId xmlns:a16="http://schemas.microsoft.com/office/drawing/2014/main" val="871233268"/>
                    </a:ext>
                  </a:extLst>
                </a:gridCol>
                <a:gridCol w="1000136">
                  <a:extLst>
                    <a:ext uri="{9D8B030D-6E8A-4147-A177-3AD203B41FA5}">
                      <a16:colId xmlns:a16="http://schemas.microsoft.com/office/drawing/2014/main" val="3836922239"/>
                    </a:ext>
                  </a:extLst>
                </a:gridCol>
                <a:gridCol w="1000136">
                  <a:extLst>
                    <a:ext uri="{9D8B030D-6E8A-4147-A177-3AD203B41FA5}">
                      <a16:colId xmlns:a16="http://schemas.microsoft.com/office/drawing/2014/main" val="635051631"/>
                    </a:ext>
                  </a:extLst>
                </a:gridCol>
                <a:gridCol w="1000136">
                  <a:extLst>
                    <a:ext uri="{9D8B030D-6E8A-4147-A177-3AD203B41FA5}">
                      <a16:colId xmlns:a16="http://schemas.microsoft.com/office/drawing/2014/main" val="582826549"/>
                    </a:ext>
                  </a:extLst>
                </a:gridCol>
              </a:tblGrid>
              <a:tr h="703073">
                <a:tc>
                  <a:txBody>
                    <a:bodyPr/>
                    <a:lstStyle/>
                    <a:p>
                      <a:pPr algn="ctr"/>
                      <a:endParaRPr lang="zh-TW" altLang="en-US" sz="6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Alphaviridae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Coronaviridae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Flaviviridae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Orthoherpesviridae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Orthomyxoviridae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Picornaviridae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Reoviridae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Retroviridae</a:t>
                      </a:r>
                      <a:endParaRPr lang="zh-TW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311088"/>
                  </a:ext>
                </a:extLst>
              </a:tr>
              <a:tr h="641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KEGG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223638"/>
                  </a:ext>
                </a:extLst>
              </a:tr>
              <a:tr h="641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Reactome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097473"/>
                  </a:ext>
                </a:extLst>
              </a:tr>
              <a:tr h="641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/>
                        <a:t>GO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833258"/>
                  </a:ext>
                </a:extLst>
              </a:tr>
              <a:tr h="641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MSigDB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509392"/>
                  </a:ext>
                </a:extLst>
              </a:tr>
              <a:tr h="641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 err="1"/>
                        <a:t>WikiPathways</a:t>
                      </a:r>
                      <a:endParaRPr lang="zh-TW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rgbClr val="FF0000"/>
                          </a:solidFill>
                          <a:sym typeface="Wingdings 2" panose="05020102010507070707" pitchFamily="18" charset="2"/>
                        </a:rPr>
                        <a:t>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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微軟正黑體" panose="020B0604030504040204" pitchFamily="34" charset="-120"/>
                          <a:cs typeface="+mn-cs"/>
                          <a:sym typeface="Wingdings 2" panose="05020102010507070707" pitchFamily="18" charset="2"/>
                        </a:rPr>
                        <a:t>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rgbClr val="00B0F0"/>
                          </a:solidFill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349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398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E3053-58E0-A5E0-D716-45C3340C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C5440C-1EF9-1FE9-48BD-E3DDFEAE9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Alphaviridae</a:t>
            </a:r>
            <a:endParaRPr lang="zh-TW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8837C4B-5D82-0A90-91C2-AE6D89A54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640369-9385-5D00-7B15-43DFB601740E}"/>
              </a:ext>
            </a:extLst>
          </p:cNvPr>
          <p:cNvSpPr txBox="1">
            <a:spLocks/>
          </p:cNvSpPr>
          <p:nvPr/>
        </p:nvSpPr>
        <p:spPr>
          <a:xfrm>
            <a:off x="921695" y="1905000"/>
            <a:ext cx="4698212" cy="2574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Pathway:</a:t>
            </a:r>
          </a:p>
          <a:p>
            <a:pPr marL="400050" lvl="1" indent="0">
              <a:buFont typeface="Wingdings 3" charset="2"/>
              <a:buNone/>
            </a:pPr>
            <a:r>
              <a:rPr lang="en-US" altLang="zh-TW" dirty="0"/>
              <a:t>Regulation of viral entry into host cell(GO)</a:t>
            </a:r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r>
              <a:rPr lang="en-US" altLang="zh-TW" dirty="0"/>
              <a:t>Definition:</a:t>
            </a:r>
          </a:p>
          <a:p>
            <a:pPr marL="400050" lvl="1" indent="0">
              <a:buNone/>
            </a:pPr>
            <a:r>
              <a:rPr lang="zh-TW" altLang="zh-TW" dirty="0"/>
              <a:t>Any process that modulates the frequency, rate or extent of the </a:t>
            </a:r>
            <a:r>
              <a:rPr lang="zh-TW" altLang="zh-TW" dirty="0">
                <a:solidFill>
                  <a:srgbClr val="FF0000"/>
                </a:solidFill>
              </a:rPr>
              <a:t>viral</a:t>
            </a:r>
            <a:r>
              <a:rPr lang="zh-TW" altLang="zh-TW" dirty="0"/>
              <a:t> entry into the host cell</a:t>
            </a: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zh-TW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742C001-A729-6B0F-4EDE-F091FFF26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066" y="1152907"/>
            <a:ext cx="5573713" cy="538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169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093927F-B93F-5A80-3361-04C06757D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8C059E-27B0-36A8-E55B-07300B3E8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Coronaviridae</a:t>
            </a:r>
            <a:r>
              <a:rPr lang="en-US" altLang="zh-TW" dirty="0"/>
              <a:t>(GO)</a:t>
            </a:r>
            <a:endParaRPr lang="zh-TW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400EB94-5A38-10DB-6067-57CB965CC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9FA63564-DD04-056C-D07C-552EBEA8CE66}"/>
              </a:ext>
            </a:extLst>
          </p:cNvPr>
          <p:cNvSpPr txBox="1">
            <a:spLocks/>
          </p:cNvSpPr>
          <p:nvPr/>
        </p:nvSpPr>
        <p:spPr>
          <a:xfrm>
            <a:off x="921695" y="1905000"/>
            <a:ext cx="4464813" cy="3596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Pathway:</a:t>
            </a:r>
          </a:p>
          <a:p>
            <a:pPr marL="400050" lvl="1" indent="0">
              <a:buFont typeface="Wingdings 3" charset="2"/>
              <a:buNone/>
            </a:pPr>
            <a:r>
              <a:rPr lang="en-US" altLang="zh-TW" dirty="0"/>
              <a:t>Regulation of viral entry into host cell</a:t>
            </a:r>
          </a:p>
          <a:p>
            <a:pPr marL="400050" lvl="1" indent="0">
              <a:buNone/>
            </a:pPr>
            <a:r>
              <a:rPr lang="zh-TW" altLang="en-US" dirty="0">
                <a:solidFill>
                  <a:srgbClr val="FF0000"/>
                </a:solidFill>
              </a:rPr>
              <a:t>Positive regulation of cytokine-mediated signaling pathway</a:t>
            </a:r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r>
              <a:rPr lang="en-US" altLang="zh-TW" dirty="0"/>
              <a:t>Definition:</a:t>
            </a:r>
          </a:p>
          <a:p>
            <a:pPr marL="400050" lvl="1" indent="0">
              <a:buNone/>
            </a:pPr>
            <a:r>
              <a:rPr lang="zh-TW" altLang="zh-TW" dirty="0"/>
              <a:t>Any process that activates or increases the frequency, rate or extent of a cytokine mediated signaling pathway</a:t>
            </a: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zh-TW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F6AB265C-AD04-E32A-3019-65FE86A3E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877" y="1260180"/>
            <a:ext cx="6252671" cy="522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64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4C629-8EFE-F779-BF58-246D703BB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9F34F-889A-F640-0FD6-6EF040831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Coronaviridae</a:t>
            </a:r>
            <a:r>
              <a:rPr lang="en-US" altLang="zh-TW" dirty="0"/>
              <a:t>(KEGG)</a:t>
            </a:r>
            <a:endParaRPr lang="zh-TW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6EA719-BF09-C83B-0B26-AB2AF0BD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4A687EA3-55FD-02C3-E948-0EE2F2526F17}"/>
              </a:ext>
            </a:extLst>
          </p:cNvPr>
          <p:cNvSpPr txBox="1">
            <a:spLocks/>
          </p:cNvSpPr>
          <p:nvPr/>
        </p:nvSpPr>
        <p:spPr>
          <a:xfrm>
            <a:off x="921695" y="1905000"/>
            <a:ext cx="4464813" cy="3596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Pathway:</a:t>
            </a:r>
          </a:p>
          <a:p>
            <a:pPr marL="400050" lvl="1" indent="0">
              <a:buNone/>
            </a:pPr>
            <a:r>
              <a:rPr lang="zh-TW" altLang="zh-TW" dirty="0"/>
              <a:t>African trypanosomiasis</a:t>
            </a: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r>
              <a:rPr lang="en-US" altLang="zh-TW" dirty="0"/>
              <a:t>Description:</a:t>
            </a:r>
          </a:p>
          <a:p>
            <a:pPr marL="400050" lvl="1" indent="0">
              <a:buNone/>
            </a:pPr>
            <a:r>
              <a:rPr lang="zh-TW" altLang="zh-TW" dirty="0"/>
              <a:t>Trypanosoma brucei causes African trypanosomiasis (</a:t>
            </a:r>
            <a:r>
              <a:rPr lang="zh-TW" altLang="zh-TW" dirty="0">
                <a:solidFill>
                  <a:srgbClr val="FF0000"/>
                </a:solidFill>
              </a:rPr>
              <a:t>sleeping sickness</a:t>
            </a:r>
            <a:r>
              <a:rPr lang="zh-TW" altLang="zh-TW" dirty="0"/>
              <a:t>) and is transmitted by tsetse flies. It can cross the blood-brain barrier and induce inflammatory cytokines such as </a:t>
            </a:r>
            <a:r>
              <a:rPr lang="zh-TW" altLang="zh-TW" dirty="0">
                <a:solidFill>
                  <a:schemeClr val="tx1"/>
                </a:solidFill>
              </a:rPr>
              <a:t>TNF-α, IFN-γ, and IL-1, </a:t>
            </a:r>
            <a:r>
              <a:rPr lang="zh-TW" altLang="zh-TW" dirty="0">
                <a:solidFill>
                  <a:srgbClr val="FF0000"/>
                </a:solidFill>
              </a:rPr>
              <a:t>leading to neurological damage and disrupted sleep and circadian rhythms</a:t>
            </a:r>
            <a:r>
              <a:rPr lang="zh-TW" altLang="zh-TW" dirty="0"/>
              <a:t>.</a:t>
            </a: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zh-TW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C1038567-D29F-0637-94F6-E100E2DD8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508" y="1946039"/>
            <a:ext cx="6636461" cy="3514690"/>
          </a:xfrm>
          <a:prstGeom prst="rect">
            <a:avLst/>
          </a:prstGeom>
        </p:spPr>
      </p:pic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D24C12F7-0B92-42A1-6D5E-A3F52EC67319}"/>
              </a:ext>
            </a:extLst>
          </p:cNvPr>
          <p:cNvCxnSpPr>
            <a:cxnSpLocks/>
          </p:cNvCxnSpPr>
          <p:nvPr/>
        </p:nvCxnSpPr>
        <p:spPr>
          <a:xfrm>
            <a:off x="7768167" y="2646348"/>
            <a:ext cx="2083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2C2FBF80-C3CC-4DDC-4560-B06838E479F8}"/>
              </a:ext>
            </a:extLst>
          </p:cNvPr>
          <p:cNvCxnSpPr>
            <a:cxnSpLocks/>
          </p:cNvCxnSpPr>
          <p:nvPr/>
        </p:nvCxnSpPr>
        <p:spPr>
          <a:xfrm>
            <a:off x="8691034" y="3099315"/>
            <a:ext cx="2083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43383763-5253-7356-2657-D586D68D3E08}"/>
              </a:ext>
            </a:extLst>
          </p:cNvPr>
          <p:cNvCxnSpPr>
            <a:cxnSpLocks/>
          </p:cNvCxnSpPr>
          <p:nvPr/>
        </p:nvCxnSpPr>
        <p:spPr>
          <a:xfrm>
            <a:off x="8114243" y="3598848"/>
            <a:ext cx="2083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4FB4ADD3-608F-2766-FF0A-FB98803EC14B}"/>
              </a:ext>
            </a:extLst>
          </p:cNvPr>
          <p:cNvCxnSpPr>
            <a:cxnSpLocks/>
          </p:cNvCxnSpPr>
          <p:nvPr/>
        </p:nvCxnSpPr>
        <p:spPr>
          <a:xfrm>
            <a:off x="8691034" y="3978790"/>
            <a:ext cx="2083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37AE0C30-8A34-20FF-66FC-34B8D3397B93}"/>
              </a:ext>
            </a:extLst>
          </p:cNvPr>
          <p:cNvCxnSpPr>
            <a:cxnSpLocks/>
          </p:cNvCxnSpPr>
          <p:nvPr/>
        </p:nvCxnSpPr>
        <p:spPr>
          <a:xfrm>
            <a:off x="7642226" y="3376598"/>
            <a:ext cx="2083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258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B9AE7-CAB8-AFFB-FE44-1A7E1D076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EC1842-044D-56B5-3AA2-DC842A28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Orthoherpesviridae</a:t>
            </a:r>
            <a:r>
              <a:rPr lang="en-US" altLang="zh-TW" dirty="0"/>
              <a:t>(</a:t>
            </a:r>
            <a:r>
              <a:rPr lang="en-US" altLang="zh-TW" dirty="0" err="1"/>
              <a:t>Reactome</a:t>
            </a:r>
            <a:r>
              <a:rPr lang="en-US" altLang="zh-TW" dirty="0"/>
              <a:t>)</a:t>
            </a:r>
            <a:endParaRPr lang="zh-TW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839D2A5-E348-3B89-61BB-E0CA9A389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9EE4-DA38-4EA2-BC65-D629E7CA223A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782B5390-C5FF-D008-4599-4CF84375B8D2}"/>
              </a:ext>
            </a:extLst>
          </p:cNvPr>
          <p:cNvSpPr txBox="1">
            <a:spLocks/>
          </p:cNvSpPr>
          <p:nvPr/>
        </p:nvSpPr>
        <p:spPr>
          <a:xfrm>
            <a:off x="921695" y="1905000"/>
            <a:ext cx="4464813" cy="464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Pathway:</a:t>
            </a:r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Common </a:t>
            </a:r>
            <a:r>
              <a:rPr lang="en-US" altLang="zh-TW" dirty="0" err="1"/>
              <a:t>leading_edge</a:t>
            </a:r>
            <a:r>
              <a:rPr lang="en-US" altLang="zh-TW" dirty="0"/>
              <a:t> genes: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sz="1600" dirty="0">
                <a:solidFill>
                  <a:srgbClr val="FF0000"/>
                </a:solidFill>
              </a:rPr>
              <a:t>RPL10L</a:t>
            </a:r>
            <a:r>
              <a:rPr lang="en-US" altLang="zh-TW" sz="1600" dirty="0"/>
              <a:t> and </a:t>
            </a:r>
            <a:r>
              <a:rPr lang="en-US" altLang="zh-TW" sz="1600" dirty="0">
                <a:solidFill>
                  <a:srgbClr val="FF0000"/>
                </a:solidFill>
              </a:rPr>
              <a:t>RPL39L</a:t>
            </a:r>
            <a:r>
              <a:rPr lang="en-US" altLang="zh-TW" sz="1600" dirty="0"/>
              <a:t> are ribosomal protein paralogs whose specific biological functions remain unclear.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en-US" altLang="zh-TW" dirty="0"/>
          </a:p>
          <a:p>
            <a:pPr marL="400050" lvl="1" indent="0">
              <a:buFont typeface="Wingdings 3" charset="2"/>
              <a:buNone/>
            </a:pPr>
            <a:endParaRPr lang="zh-TW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E3F2108-2492-FC98-375B-29F9D3F81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381" y="1455697"/>
            <a:ext cx="4319074" cy="519266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C2E7AAA-9881-787F-0BF1-42731BBF2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998" y="2547350"/>
            <a:ext cx="5748026" cy="176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24476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1029</TotalTime>
  <Words>318</Words>
  <Application>Microsoft Office PowerPoint</Application>
  <PresentationFormat>寬螢幕</PresentationFormat>
  <Paragraphs>112</Paragraphs>
  <Slides>6</Slides>
  <Notes>4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Aptos</vt:lpstr>
      <vt:lpstr>Arial</vt:lpstr>
      <vt:lpstr>Century Gothic</vt:lpstr>
      <vt:lpstr>Wingdings 2</vt:lpstr>
      <vt:lpstr>Wingdings 3</vt:lpstr>
      <vt:lpstr>絲縷</vt:lpstr>
      <vt:lpstr>Enrichment results </vt:lpstr>
      <vt:lpstr>Aims</vt:lpstr>
      <vt:lpstr>Alphaviridae</vt:lpstr>
      <vt:lpstr>Coronaviridae(GO)</vt:lpstr>
      <vt:lpstr>Coronaviridae(KEGG)</vt:lpstr>
      <vt:lpstr>Orthoherpesviridae(Reactome)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俊延 賴</cp:lastModifiedBy>
  <cp:revision>25</cp:revision>
  <dcterms:created xsi:type="dcterms:W3CDTF">2026-07-22T01:16:54Z</dcterms:created>
  <dcterms:modified xsi:type="dcterms:W3CDTF">2026-08-20T07:42:56Z</dcterms:modified>
</cp:coreProperties>
</file>